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14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+0.3%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CR4 = 100% (Deutsche Telekom: 50.3%, Vodafone Germany: 25.1%, Telefonica O2 Germany: 16.2%, 1&amp;1 AG: 8.4%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12,327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~13.9M subscribers | Trend: growing | Our Share: ~25% of postpaid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Premium 5G standalone experiences, Ultra-low latency gaming and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~51.2M subscribers | Trend: stable | Our Share: ~25%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convergent bundles, Transparent pricing without hidden fees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~35.1M subscribers | Trend: shrinking | Our Share: ~19% of prepaid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~17.2M subscribers | Trend: growing | Our Share: ~23% overall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Social media and streaming-optimized plans, eSIM and digital-first experience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Q3 2025: revenue +1.5%, net profit +14.3%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Germany telecom market totals EUR 12.3B in quarterly revenue; competitive strengths in Availability,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CROSS-OPERATOR TIER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tariff_mobile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EUR 25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EUR 30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EUR 35 gap — cheapest Telefonica O2 Germany, most expensive Deutsche Telekom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EUR 45 gap — cheapest 1&amp;1 AG, most expensive Deutsche Telekom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postpaid tier comparison across all operators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&amp; 5G Premium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6" name="Picture 5" descr="tariff_eur_pe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tariff_5g_ero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Best value: Telefonica O2 Germany at EUR 0.17/GB | 5G premium fully eroded: all plans now include 5G as of H2_2025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Price Evolution — Mobile Postpaid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H1_2023 TO H1_2026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tariff_evol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Price evolution across 7 snapshots — H1_2023 to H1_2026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DSL: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L: EUR 35/mo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1&amp;1 AG 1&amp;1 DSL 250: EUR 40/mo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L: EUR 45/mo 100.0Mbps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M: EUR 30/mo 50.0Mbps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Cable: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Kabel: EUR 40/mo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XL Cable: EUR 50/mo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250 Kabel: EUR 35/mo 250.0Mbps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1000 Kabel: EUR 50/mo 1000.0Mbps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0000"/>
                </a:solidFill>
                <a:latin typeface="Arial"/>
              </a:defRPr>
            </a:pPr>
            <a:r>
              <a:t>Fiber: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49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Germany GigaZuhause 500 Glasfaser: EUR 45/mo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L: EUR 45/mo 600.0Mbps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Deutsche Telekom MagentaZuhause L Glasfaser: EUR 55/mo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Telefonica O2 Germany O2 my Home Glasfaser M: EUR 35/mo 300.0Mbps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FMC Bundles: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XL: EUR 60/mo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Premium: EUR 80/mo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Premium: EUR 120/mo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Telefonica O2 Germany O2 All-in-One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AG 1&amp;1 Kombi S: EUR 35/mo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Germany GigaKombi Basic: EUR 50/mo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Deutsche Telekom MagentaEINS S: EUR 65/mo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Cheapest FMC bundle: Telefonica O2 Germany O2 All-in-One S at EUR 35/mo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Telefonica 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88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85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85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Product Innovation: score 70 (market avg 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Margin optimization / cost transformation; subscriber acquisition focus;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Telefonica O2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€6,200M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€2,610M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95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85 (market avg 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65 (market avg 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focus; strong B2B/enterprise push; 5G network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Deutsche Telekom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One And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€1,035M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90 (market avg 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40 (market avg 75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65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68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One And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Deutsche Telekom leads with 50% revenue share. Target operator holds 25% share. Strongest competitive force: Existing Competitors.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Vodafone Germany vs Deutsche Telekom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Deutsche Telekom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1&amp;1 AG: 1&amp;1 AG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1&amp;1 completes OpenRAN migration, reaches 25% own network coverage: All 1&amp;1 mobile subscribers have migrated to its own OpenRAN 5G network (first in Europe). Approximately 1,500 own base stations operational, ~4,500 under construction. Achieved the 25% population coverage regulatory deadline target. Q3 2025 mobile net adds +40K (H1 roughly flat due to migration impact). 9-month CAPEX €228.7M primarily for network build-out.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€3,092M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€1,120M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+1.5%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25.9%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B2B, Wholesale | Declining: Fixed Broadband, TV/Convergence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€1,520M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2.8%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€32,500M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€23,200M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 Germany service revenue declined 1.8% in Q3 (Q2: -1.6%), widening decline. Reason: ARPU pressure on mobile contract renewals + core connectivity business under sustained pressure. Hi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service revenue grew 2.8% in Q3 (Q2: 3.8%), growth decelerating. Reason: wholesale revenue growth partially offset by ARPU pressure and service provider payment timing. Post-1&amp;1 migration, netw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1&amp;1 customer migration: 12M users on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1,520M; up 2.8% YoY; ARPU 12.8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€795M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€9,940M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-63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Broadband pricing strategy: another price increase in January 2026, adopting a 'more-for-more' approach. Fixed-line consumer revenue has stabilized. New customer broadband ARPU at a 3-year high (+21%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795.0M; growth -1.1% YoY; Fiber subs 1480K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€520M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€215M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16.8%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Business Germany service revenue declined 1.8% in Q3 (Q2: -1.6%), widening decline. Reason: ARPU pressure on mobile contract renewals + core connectivity business under sustained pressure. Hi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completes Skaylink acquisition for €175M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520.0M; growth +8.5% YoY; 16.8% of total revenue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€268M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€7,740M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€4,900M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restructures cable TV frequencies nationwide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 increased 2.1%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7740K; FMC 4900K; FMC penetration 49.3%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Edge Nodes: 12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Testing, planned 2026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700: 20, 1800: 50, 2100: 40, 2600: 20, 3600: 90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 + Nokia (non-standalone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Base Stations: 18500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Virtualization Pct: 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['Marcel de Groot (CEO)', 'Anna Googel (CFO)', 'Gerhard Mack (CTO)']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Transformation-oriented culture under Vodafone Group direction; customer-centricity push via NPS programs; agile transformation in digital operations; German engineering tradition meets UK group culture.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Marcel de Groot: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Anna Googel: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Gerhard Mack: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82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80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36.2%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Top 2 in revenue market 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72 (market avg 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building own mobile network and migrating users off Vodafone wholesale: Loss of wholesale revenue as 1&amp;1 users migrate to own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Heavy reliance on cable (DOCSIS) technology while market shifts to fiber: Technology perception gap as competitors lead fiber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Low fiber penetration compared to Deutsche Telekom: Competitive disadvantage in future-proof broadband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'Customer Service: score 70 (market avg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82 (market avg 78)'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'Customer Service: score 70 (market avg...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7 strengths, 5 weaknesses, 10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82 (market avg 78)' to capture the opportunity of 'Regulatory Environment: Compliance requirements and spectrum policies directly affect vodafone_germany'.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82 (market avg 74)' to capture the opportunity of 'National Digital Strategy: Fiber/5G coverage mandates may require vodafone_germany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'Network Coverage: score 80 (market avg 76)' to capture the opportunity of 'BNetzA extends 800/1800/2600 MHz spectrum by 5 years: BNetzA extends 800/1800/2600 MHz spectrum by 5 years: may create new market access or subsidy opportunities for vodafone_germany'.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'Strong EBITDA margin at 36.2%' to capture the opportunity of 'German government launches €1.2B Gigabit Funding Programme 2025: German government launches €1.2B Gigabit Funding Programme 2025: may create new market access or subsidy opportunities for vodafone_germany'.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35 opportunities: 23 grow/invest, 4 acquire skills, 4 harvest, 4 avoid/exit. Focus resources on the 23 grow/invest items for maximum strategic impact.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Nebenkostenprivileg (MDU cable TV bundling) abolished Industry is mature. (+0.3%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Germany telecom market totals EUR 12.3B in quarterly revenue; competitive strengths in Availability,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Deutsche Telekom leads with 50% revenue share. Target operator holds 25%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EUR 3,092M; EBITDA margin 36.2%; stable but facing challenges; key strength: Brand Strength; key challenge: Customer Service; Management outlook: Germany EBITDA: H2 performing better than H1, but FY26 will not return to positive growth. Key tailwinds: (1) MDU YoY base effect starting to fade from Q3; (2) 1&amp;1 wholesale revenue reaching full run-rate by Q4; (3) MVNO base effects.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7 strengths, 5 weaknesses, 10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35 opportunities: 23 grow/invest, 4 acquire skills, 4 harvest, 4 avoid/exit. Focus resources on the 23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telecom.db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