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Proximus Be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Belgium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(+3.2%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Belgium telecom market totals EUR 2,479M in quarterly revenue; competitive strengths in Availability, Performance; Market faces significant competitive headwinds.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Proximus leads with 50% revenue share. Target operator holds 50% share. Strongest competitive force: Substitutes.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#1 of 3 operators in market; revenue EUR 1,240M; EBITDA margin 32.3%; stable but facing challenges; key strength: Brand Strength; key challenge: Price Competitiveness; Management outlook: Proximus NXT cloud and cybersecurity services driving enterprise growth. Business mobile ARPU under pressure (-3.8% in Q4 2024).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9 strengths, 3 weaknesses, 2 opportunities, and 4 threats. The recommended strategic posture is offensive (SO-dominant).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19 opportunities: 10 grow/invest, 2 acquire skills, 4 harvest, 3 avoid/exit. Focus resources on the 10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EUR 2.5B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+3.2%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(Proximus: 50.0%, Telenet: 29.6%, Orange Belgium: 20.3%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late_growth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(+3.2%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Fiber Broadband Penetration Industry is in late growth phase. (+3.2%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2,479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12,108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5,124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Proximus EBITDA margin compression: 32.3% vs 36.7% (-4.4pp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Telenet launches TADAAM unlimited mobile at EUR 25/month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Proximus increases mobile data volumes — defensive response to DIGI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Belgium telecom market totals EUR 2,479M in quarterly revenue; competitive strengths in Availability, Performance; Market faces significant competitive headwinds.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Premium Convergent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Seamless multi-screen entertainment experience, Ultra-fast symmetric broadband for remote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Mainstream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Size: ~6.3M subscribers | Trend: stable | Our Share: ~45% of postpaid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convergent bundles, Better mobile data allowances at reasonable prices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Price-Sensitive / MVNO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Low-cost mobile-only plans, Prepaid flexibility without premium pricing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 &amp; Government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Private 5G networks for industrial sites, Multi-cloud connectivity and cybersecurity</a:t>
            </a:r>
          </a:p>
        </p:txBody>
      </p:sp>
      <p:pic>
        <p:nvPicPr>
          <p:cNvPr id="22" name="Picture 21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Belgium telecom market totals EUR 2,479M in quarterly revenue; competitive strengths in Availability, Performance; Market faces significant competitive headwinds.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Belgium telecom market totals EUR 2,479M in quarterly revenue; competitive strengths in Availability, Performance; Market faces significant competitive headwinds.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is mixed: some segments trending up while price-sensitive segments face pressure. Differentiated strategy by segment recommended.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Threats: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Proximus EBITDA margin compression: 32.3% vs 36.7% (-4.4pp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Telenet launches TADAAM unlimited mobile at EUR 25/month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Belgium telecom market totals EUR 2,479M in quarterly revenue; competitive strengths in Availability, Performance; Market faces significant competitive headwinds.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Proximus leads with 50% revenue share. Target operator holds 50% share. Strongest competitive force: Substitutes.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Orange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€504M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-3.2%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€154M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30.6%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19.2%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72 (market avg 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75 (market avg 82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70 (market avg 80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65 (market avg 72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78 (market avg 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Orange Be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Telenet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€735M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+0.3%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€340M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46.3%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38.1%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60 (market avg 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Market share expansion (investing for growth);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Telenet Be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Proximus leads with 50% revenue share. Target operator holds 50% share. Strongest competitive force: Substitutes.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Gap Analysis: Proximus Be vs Telenet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pic>
        <p:nvPicPr>
          <p:cNvPr id="6" name="Picture 5" descr="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Gap analysis vs market leader Telenet Be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€1,240M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+0.49%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€400M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+2.0%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32.3%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38.2%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080"/>
                </a:solidFill>
                <a:latin typeface="Arial"/>
              </a:defRPr>
            </a:pPr>
            <a:r>
              <a:t>CAGR: +1.8% | Decelerating Growth</a:t>
            </a:r>
          </a:p>
        </p:txBody>
      </p:sp>
      <p:pic>
        <p:nvPicPr>
          <p:cNvPr id="22" name="Picture 21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#1 of 3 operators in market; revenue EUR 1,240M; EBITDA margin 32.3%; stable but facing challenges; key strength: Brand Strength; key challenge: Price Competitiveness; Management outlook: Proximus NXT cloud and cybersecurity services driving enterprise growth. Business mobile ARPU under pressure (-3.8% in Q4 2024).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Share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REVENUE SHARE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Proximus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50.0%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-0.5pp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Telenet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29.6% 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+0.4pp stable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Orange Belgium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20.3% 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+0.0pp stable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Concentration: HHI 3,794 (Highly Concentrated) | CR3: 100.0% | Trend: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Subscriber share: Mobile: 46.5% (-0.3pp) | Broadband: 45.9% (+0.1pp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share: 50.0% (#1); stable (-0.5pp); market is highly concentrated (HHI 3,794).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Momentum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MULTI-QUARTER TREND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+1.8% CAGR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Decelerating Growth (48/100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-3.3%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Recovery (52/100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27432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-5.0% 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Flat (53/100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Dominant momentum: Decelerating Growth — based on 3 KPI trend analyses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Broadband, B2B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€392M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1.8%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€5,630M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€5,210M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Residential mobile postpaid +122K net adds in 2024. Prepaid declining structurally. Responding to DIGI Belgium entry with data volume upgrades without price increases.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Proximus NXT cloud and cybersecurity services driving enterprise growth. Business mobile ARPU under pressure (-3.8% in Q4 2024).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392.0M; up 1.8% YoY; ARPU 19.5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€540M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0.9%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€2,350M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FY2024 Domestic revenue EUR 4,826M, EBITDA EUR 1,682M. 2025 guidance: broadly stable. Fiber take-up exceeding 50% in newly connected areas within 12 months. Convergent customer base growing 5%+ annual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3.5%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540.0M; growth +0.9% YoY; Fiber subs 720K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€320M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€234M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25.8%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Proximus NXT cloud and cybersecurity services driving enterprise growth. Business mobile ARPU under pressure (-3.8% in Q4 2024).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3.2%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320.0M; 25.8% of total revenue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€1,585M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1585K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Nokia/Ericsson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310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Nokia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 Status: Deploying SA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Fiber Technology: GPON/XGS-PON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increasing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12,500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7.7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['Guillaume Boutin (CEO)', 'Mark Reid (CFO)', 'Geert Standaert (CTO)']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Growth-oriented strategic posture; High-investment posture; Incumbent evolving under Bold2025 digital transformation; engineering excellence; strong social responsibility; complex stakeholder management (state ownership).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Guillaume Boutin: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Mark Reid: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Geert Standaert: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90 (market avg 82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88 (market avg 80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92 (market avg 72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85 (market avg 79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 Coverage: score 92 (market avg 85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Strong EBITDA margin at 32.3%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Price Competitiveness: score 55 (market avg 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Massive fiber investment program (multi-billion EUR over decade): Elevated capex constraining free cash flow and dividend capacity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State ownership (53.5% Belgian government) limits strategic flexibility: Political interference in strategic decisions and pricing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#1 of 3 operators in market; revenue EUR 1,240M; EBITDA margin 32.3%; stable but facing challenges; key strength: Brand Strength; key challenge: Price Competitiveness; Management outlook: Proximus NXT cloud and cybersecurity services driving enterprise growth. Business mobile ARPU under pressure (-3.8% in Q4 2024).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90 (market avg 82)'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'Price Competitiveness: score 55 (market...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90 (market avg 82)'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'Price Competitiveness: score 55 (marke...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9 strengths, 3 weaknesses, 2 opportunities, and 4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40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19 opportunities: 10 grow/invest, 2 acquire skills, 4 harvest, 3 avoid/exit. Focus resources on the 10 grow/invest items for maximum strategic impact.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19 opportunities: 10 grow/invest, 2 acquire skills, 4 harvest, 3 avoid/exit. Focus resources on the 10 grow/invest items for maximum strategic impact.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90 (market avg 82)' to capture the opportunity of 'Regulatory Environment: Compliance requirements and spectrum policies directly affect proximus_be'.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'Distribution: score 88 (market avg 80)' to capture the opportunity of 'National Digital Strategy: Fiber/5G coverage mandates may require proximus_be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5G SA enabling network slicing and enterprise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Technology trend: 5G SA enabling network slicing and enterprise services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AI/ML for network optimization and customer 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Technology trend: AI/ML for network optimization and customer experience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19 opportunities: 10 grow/invest, 2 acquire skills, 4 harvest, 3 avoid/exit. Focus resources on the 10 grow/invest items for maximum strategic impact.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DEFENSIVE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Dominant Leader: defend leadership through innovation and ecosystem lock-in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Defend leadership through ecosystem expansion in Mobile, Fixed Broadband, B2B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Maintain #1 revenue share</a:t>
            </a:r>
            <a:br/>
            <a:r>
              <a:t>- Grow Mobile, Fixed Broadband, B2B by 5-8% YoY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Shore up competitive position — address: Price Competitiveness: score 55 (market avg 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Close Price Competitiveness: score 55 (market avg 64) gap within 12 months</a:t>
            </a:r>
            <a:br/>
            <a:r>
              <a:t>- Reduce customer churn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TV/Convergence, Wholesale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TV/Convergence, Wholesale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Dominant Leader, the strategic posture is Defensive. As The Dominant Leader: defend leadership through innovation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3 P0 (IMMEDIATE), 3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Network Upgrade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Drive DOCSIS/Fiber rollout to increase homepass and improve quality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Homepass coverage +15% | Speed tier upgrades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€392M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€540M showing strong momentum — invest to 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5G Coverage 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Expand 5G population coverage to strengthen mobile competitive position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5G pop coverage target | 5G attach rate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Opportunity Portfolio Execution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10 grow/invest opportunities identified — establish execution office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Launch 3+ priority initiatives | Pipeline contribution tracking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489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897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16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93776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5760" y="507492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8" y="50840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0840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20" y="50109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5257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32.3% — maintain through smart automation and resource reallocatio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0" y="5074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7 critical tasks: 3 P0 (immediate), 3 P1 (1-2 years), 1 P2 (3-5 years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46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Fiber Broadband Penetration Industry is in late growth phase. (+3.2%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Belgium telecom market totals EUR 2,479M in quarterly revenue; competitive strengths in Availability, Performance; Market faces significant competitive headwinds.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Proximus leads with 50% revenue share. Target operator holds 50% share. Strongest competitive force: Substitutes.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#1 of 3 operators in market; revenue EUR 1,240M; EBITDA margin 32.3%; stable but facing challenges; key strength: Brand Strength; key challenge: Price Competitiveness; Management outlook: Proximus NXT cloud and cybersecurity services driving enterprise growth. Business mobile ARPU under pressure (-3.8% in Q4 2024).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9 strengths, 3 weaknesses, 2 opportunities, and 4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19 opportunities: 10 grow/invest, 2 acquire skills, 4 harvest, 3 avoid/exit. Focus resources on the 10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