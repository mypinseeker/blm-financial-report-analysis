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Vodafone Germany — BLM Strategic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Deep Analysis | Five Looks + SWOT + SPAN | CQ4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Target Operator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Vodafone Germany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German Telecom (4-Op Oligopoly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Period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CQ4 2025 / Q3 FY26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0" y="3200400"/>
            <a:ext cx="2651760" cy="1188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32918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Report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35661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60000"/>
                </a:solidFill>
                <a:latin typeface="Arial"/>
              </a:defRPr>
            </a:pPr>
            <a:r>
              <a:t>2026-02-10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46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  <a:latin typeface="Arial"/>
              </a:defRPr>
            </a:pPr>
            <a:r>
              <a:t>01 Trends (PEST) | 02 Market ($APPEALS) | Tariff | 03 Competition (Porter) | 04 Self (BMC) | SWOT | 05 Opportunities (SPAN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Report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280160"/>
            <a:ext cx="457200" cy="41148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441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280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5087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Key findings, position, priorities (5 slides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1828800"/>
            <a:ext cx="457200" cy="41148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928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28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Look at Trends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0574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PEST macro environment analysis (5 slides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2377440"/>
            <a:ext cx="457200" cy="41148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4414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377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Look at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6060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$APPEALS, segments, events (5 slides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2926080"/>
            <a:ext cx="457200" cy="41148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9900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2926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1546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Mobile, fixed, FMC pricing (5 slides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3474720"/>
            <a:ext cx="457200" cy="41148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53872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474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Look at Competition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7033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Porter, 3 competitor deep dives (6 slides</a:t>
            </a:r>
          </a:p>
        </p:txBody>
      </p:sp>
      <p:sp>
        <p:nvSpPr>
          <p:cNvPr id="26" name="Oval 25"/>
          <p:cNvSpPr/>
          <p:nvPr/>
        </p:nvSpPr>
        <p:spPr>
          <a:xfrm>
            <a:off x="731520" y="4023360"/>
            <a:ext cx="457200" cy="41148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0873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023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Look at Self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25196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Health, revenue, network, BMC (6 slides</a:t>
            </a:r>
          </a:p>
        </p:txBody>
      </p:sp>
      <p:sp>
        <p:nvSpPr>
          <p:cNvPr id="30" name="Oval 29"/>
          <p:cNvSpPr/>
          <p:nvPr/>
        </p:nvSpPr>
        <p:spPr>
          <a:xfrm>
            <a:off x="731520" y="4572000"/>
            <a:ext cx="457200" cy="41148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63600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480060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Matrix, strategies, priorities (5 slides</a:t>
            </a:r>
          </a:p>
        </p:txBody>
      </p:sp>
      <p:sp>
        <p:nvSpPr>
          <p:cNvPr id="34" name="Oval 33"/>
          <p:cNvSpPr/>
          <p:nvPr/>
        </p:nvSpPr>
        <p:spPr>
          <a:xfrm>
            <a:off x="731520" y="5120640"/>
            <a:ext cx="457200" cy="41148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18464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120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Look at Opportunities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53492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SPAN, priorities, financials (5 slides</a:t>
            </a:r>
          </a:p>
        </p:txBody>
      </p:sp>
      <p:sp>
        <p:nvSpPr>
          <p:cNvPr id="38" name="Oval 37"/>
          <p:cNvSpPr/>
          <p:nvPr/>
        </p:nvSpPr>
        <p:spPr>
          <a:xfrm>
            <a:off x="731520" y="5669280"/>
            <a:ext cx="457200" cy="41148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7332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5669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89788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Risk/reward, KPI dashboard (3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Data Sources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Data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~2,700 lines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Tariff Records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466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807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Analysis Documents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128016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1371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Time Span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169163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8 Quarters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7432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CQ4_2025 Market Snapshot (4 operators, all KPIs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466 Tariff Records (H1_2023 - H1_2026, 7 snapshots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8-Quarter Financial Trend (CQ1 2024 – CQ4 2025 by segment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10 Market Events (ranked by strategic impact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$APPEALS Assessment (8 dimensions x 4 operators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Porter Five Forces + SWOT + SPAN Matrix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  <a:latin typeface="Arial"/>
              </a:defRPr>
            </a:pPr>
            <a:r>
              <a:t>• Management Commentary (Q3 FY26 Earnings Call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All data traceable to original sources; 8 deep analysis documents totaling ~2,700 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Vodafone Germany BLM Strategic Assessment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Situation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EUR 12.3B/q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~EUR 49B ann.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+0.3% YoY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Near-zero real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644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HHI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~3,500+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Highly concentrated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Lifecycle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Mature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Zero-sum game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37744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468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2788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EUR 3,092M #2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1546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+0.7% YoY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40" y="237744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0" y="2468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2788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36.2%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1546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+0.8pp over 8Q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0" y="237744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2468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2788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32,500K #3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6440" y="31546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+80K/q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20" y="237744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2468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Churn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2788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1.05%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1546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Worst in market</a:t>
            </a:r>
          </a:p>
        </p:txBody>
      </p:sp>
      <p:pic>
        <p:nvPicPr>
          <p:cNvPr id="38" name="Picture 37" descr="deep_revenu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66160"/>
            <a:ext cx="5029200" cy="210312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760720" y="3657600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DT alone &gt; other 3 combined (EUR 6,200M vs EUR 6,127M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VF growing +0.7% vs DT +1.1% — gap widening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O2 winning subs but losing revenue (-3.4%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1&amp;1 at 8.4% share, still in MVNO-to-MNO build phase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EUR 12.3B market growing at near-zero real — every euro must come from competitors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Vodafone Germany — Headline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8288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5331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35331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EUR 3,092M/q (+0.7% YoY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3533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Growing, barely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10512"/>
            <a:ext cx="18288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8836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88366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EUR 1,120M/q (36.2%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88366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Healthy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40864"/>
            <a:ext cx="18288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1401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Mobile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24140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+80K/q net adds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41401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Weakest in market (DT +340K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71216"/>
            <a:ext cx="18288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94436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Broadband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294436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-63K/q net loss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294436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ONLY operator losing BB subs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401568"/>
            <a:ext cx="18288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474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B2B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EUR 520M/q (+8.5% YoY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4747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Strongest growth engine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931920"/>
            <a:ext cx="18288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00507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Wholesale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40050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EUR 380M/q (+90% YoY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0050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Temporary 1&amp;1 windfall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462272"/>
            <a:ext cx="1828800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53542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FMC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453542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4,900K subs (49.3% pen.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535424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Key retention metric</a:t>
            </a:r>
          </a:p>
        </p:txBody>
      </p:sp>
      <p:pic>
        <p:nvPicPr>
          <p:cNvPr id="34" name="Picture 33" descr="deep_donut_kp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0"/>
            <a:ext cx="10972800" cy="109728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Stable #2 but growth engines (B2B, wholesale) mask flat consumer and declining broadband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The "Squeezed Middle" — Central Diagnosis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7</a:t>
            </a:r>
          </a:p>
        </p:txBody>
      </p:sp>
      <p:pic>
        <p:nvPicPr>
          <p:cNvPr id="6" name="Picture 5" descr="deep_squeezed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846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Escape Routes: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48463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Convergence moat: Cable+mobile FMC unique — neither O2 nor 1&amp;1 can match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B2B pivot: Enterprise less price-sensitive; Skaylink adds cloud/security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Infrastructure: FibreCo JV + DOCSIS 4.0 to defend fixed broadband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Customers wanting premium choose DT; wanting value choose O2/1&amp;1 — VF must differentiate via FMC, B2B, infra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5 Strategic Priorities — Consolidated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8</a:t>
            </a:r>
          </a:p>
        </p:txBody>
      </p:sp>
      <p:pic>
        <p:nvPicPr>
          <p:cNvPr id="6" name="Picture 5" descr="deep_prior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Five priorities across all analyses — P1 (BB defense) is existential, P3 (service) is highest ROI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01 Look at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PEST Framework — Macro Environment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Analysis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MACRO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10</a:t>
            </a:r>
          </a:p>
        </p:txBody>
      </p:sp>
      <p:pic>
        <p:nvPicPr>
          <p:cNvPr id="6" name="Picture 5" descr="deep_pes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Net favorable (9 opps vs 3 threats) — but fiber displacement and 5G SA gap are existential risks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PEST Factor Priority Ranking — VF-Specific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MACRO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11</a:t>
            </a:r>
          </a:p>
        </p:txBody>
      </p:sp>
      <p:pic>
        <p:nvPicPr>
          <p:cNvPr id="6" name="Picture 5" descr="deep_pest_fa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Fiber displacement is #1 threat; Gigabit Fund and spectrum extension are #1 opportunities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Industry Landscape &amp; Key Success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INDUSTRY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Market Size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EUR 49B/yr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4th globally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18872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Penetration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Mobile 170% / BB 37%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18872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CR4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Pure oligopoly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0" y="118872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2396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Avg Margin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239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~36.6%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Healthy</a:t>
            </a:r>
          </a:p>
        </p:txBody>
      </p:sp>
      <p:pic>
        <p:nvPicPr>
          <p:cNvPr id="21" name="Picture 20" descr="deep_ksf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51760"/>
            <a:ext cx="5029200" cy="30175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43600" y="2651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Mature Market Implications: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301752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Volume growth exhausted — mobile pen. &gt;130%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Competition shifts to retention and upsell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ARPU defense &gt; subscriber growth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 and B2B are remaining growth pockets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Regulatory and tech shifts are primary disruptors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Mature market — growth only from stealing share; FMC and B2B are the growth pockets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Value Transfer &amp; New Business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VALUE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94360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447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Voice/SMS -&gt; Data/OTT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4447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Complete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74520"/>
            <a:ext cx="594360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476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Linear TV -&gt; Streaming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94767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Accelerating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77440"/>
            <a:ext cx="594360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5059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Consumer -&gt; B2B Enterprise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4505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Growing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80360"/>
            <a:ext cx="594360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9535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DSL/Copper -&gt; Fiber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9535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Accelerating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83280"/>
            <a:ext cx="594360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5643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Cable BB -&gt; Fiber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4564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Beginning — VF main risk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86200"/>
            <a:ext cx="594360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5935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Traditional capex -&gt; NaaS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95935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Emerging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5943600" cy="4572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4622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Arial"/>
              </a:defRPr>
            </a:pPr>
            <a:r>
              <a:t>Mobile-only -&gt; FMC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46227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000"/>
                </a:solidFill>
                <a:latin typeface="Arial"/>
              </a:defRPr>
            </a:pPr>
            <a:r>
              <a:t>Mature — proven retention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371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Emerging Models: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173736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FWA (5G as BB substitute) — moderate for VF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Network-as-a-Service (slicing) — high, needs 5G SA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Wholesale/MVNO — EUR 380M/q, structural decline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IoT platform — 3M connections, B2B synergy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Cable-to-fiber migration is VF's #1 value risk; FMC convergence is proven value creation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02 Look at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$APPEALS — Market Changes &amp; Customer Needs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Market Snapshot — CQ4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MARKET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EUR 12,327M/q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~EUR 49B/yr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18872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143,100K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170% pen.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18872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BB Subs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31,420K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37% pen.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118872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Operators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CR4=100%</a:t>
            </a:r>
          </a:p>
        </p:txBody>
      </p:sp>
      <p:pic>
        <p:nvPicPr>
          <p:cNvPr id="22" name="Picture 21" descr="deep_mk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5486400" cy="2926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943600" y="2651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Monetization Insight: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30175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DT monetizes best: 36.5% mobile subs -&gt; 50.3% revenue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O2 monetizes worst: 32.1% subs -&gt; 16.2% revenue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VF in between: revenue share (25.1%) &gt; mobile sub share (22.7%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share tells the real competitive story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EUR 12.3B market — DT captures more revenue than the other 3 combined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7 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097280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53312"/>
            <a:ext cx="41148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371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Consumer High-End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371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~13.9M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8000"/>
                </a:solidFill>
                <a:latin typeface="Arial"/>
              </a:defRPr>
            </a:pPr>
            <a:r>
              <a:t>Growing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1097280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901952"/>
            <a:ext cx="41148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9202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Consumer Mainstream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~51.2M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377440"/>
            <a:ext cx="1097280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450592"/>
            <a:ext cx="411480" cy="32004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4688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P3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Consumer Price-Sensitive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468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~35.1M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468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0000"/>
                </a:solidFill>
                <a:latin typeface="Arial"/>
              </a:defRPr>
            </a:pPr>
            <a:r>
              <a:t>Shrinking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2926080"/>
            <a:ext cx="1097280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2999232"/>
            <a:ext cx="41148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01752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Consumer Youth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017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~17.2M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017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8000"/>
                </a:solidFill>
                <a:latin typeface="Arial"/>
              </a:defRPr>
            </a:pPr>
            <a:r>
              <a:t>Growing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474720"/>
            <a:ext cx="1097280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3547872"/>
            <a:ext cx="411480" cy="32004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56616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P1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Enterprise Large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~47K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35661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8000"/>
                </a:solidFill>
                <a:latin typeface="Arial"/>
              </a:defRPr>
            </a:pPr>
            <a:r>
              <a:t>Growing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023360"/>
            <a:ext cx="1097280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4096512"/>
            <a:ext cx="41148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1148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Enterprise SME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114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~896K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4114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Stable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4572000"/>
            <a:ext cx="10972800" cy="5029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4645152"/>
            <a:ext cx="411480" cy="3200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6634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P2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7280" y="4663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33333"/>
                </a:solidFill>
                <a:latin typeface="Arial"/>
              </a:defRPr>
            </a:pPr>
            <a:r>
              <a:t>Wholesale/MVNO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~17.2M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46634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08080"/>
                </a:solidFill>
                <a:latin typeface="Arial"/>
              </a:defRPr>
            </a:pPr>
            <a:r>
              <a:t>Stable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Focus on High-End + Mainstream + Enterprise; deprioritize price-sensitive (35M subs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$APPEALS Assessment — Customer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CUSTOMER PERCEPTION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6" name="Picture 5" descr="deep_appeals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858000" cy="457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188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Key Gaps: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5544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Performance: VF 3.8 vs DT 4.7 (gap -0.9pt) — CRITICAL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Price: VF 3.6 vs 1&amp;1 4.5 (gap -0.9pt) — CRITICAL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Availability: VF 4.0 vs DT 4.8 (gap -0.8pt) — CRITICAL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VF beats DT on: NOTHING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VF best score: Assurances (4.1) — trust/reliability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Triple weakness: Price, Ease of Use, Lifecycle Cost (all 3.6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VF beats DT on nothing — squeezed middle confirmed in customer perception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Top Market Events — CQ4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COMPETITIVE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258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DT reboots fiber, targets VF cable footprint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0" y="1325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1737360"/>
            <a:ext cx="365760" cy="36576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830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VF completes 1&amp;1 migration: 12M users on network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1783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194560"/>
            <a:ext cx="365760" cy="36576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402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2402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1&amp;1 completes OpenRAN, reaches 25% coverage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240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2651760"/>
            <a:ext cx="365760" cy="36576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6974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6974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VF-Altice FibreCo JV: 7M FTTH homes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26974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22" name="Oval 21"/>
          <p:cNvSpPr/>
          <p:nvPr/>
        </p:nvSpPr>
        <p:spPr>
          <a:xfrm>
            <a:off x="457200" y="3108960"/>
            <a:ext cx="365760" cy="36576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154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1546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VF acquires Skaylink for EUR 175M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31546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26" name="Oval 25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6118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36118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BNetzA extends spectrum by 5 years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3611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80000"/>
                </a:solidFill>
                <a:latin typeface="Arial"/>
              </a:defRPr>
            </a:pPr>
            <a:r>
              <a:t>High</a:t>
            </a:r>
          </a:p>
        </p:txBody>
      </p:sp>
      <p:sp>
        <p:nvSpPr>
          <p:cNvPr id="30" name="Oval 29"/>
          <p:cNvSpPr/>
          <p:nvPr/>
        </p:nvSpPr>
        <p:spPr>
          <a:xfrm>
            <a:off x="457200" y="4023360"/>
            <a:ext cx="365760" cy="36576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069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0690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DT Q3: revenue +1.5%, profit +14.3%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40690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34" name="Oval 33"/>
          <p:cNvSpPr/>
          <p:nvPr/>
        </p:nvSpPr>
        <p:spPr>
          <a:xfrm>
            <a:off x="457200" y="4480560"/>
            <a:ext cx="365760" cy="365760"/>
          </a:xfrm>
          <a:prstGeom prst="ellipse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5262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" y="4526280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Arial"/>
              </a:defRPr>
            </a:pPr>
            <a:r>
              <a:t>VF restructures cable TV frequencies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4526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A500"/>
                </a:solidFill>
                <a:latin typeface="Arial"/>
              </a:defRPr>
            </a:pPr>
            <a:r>
              <a:t>Medium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1206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Three Battles: 1) Fixed BB Infrastructure | 2) Wholesale Economics | 3) B2B Transformation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10 market events — DT fiber overbuild (#1) and 1&amp;1 network build (#3) are the strategic threats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Tariff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Mobile, Fixed &amp; Convergence Pricing Landscape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Mobile Postpaid Price Comparison — H1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CROSS-OPERATOR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20</a:t>
            </a:r>
          </a:p>
        </p:txBody>
      </p:sp>
      <p:pic>
        <p:nvPicPr>
          <p:cNvPr id="6" name="Picture 5" descr="deep_tariff_postpa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Price Gaps: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S: DT premium 167% vs O2/1&amp;1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M: DT premium 150%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L: DT premium 140%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Tier XL: DT premium 112%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VF sits 65-75% above O2/1&amp;1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VF sits 20-35% below DT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= Classic 'squeezed middle'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DT commands 112-167% premium; VF caught in the middle — too expensive for value, not premium enough for DT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EUR/GB Value Analysis — Mobile Postpaid H1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PRICING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21</a:t>
            </a:r>
          </a:p>
        </p:txBody>
      </p:sp>
      <p:pic>
        <p:nvPicPr>
          <p:cNvPr id="6" name="Picture 5" descr="deep_eur_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28016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VF GigaMobil S at EUR 3.57/GB is worst in market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That's 21x worse than O2 Mobile L (EUR 0.17/GB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O2 best value: 1/5 of VF at L tier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1&amp;1 consistently 2nd-best value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Options: increase data to 15-20GB at same price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or cut price to EUR 20 to close O2/1&amp;1 gap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VF GigaMobil S worst value in market (EUR 3.57/GB) — 21x worse than O2; repricing or data rebalance needed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Mobile Postpaid Price Evolution — H1 2023 to H1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3-YEAR PRICING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22</a:t>
            </a:r>
          </a:p>
        </p:txBody>
      </p:sp>
      <p:pic>
        <p:nvPicPr>
          <p:cNvPr id="6" name="Picture 5" descr="deep_tarif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31520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280160"/>
            <a:ext cx="3931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DT: Never discounts — doubled data instead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VF: One major reset H2_2024 (-17-20%), then frozen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O2: Most aggressive — two disruptions in 18mo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1&amp;1: MVNO-to-MNO price increase justified by own network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5G premium eroded from +123% to 0% in 18 months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Differentiation must come from FMC, SA, B2B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DT never discounts; O2 most aggressive; VF reactive — 5G premium fully eroded to 0%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Broadband &amp; FMC Bundle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CABLE, DSL, FIBER, FMC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23</a:t>
            </a:r>
          </a:p>
        </p:txBody>
      </p:sp>
      <p:pic>
        <p:nvPicPr>
          <p:cNvPr id="6" name="Picture 5" descr="deep_cable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486400" cy="2286000"/>
          </a:xfrm>
          <a:prstGeom prst="rect">
            <a:avLst/>
          </a:prstGeom>
        </p:spPr>
      </p:pic>
      <p:pic>
        <p:nvPicPr>
          <p:cNvPr id="7" name="Picture 6" descr="deep_fmc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66160"/>
            <a:ext cx="5486400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0" y="12801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Cable is VF's crown jewel: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1000 Mbps at EUR 50 vs DT 250 Mbps at EUR 50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= 4x speed at same price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 narrows the price gap: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VF Basic EUR 50 is 43% above O2/1&amp;1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(vs 65-167% gap in mobile alone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FMC should be the lead product —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cable speed advantage = sustainable moat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Cable is VF's only clear pricing win (4x speed at same price); FMC narrows the competitive gap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03 Look at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Porter's Five Forces — Competitive Landscape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Porter's Five Forces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COMPETITIVE FORCES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25</a:t>
            </a:r>
          </a:p>
        </p:txBody>
      </p:sp>
      <p:pic>
        <p:nvPicPr>
          <p:cNvPr id="6" name="Picture 5" descr="deep_po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05840"/>
            <a:ext cx="640080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1371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Overall: MEDIUM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37360"/>
            <a:ext cx="2103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Price competition fierce at value end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DT insulated in premium bubble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1&amp;1 OpenRAN is structural change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OTT substitution 90% complete</a:t>
            </a:r>
          </a:p>
          <a:p>
            <a:pPr>
              <a:spcAft>
                <a:spcPts val="400"/>
              </a:spcAft>
              <a:defRPr sz="900">
                <a:solidFill>
                  <a:srgbClr val="333333"/>
                </a:solidFill>
                <a:latin typeface="Arial"/>
              </a:defRPr>
            </a:pPr>
            <a:r>
              <a:t>• VF has highest churn (1.05%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Medium overall intensity — but masks fierce price competition at value end while DT operates in premium bubble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Deutsche Telekom — The Unassailable Incumbent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EUR 6,200M/q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2.0x VF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42.1%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+5.9pp vs VF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19.4%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Most efficient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52,200K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1.6x VF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377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Strategy: "Premium fortress with fiber moat"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7432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Never discount — doubles data instead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Fiber-first: 8,500K homepass (4x VF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Commands 112-167% premium across all tiers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Only operator growing revenue + margin + subs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Actively targeting VF cable footprint with fiber</a:t>
            </a:r>
          </a:p>
        </p:txBody>
      </p:sp>
      <p:pic>
        <p:nvPicPr>
          <p:cNvPr id="24" name="Picture 23" descr="deep_dt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2286000"/>
            <a:ext cx="5943600" cy="32004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DT is 2x VF on revenue with 6pp higher margins — gap widening; fiber overbuild is existential threat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Telefonica O2 — The Value Disruptor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EUR 2,000M/q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0.65x VF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32.5%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-3.7pp vs VF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-3.4%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Declining!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Mobile Subs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45,900K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1.4x VF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377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Strategy: "More for less — volume at any cost"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7432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Most aggressive pricing: two major restructures in 18mo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democratization — first to make 5G standard on all plans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"Grow" innovation: auto-increasing data at same price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98% 5G but only 2,400K BB subs — no convergence play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paradox: winning subs (+170K/q) but losing revenue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377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Threat &amp; Opportunity: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7432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THREAT: O2 EUR 20/60GB vs VF EUR 33/25GB — stark value gap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O2 'Grow' feature is a retention innovation VF lacks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OPPORTUNITY: O2 has no fixed BB (2,400K vs VF 9,940K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FMC bundling is VF's counter to O2 price aggression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O2 winning subs but destroying value (-3.4% revenue); FMC is VF's counter — O2 has no fixed broadband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1&amp;1 AG — The Insurgent Network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COMPETITOR 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EUR 1,035M/q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0.33x VF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12.2%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-24pp vs VF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9788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Capex/Rev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38.6%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Building network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188720"/>
            <a:ext cx="2468880" cy="914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1280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5G 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9640" y="1600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55%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19659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vs VF 92%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3774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Strategy: "From MVNO underdog to OpenRAN pioneer"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7432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MVNO to MNO transformation — Europe's first OpenRAN 5G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Successfully raised prices 14-50% at network launch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Cheapest unlimited in Germany: EUR 40 (VF EUR 55, DT EUR 85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12.2% EBITDA reflects 'invest now, monetize later'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Coverage gap (55%) is critical weakness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237744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Wholesale Risk: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74320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THREAT (short-term): competes on price at bottom tier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THREAT (long-term): 12M hosted subs will migrate off VF network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At 50% coverage (est. 2027), migration accelerates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Wholesale revenue EUR 380M/q at risk over 3-5 years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OPPORTUNITY: OpenRAN quality untested — may drive subs back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1&amp;1 at 25% coverage with cheapest unlimited (EUR 40) — wholesale revenue (EUR 380M/q) is VF's main risk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Competitive Strength Radar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CROSS-OPERATOR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29</a:t>
            </a:r>
          </a:p>
        </p:txBody>
      </p:sp>
      <p:pic>
        <p:nvPicPr>
          <p:cNvPr id="6" name="Picture 5" descr="deep_comp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685800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3716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DT outscores VF on 8 of 9 dimensions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VF's only relative advantage: Pricing (72 vs DT 60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But O2 (85) and 1&amp;1 (90) outscore VF on Pricing too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= Squeezed middle quantified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VF wins on: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Cable broadband (~24M homepass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Convergence/FMC (4,900K subs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TV leadership (7,740K — 1.8x DT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DT outscores VF on 8/9 dimensions; VF's advantages are cable, FMC, and TV — must defend and extend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04 Look at Self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BMC + Capability Assessment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Operating Health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FINANCIAL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EUR 3,092M/q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08000"/>
                </a:solidFill>
                <a:latin typeface="Arial"/>
              </a:defRPr>
            </a:pPr>
            <a:r>
              <a:t>+0.7% YoY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18872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EBITDA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EUR 1,120M/q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36.2% margin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118872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6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Capex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EUR 800M/q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1965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80000"/>
                </a:solidFill>
                <a:latin typeface="Arial"/>
              </a:defRPr>
            </a:pPr>
            <a:r>
              <a:t>25.9% intensity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0" y="1188720"/>
            <a:ext cx="2560320" cy="10972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6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  <a:latin typeface="Arial"/>
              </a:defRPr>
            </a:pPr>
            <a:r>
              <a:t>Employees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0000"/>
                </a:solidFill>
                <a:latin typeface="Arial"/>
              </a:defRPr>
            </a:pPr>
            <a:r>
              <a:t>14,500</a:t>
            </a:r>
          </a:p>
        </p:txBody>
      </p:sp>
      <p:pic>
        <p:nvPicPr>
          <p:cNvPr id="21" name="Picture 20" descr="deep_rev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651760"/>
            <a:ext cx="6400800" cy="29260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58000" y="27432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Revenue flat: EUR 3,050M -&gt; EUR 3,092M over 8Q (+1.4%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Margin expanding: 35.4% -&gt; 36.2% (+0.8pp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Cost optimization doing the heavy lifting, not growth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Capex/Rev 25.9% vs DT 19.4% — less efficient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"Managed optimization" playbook, not a growth story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Slow growth mode — revenue +0.7% but margin improving; cost optimization doing heavy lifting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Revenue Breakdown &amp; Segment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REVENUE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32</a:t>
            </a:r>
          </a:p>
        </p:txBody>
      </p:sp>
      <p:pic>
        <p:nvPicPr>
          <p:cNvPr id="6" name="Picture 5" descr="deep_rev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4008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YoY Growth: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600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Mobile +2.8%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Fixed BB -1.1%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240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B2B +8.5%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560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Wholesale +90%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880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TV -3.6%</a:t>
            </a:r>
          </a:p>
        </p:txBody>
      </p:sp>
      <p:pic>
        <p:nvPicPr>
          <p:cNvPr id="13" name="Picture 12" descr="deep_wholesale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023360"/>
            <a:ext cx="5486400" cy="1645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43600" y="411480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Wholesale EUR 180M -&gt; EUR 380M in 8Q (1&amp;1 driven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Peak reached — structural decline as 1&amp;1 builds coverage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EUR 100-200M/q at risk by 2028-29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B2B (+8.5%) and Wholesale (+90%) mask flat consumer; wholesale is temporary windfall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Fixed Broadband — The Critical Battleground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SEGMENT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33</a:t>
            </a:r>
          </a:p>
        </p:txBody>
      </p:sp>
      <p:pic>
        <p:nvPicPr>
          <p:cNvPr id="6" name="Picture 5" descr="deep_bb_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28016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Cable: 7,500K -&gt; 6,980K (-6.9%) HEMORRHAGING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Fiber: 850K -&gt; 1,480K (+74.1%) BRIGHT SPOT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DSL: 1,480K stable (legacy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Net: -63K/q — ONLY operator losing BB subs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At current pace, cable &lt; 6,000K by end-2027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FibreCo JV + DOCSIS 4.0 is the dual-track answer</a:t>
            </a:r>
          </a:p>
        </p:txBody>
      </p:sp>
      <p:pic>
        <p:nvPicPr>
          <p:cNvPr id="8" name="Picture 7" descr="deep_fmc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023360"/>
            <a:ext cx="5486400" cy="16459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411480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FMC: 4,200K -&gt; 4,900K (+16.7%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Penetration: 40.7% -&gt; 49.3% (+8.6pp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FMC customers churn 30-40% less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Cable hemorrhaging (-6.9% over 8Q); fiber growing (+74%); FMC at 49% is the retention engine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Network Infrastructure &amp; Technology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34</a:t>
            </a:r>
          </a:p>
        </p:txBody>
      </p:sp>
      <p:pic>
        <p:nvPicPr>
          <p:cNvPr id="6" name="Picture 5" descr="deep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09728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Three Critical Gaps: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coverage: 92% vs DT 97%, O2 98% — now #3 network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SA: DT commercial since Sep 2024; VF still testing — 12-18mo behind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Fiber homepass: 1,500K vs DT 8,500K (5.7x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3657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8000"/>
                </a:solidFill>
                <a:latin typeface="Arial"/>
              </a:defRPr>
            </a:pPr>
            <a:r>
              <a:t>Unique Advantage: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40233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Cable network (~24M homepass) — unique differentiator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1000 Mbps cable at competitive prices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DOCSIS 4.0 -&gt; 10Gbps symmetric (matches fiber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5G #3, fiber 5.7x behind DT, SA 12-18mo late — but cable 24M homepass is unchallengeable moat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Strengths, Weaknesses &amp; Exposure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SELF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8000"/>
                </a:solidFill>
                <a:latin typeface="Arial"/>
              </a:defRPr>
            </a:pPr>
            <a: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64592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Cable BB network (24M homes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Brand strength (82/100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Enterprise solutions (82/100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EBITDA margin (36.2%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TV leadership (7,740K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Revenue growth trajectory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80000"/>
                </a:solidFill>
                <a:latin typeface="Arial"/>
              </a:defRPr>
            </a:pPr>
            <a:r>
              <a:t>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64592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Highest churn (1.05%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Customer service (70/100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Pricing competitiveness (72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5G coverage gap (92%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Fiber homepass gap (1.5M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BB subscriber losses (-63K/q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2801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A500"/>
                </a:solidFill>
                <a:latin typeface="Arial"/>
              </a:defRPr>
            </a:pPr>
            <a:r>
              <a:t>Exposure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645920"/>
            <a:ext cx="3474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1&amp;1 wholesale decline (EUR 100-200M/q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DT fiber overbuild in cable footprint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O2 further price disruption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5G SA delay beyond 2026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Cable obsolescence perception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Stable but diverging — B2B and wholesale masking declines in fixed and competitive slippage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SWOT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Strengths, Weaknesses, Opportunities &amp; Threats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STRATEGIC 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37</a:t>
            </a:r>
          </a:p>
        </p:txBody>
      </p:sp>
      <p:pic>
        <p:nvPicPr>
          <p:cNvPr id="6" name="Picture 5" descr="deep_swo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31520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18872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000"/>
                </a:solidFill>
                <a:latin typeface="Arial"/>
              </a:defRPr>
            </a:pPr>
            <a:r>
              <a:t>Posture: OFFENSIVE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554480"/>
            <a:ext cx="39319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S=7 &gt; W=3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O=11 &gt; T=4 (ratio ~3:1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SO-dominant strategy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Aggressive exploitation,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not defensive retrenchment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Offensive posture — strengths &gt; weaknesses, opportunities 3:1 vs threats; SO-dominant strategy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 Strategy Matrix — Cross-Quadrant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STRATEGIC RESPONSES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38</a:t>
            </a:r>
          </a:p>
        </p:txBody>
      </p:sp>
      <p:pic>
        <p:nvPicPr>
          <p:cNvPr id="6" name="Picture 5" descr="deep_swot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SO Mega-Strategy: Use financial strength and enterprise capabilities to fund and capture the infrastructure transformation opportunity.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SO-dominant: use EBITDA + enterprise to fund infra transformation; WO: fix service as highest ROI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The "Squeezed Middle" — SWOT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STRATEGIC DIAGNOSIS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39</a:t>
            </a:r>
          </a:p>
        </p:txBody>
      </p:sp>
      <p:pic>
        <p:nvPicPr>
          <p:cNvPr id="6" name="Picture 5" descr="deep_swot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8580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128016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VF strengths are above market average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But BELOW DT on every single dimension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This is the fundamental positioning problem: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Not weakness — insufficiency of strength vs leader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VF charges near-premium (closer to DT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But delivers mid-range (closer to O2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VF's strengths are above average but below DT on every dimension — not weak, but insufficient vs leader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SWOT-Derived Strategic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PRIORITY 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40</a:t>
            </a:r>
          </a:p>
        </p:txBody>
      </p:sp>
      <p:pic>
        <p:nvPicPr>
          <p:cNvPr id="6" name="Picture 5" descr="deep_swot_p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80000"/>
                </a:solidFill>
                <a:latin typeface="Arial"/>
              </a:defRPr>
            </a:pPr>
            <a:r>
              <a:t>What NOT To Do: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Price wars — destroys 36.2% margin without winning share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Premium repositioning — behind DT on every dimension, 5+ years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Standalone TV investment — declining; value is as FMC anchor</a:t>
            </a:r>
          </a:p>
          <a:p>
            <a:pPr>
              <a:spcAft>
                <a:spcPts val="400"/>
              </a:spcAft>
              <a:defRPr sz="1000">
                <a:solidFill>
                  <a:srgbClr val="333333"/>
                </a:solidFill>
                <a:latin typeface="Arial"/>
              </a:defRPr>
            </a:pPr>
            <a:r>
              <a:t>• Delay fiber — every quarter = ~63K BB subs lost to DT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5 priorities: defend BB (existential), fix service (highest ROI), grow FMC, accelerate B2B, manage wholesale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05 Look at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DCDC"/>
                </a:solidFill>
                <a:latin typeface="Arial"/>
              </a:defRPr>
            </a:pPr>
            <a:r>
              <a:t>SPAN Matrix — Opportunity Selection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SPAN Matrix — 21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OPPORTUNITY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42</a:t>
            </a:r>
          </a:p>
        </p:txBody>
      </p:sp>
      <p:pic>
        <p:nvPicPr>
          <p:cNvPr id="6" name="Picture 5" descr="deep_span_bub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7772400" cy="47548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137160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Grow/Invest: 18 (86%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Acquire Skills: 3 (14%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Harvest: 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Avoid/Exit: 0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86% in Grow/Invest confirms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offensive strategic posture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Challenge is not finding opportunities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but prioritizing and sequencing them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86% of opportunities in Grow/Invest — market offering favorable hand; challenge is execution speed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Priority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RESOURCE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43</a:t>
            </a:r>
          </a:p>
        </p:txBody>
      </p:sp>
      <p:pic>
        <p:nvPicPr>
          <p:cNvPr id="6" name="Picture 5" descr="deep_opp_prior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3891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5 P0 (must-do), 3 P1 (should-do), 2 P2 (explore) — 60/30/10% resource allocation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Financial Impact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REVENUE &amp; INVESTMENT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44</a:t>
            </a:r>
          </a:p>
        </p:txBody>
      </p:sp>
      <p:pic>
        <p:nvPicPr>
          <p:cNvPr id="6" name="Picture 5" descr="deep_fin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2743200"/>
          </a:xfrm>
          <a:prstGeom prst="rect">
            <a:avLst/>
          </a:prstGeom>
        </p:spPr>
      </p:pic>
      <p:pic>
        <p:nvPicPr>
          <p:cNvPr id="7" name="Picture 6" descr="deep_scenario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023360"/>
            <a:ext cx="7315200" cy="2103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0" y="411480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Cost of inaction: -EUR 2-4B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Net value of full execution: +EUR 2-4B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Asymmetry is clear: invest or decline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Cost of inaction (EUR 2-4B loss) exceeds cost of action (EUR 1-3B net gain) — VF must invest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Opportunity Sequencing — 2025 to 2029+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EXECUTION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45</a:t>
            </a:r>
          </a:p>
        </p:txBody>
      </p:sp>
      <p:pic>
        <p:nvPicPr>
          <p:cNvPr id="6" name="Picture 5" descr="deep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114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P0 (Must Execute): 60% of strategic investment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FibreCo JV, Wholesale Max, FMC, Skaylink, Spectrum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P1 (Should Execute): 30% of strategic investment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Customer Service, Gigabit Fund, Cable Restructuring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P2 (Explore): 10% of strategic investment</a:t>
            </a:r>
          </a:p>
          <a:p>
            <a:pPr>
              <a:spcAft>
                <a:spcPts val="400"/>
              </a:spcAft>
              <a:defRPr sz="1100">
                <a:solidFill>
                  <a:srgbClr val="333333"/>
                </a:solidFill>
                <a:latin typeface="Arial"/>
              </a:defRPr>
            </a:pPr>
            <a:r>
              <a:t>• 5G SA/Enterprise, AI/ML, Open RAN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3-5 year window to execute — FibreCo JV and wholesale revenue fund the transformation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Risk / Reward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STRATEGIC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46</a:t>
            </a:r>
          </a:p>
        </p:txBody>
      </p:sp>
      <p:pic>
        <p:nvPicPr>
          <p:cNvPr id="6" name="Picture 5" descr="deep_risk_re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572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0000"/>
                </a:solidFill>
                <a:latin typeface="Arial"/>
              </a:defRPr>
            </a:pPr>
            <a:r>
              <a:t>The asymmetry is clear: downside of inaction (EUR 2-4B value destruction) exceeds net cost of action (EUR 1-3B net value creation after investment). Vodafone must invest.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Execute: +EUR 1-3B net value | Do nothing: -EUR 2-4B loss — the cost of inaction exceeds the cost of action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33333"/>
                </a:solidFill>
                <a:latin typeface="Arial"/>
              </a:defRPr>
            </a:pPr>
            <a:r>
              <a:t>Success Metrics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60000"/>
                </a:solidFill>
                <a:latin typeface="Arial"/>
              </a:defRPr>
            </a:pPr>
            <a:r>
              <a:t>KPI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808080"/>
                </a:solidFill>
                <a:latin typeface="Arial"/>
              </a:defRPr>
            </a:pPr>
            <a:r>
              <a:t>47</a:t>
            </a:r>
          </a:p>
        </p:txBody>
      </p:sp>
      <p:pic>
        <p:nvPicPr>
          <p:cNvPr id="6" name="Picture 5" descr="deep_kpi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4572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760720"/>
            <a:ext cx="11277295" cy="6858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852159"/>
            <a:ext cx="1100297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Key Message: 9 KPIs tracked across 4 horizons — BB stabilization, churn reduction, and FMC growth are the leading indicators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DCDC"/>
                </a:solidFill>
                <a:latin typeface="Arial"/>
              </a:defRPr>
            </a:pPr>
            <a:r>
              <a:t>Vodafone Germany — BLM Strategic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DCDC"/>
                </a:solidFill>
                <a:latin typeface="Arial"/>
              </a:defRPr>
            </a:pPr>
            <a:r>
              <a:t>Deep Analysis | CQ4 2025 | Five Looks + SWOT + SPAN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89696"/>
                </a:solidFill>
                <a:latin typeface="Arial"/>
              </a:defRPr>
            </a:pPr>
            <a:r>
              <a:t>Generated: 2026-02-10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