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Vodafone BLM Strategic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CDC"/>
                </a:solidFill>
                <a:latin typeface="Arial"/>
              </a:defRPr>
            </a:pPr>
            <a:r>
              <a:t>BLM (Business Leadership Model) Five Looks Analysis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3200400"/>
            <a:ext cx="2651760" cy="11887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32918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Target Operator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56616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60000"/>
                </a:solidFill>
                <a:latin typeface="Arial"/>
              </a:defRPr>
            </a:pPr>
            <a:r>
              <a:t>Vodafone Germany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1840" y="3200400"/>
            <a:ext cx="2651760" cy="11887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29000" y="32918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Market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9000" y="356616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60000"/>
                </a:solidFill>
                <a:latin typeface="Arial"/>
              </a:defRPr>
            </a:pPr>
            <a:r>
              <a:t>Germany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3200400"/>
            <a:ext cx="2651760" cy="11887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63640" y="32918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Analysis Period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356616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60000"/>
                </a:solidFill>
                <a:latin typeface="Arial"/>
              </a:defRPr>
            </a:pPr>
            <a:r>
              <a:t>unknown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61120" y="3200400"/>
            <a:ext cx="2651760" cy="11887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98280" y="32918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Report 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98280" y="356616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60000"/>
                </a:solidFill>
                <a:latin typeface="Arial"/>
              </a:defRPr>
            </a:pPr>
            <a:r>
              <a:t>2026-02-10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846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08080"/>
                </a:solidFill>
                <a:latin typeface="Arial"/>
              </a:defRPr>
            </a:pPr>
            <a:r>
              <a:t>01 Trends (PEST) | 02 Market/Customer ($APPEALS) | 03 Competition (Porter) | 04 Self (BMC) | SWOT Synthesis | 05 Opportunities (SPAN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Report Contents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TABLE OF 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6" name="Oval 5"/>
          <p:cNvSpPr/>
          <p:nvPr/>
        </p:nvSpPr>
        <p:spPr>
          <a:xfrm>
            <a:off x="731520" y="1371600"/>
            <a:ext cx="457200" cy="457200"/>
          </a:xfrm>
          <a:prstGeom prst="ellipse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4475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38988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Arial"/>
              </a:defRPr>
            </a:pPr>
            <a:r>
              <a:t>Executive Summary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6459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Arial"/>
              </a:defRPr>
            </a:pPr>
            <a:r>
              <a:t>Key findings and recommendations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2011680"/>
            <a:ext cx="457200" cy="457200"/>
          </a:xfrm>
          <a:prstGeom prst="ellipse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08483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02996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Arial"/>
              </a:defRPr>
            </a:pPr>
            <a:r>
              <a:t>Look at Trends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2860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Arial"/>
              </a:defRPr>
            </a:pPr>
            <a:r>
              <a:t>PEST Framework — macro environment</a:t>
            </a:r>
          </a:p>
        </p:txBody>
      </p:sp>
      <p:sp>
        <p:nvSpPr>
          <p:cNvPr id="14" name="Oval 13"/>
          <p:cNvSpPr/>
          <p:nvPr/>
        </p:nvSpPr>
        <p:spPr>
          <a:xfrm>
            <a:off x="731520" y="2651760"/>
            <a:ext cx="457200" cy="457200"/>
          </a:xfrm>
          <a:prstGeom prst="ellipse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272491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267004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Arial"/>
              </a:defRPr>
            </a:pPr>
            <a:r>
              <a:t>Look at Market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29260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Arial"/>
              </a:defRPr>
            </a:pPr>
            <a:r>
              <a:t>$APPEALS — market changes &amp; customer needs</a:t>
            </a:r>
          </a:p>
        </p:txBody>
      </p:sp>
      <p:sp>
        <p:nvSpPr>
          <p:cNvPr id="18" name="Oval 17"/>
          <p:cNvSpPr/>
          <p:nvPr/>
        </p:nvSpPr>
        <p:spPr>
          <a:xfrm>
            <a:off x="731520" y="3291840"/>
            <a:ext cx="457200" cy="457200"/>
          </a:xfrm>
          <a:prstGeom prst="ellipse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36499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31012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Arial"/>
              </a:defRPr>
            </a:pPr>
            <a:r>
              <a:t>Tariff Analysis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35661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Arial"/>
              </a:defRPr>
            </a:pPr>
            <a:r>
              <a:t>Pricing comparison — mobile, fixed &amp; convergence</a:t>
            </a:r>
          </a:p>
        </p:txBody>
      </p:sp>
      <p:sp>
        <p:nvSpPr>
          <p:cNvPr id="22" name="Oval 21"/>
          <p:cNvSpPr/>
          <p:nvPr/>
        </p:nvSpPr>
        <p:spPr>
          <a:xfrm>
            <a:off x="731520" y="3931920"/>
            <a:ext cx="457200" cy="457200"/>
          </a:xfrm>
          <a:prstGeom prst="ellipse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400507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395020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Arial"/>
              </a:defRPr>
            </a:pPr>
            <a:r>
              <a:t>Look at Competition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4206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Arial"/>
              </a:defRPr>
            </a:pPr>
            <a:r>
              <a:t>Porter's Five Forces — competitive landscape</a:t>
            </a:r>
          </a:p>
        </p:txBody>
      </p:sp>
      <p:sp>
        <p:nvSpPr>
          <p:cNvPr id="26" name="Oval 25"/>
          <p:cNvSpPr/>
          <p:nvPr/>
        </p:nvSpPr>
        <p:spPr>
          <a:xfrm>
            <a:off x="731520" y="4572000"/>
            <a:ext cx="457200" cy="457200"/>
          </a:xfrm>
          <a:prstGeom prst="ellipse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464515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459028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Arial"/>
              </a:defRPr>
            </a:pPr>
            <a:r>
              <a:t>Look at Self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71600" y="48463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Arial"/>
              </a:defRPr>
            </a:pPr>
            <a:r>
              <a:t>BMC + Capability — internal assessment</a:t>
            </a:r>
          </a:p>
        </p:txBody>
      </p:sp>
      <p:sp>
        <p:nvSpPr>
          <p:cNvPr id="30" name="Oval 29"/>
          <p:cNvSpPr/>
          <p:nvPr/>
        </p:nvSpPr>
        <p:spPr>
          <a:xfrm>
            <a:off x="731520" y="5212080"/>
            <a:ext cx="457200" cy="457200"/>
          </a:xfrm>
          <a:prstGeom prst="ellipse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528523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06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71600" y="523036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Arial"/>
              </a:defRPr>
            </a:pPr>
            <a:r>
              <a:t>SWOT Synthesis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71600" y="54864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Arial"/>
              </a:defRPr>
            </a:pPr>
            <a:r>
              <a:t>Strengths, Weaknesses, Opportunities, Threats</a:t>
            </a:r>
          </a:p>
        </p:txBody>
      </p:sp>
      <p:sp>
        <p:nvSpPr>
          <p:cNvPr id="34" name="Oval 33"/>
          <p:cNvSpPr/>
          <p:nvPr/>
        </p:nvSpPr>
        <p:spPr>
          <a:xfrm>
            <a:off x="731520" y="5852160"/>
            <a:ext cx="457200" cy="457200"/>
          </a:xfrm>
          <a:prstGeom prst="ellipse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1520" y="592531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07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71600" y="587044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Arial"/>
              </a:defRPr>
            </a:pPr>
            <a:r>
              <a:t>Look at Opportunities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71600" y="61264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Arial"/>
              </a:defRPr>
            </a:pPr>
            <a:r>
              <a:t>SPAN Matrix — opportunity selection</a:t>
            </a:r>
          </a:p>
        </p:txBody>
      </p:sp>
      <p:sp>
        <p:nvSpPr>
          <p:cNvPr id="38" name="Oval 37"/>
          <p:cNvSpPr/>
          <p:nvPr/>
        </p:nvSpPr>
        <p:spPr>
          <a:xfrm>
            <a:off x="731520" y="6492240"/>
            <a:ext cx="457200" cy="457200"/>
          </a:xfrm>
          <a:prstGeom prst="ellipse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31520" y="656539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08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371600" y="651052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Arial"/>
              </a:defRPr>
            </a:pPr>
            <a:r>
              <a:t>Summary &amp; Provenance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371600" y="67665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Arial"/>
              </a:defRPr>
            </a:pPr>
            <a:r>
              <a:t>Conclusions and data sources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Data Quality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DATA QUALITY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4630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Total Data Points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83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19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37160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14630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High Confidence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1783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214884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0000"/>
                </a:solidFill>
                <a:latin typeface="Arial"/>
              </a:defRPr>
            </a:pPr>
            <a:r>
              <a:t>0%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0" y="137160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80760" y="14630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Medium Confidence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80760" y="1783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86800" y="137160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23960" y="14630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Low/Estimated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23960" y="1783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19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292608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Arial"/>
              </a:defRPr>
            </a:pPr>
            <a:r>
              <a:t>Unique Sources: 0</a:t>
            </a:r>
            <a:br/>
            <a:r>
              <a:t>Data Conflicts: 0</a:t>
            </a:r>
            <a:br/>
            <a:r>
              <a:t>Coverage: Partial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19 data points tracked, 0 high-confidence (0%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2011680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Trends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51760" y="137160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Macro environment: Favorable. Key opportunities: Regulatory Environment, National Digital Strategy. Key risks: Regulatory Environment, Nebenkostenprivileg (MDU cable TV bundling) abolished.. Industry is mature. (+0.3% YoY (CQ2_2025 -&gt; CQ4_2025)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920240"/>
            <a:ext cx="2011680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0116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Market/Customer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51760" y="201168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German telecom market totals EUR 12327.0M in quarterly revenue; vodafone_germany holds 25.1% market share; competitive strengths in Availability, Assurances; Market outlook is favorable with more opportunities than threats.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560320"/>
            <a:ext cx="2011680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6517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Competition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51760" y="265176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In a 4-player market with medium competition intensity, Deutsche Telekom leads with 50% revenue share. Target operator holds 25% share. Strongest competitive force: Existing Competitors.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200400"/>
            <a:ext cx="2011680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2918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Self Assessment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51760" y="329184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Ranked #2 of 4 operators in market; revenue EUR 3092.0M; EBITDA margin 36.2%; stable but facing challenges; key strength: Brand Strength; key challenge: Customer Service; Management outlook: EBITDAH2H1FY26(1) MDUQ3(2) 1&amp;1Q4(full run-rate)(3) MVNOFY27E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840480"/>
            <a:ext cx="2011680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931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SWOT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51760" y="393192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SWOT analysis identifies 7 strengths, 5 weaknesses, 11 opportunities, and 4 threats. The recommended strategic posture is offensive (SO-dominant).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480560"/>
            <a:ext cx="2011680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45720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Opportunities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51760" y="457200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SPAN matrix positions 22 opportunities: 18 grow/invest, 4 acquire skills, 0 harvest, 0 avoid/exit. Focus resources on the 18 grow/invest items for maximum strategic impact.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Five Looks analysis completed — see details in following sections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01 Look at Trends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CDC"/>
                </a:solidFill>
                <a:latin typeface="Arial"/>
              </a:defRPr>
            </a:pPr>
            <a:r>
              <a:t>PEST Framework — Macro Environment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PEST Analysis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MACRO ENVIRONMENT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6</a:t>
            </a:r>
          </a:p>
        </p:txBody>
      </p:sp>
      <p:pic>
        <p:nvPicPr>
          <p:cNvPr id="6" name="Picture 5" descr="pest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10972800" cy="43891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Macro environment: Favorable. Key opportunities: Regulatory Environment, National Digital Strategy. Key risks: Regulatory Environment, Nebenkostenprivileg (MDU cable TV bundling) abolished.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Industry Environment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INDUSTRY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7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Market Size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EUR 12.3B (quarterly, CQ4_2025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Growth Rate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+0.3% YoY (CQ2_2025 -&gt; CQ4_2025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807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Concentration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CR4 = 100% (Deutsche Telekom: 50.3%, Vodafone Germany: 25.1%, Telefonica O2 Germany: 16.2%, 1&amp;1 AG: 8.4%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239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Lifecycle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239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mature</a:t>
            </a:r>
          </a:p>
        </p:txBody>
      </p:sp>
      <p:pic>
        <p:nvPicPr>
          <p:cNvPr id="18" name="Picture 17" descr="pest_factor_d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651760"/>
            <a:ext cx="5486400" cy="283464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943600" y="265176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Arial"/>
              </a:defRPr>
            </a:pPr>
            <a:r>
              <a:t>• New Business Models: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Arial"/>
              </a:defRPr>
            </a:pPr>
            <a:r>
              <a:t>• FWA (Fixed Wireless Access) as fiber alternative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Arial"/>
              </a:defRPr>
            </a:pPr>
            <a:r>
              <a:t>• Network-as-a-Service for enterprise verticals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Arial"/>
              </a:defRPr>
            </a:pPr>
            <a:r>
              <a:t>• Wholesale/MVNO partnerships for coverage monetization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Arial"/>
              </a:defRPr>
            </a:pPr>
            <a:r>
              <a:t>• Technology Revolution: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Arial"/>
              </a:defRPr>
            </a:pPr>
            <a:r>
              <a:t>• 5G SA enabling network slicing and enterprise services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Arial"/>
              </a:defRPr>
            </a:pPr>
            <a:r>
              <a:t>• AI/ML for network optimization and customer experience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Arial"/>
              </a:defRPr>
            </a:pPr>
            <a:r>
              <a:t>• Open RAN for vendor diversification and cost reduction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Macro environment: Favorable. Key opportunities: Regulatory Environment, National Digital Strategy. Key risks: Regulatory Environment, Nebenkostenprivileg (MDU cable TV bundling) abolished.. Industry is mature. (+0.3% YoY (CQ2_2025 -&gt; CQ4_2025)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Value Transfer Trends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VALUE MIGRATION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Arial"/>
              </a:defRPr>
            </a:pPr>
            <a:r>
              <a:t>• Value shifting from voice/SMS to data and digital services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Arial"/>
              </a:defRPr>
            </a:pPr>
            <a:r>
              <a:t>• B2B/ICT growing faster than consumer segment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Arial"/>
              </a:defRPr>
            </a:pPr>
            <a:r>
              <a:t>• Fiber displacing copper and cable broadband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Macro environment: Favorable. Key opportunities: Regulatory Environment, National Digital Strategy. Key risks: Regulatory Environment, Nebenkostenprivileg (MDU cable TV bundling) abolished.. Industry is mature. (+0.3% YoY (CQ2_2025 -&gt; CQ4_2025)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02 Look at Market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CDC"/>
                </a:solidFill>
                <a:latin typeface="Arial"/>
              </a:defRPr>
            </a:pPr>
            <a:r>
              <a:t>$APPEALS — Market Changes &amp; Customer Needs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Market Change Panorama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MARKET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10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Total Revenue (€M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12,327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Mobile Subs (K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143,100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807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Broadband Subs (K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31,420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239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Operators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239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4</a:t>
            </a:r>
          </a:p>
        </p:txBody>
      </p:sp>
      <p:pic>
        <p:nvPicPr>
          <p:cNvPr id="18" name="Picture 17" descr="market_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2560320"/>
            <a:ext cx="5486400" cy="292608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57200" y="27432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60000"/>
                </a:solidFill>
                <a:latin typeface="Arial"/>
              </a:defRPr>
            </a:pPr>
            <a:r>
              <a:t>Market Changes: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01752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Vodafone completes 1&amp;1 customer migration: 12M users on network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1&amp;1 completes OpenRAN migration, reaches 25% own network coverage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Vodafone completes Skaylink acquisition for €175M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Deutsche Telekom Q3 2025: revenue +1.5%, net profit +14.3%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German telecom market totals EUR 12327.0M in quarterly revenue; vodafone_germany holds 25.1% market share; competitive strengths in Availability, Assurances; Market outlook is favorable with more opportunities than threats.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Customer Segments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SEGMENTATION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11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5943600" cy="77724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60000"/>
                </a:solidFill>
                <a:latin typeface="Arial"/>
              </a:defRPr>
            </a:pPr>
            <a:r>
              <a:t>Consumer High-End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600200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Size: ~13.9M subscribers | Trend: growing | Our Share: ~25% of postpaid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83080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Needs: Premium 5G standalone experiences, Ultra-low latency gaming and VR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148840"/>
            <a:ext cx="5943600" cy="77724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1945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60000"/>
                </a:solidFill>
                <a:latin typeface="Arial"/>
              </a:defRPr>
            </a:pPr>
            <a:r>
              <a:t>Consumer Mainstream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468880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Size: ~51.2M subscribers | Trend: stable | Our Share: ~25% of postpaid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651760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Needs: Better value convergent bundles, Transparent pricing without hidden fees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017520"/>
            <a:ext cx="5943600" cy="77724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0632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60000"/>
                </a:solidFill>
                <a:latin typeface="Arial"/>
              </a:defRPr>
            </a:pPr>
            <a:r>
              <a:t>Consumer Price-Sensitive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337560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Size: ~35.1M subscribers | Trend: shrinking | Our Share: ~19% of prepaid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520440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Needs: Affordable unlimited data plans, No-contract flexibility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886200"/>
            <a:ext cx="5943600" cy="77724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9319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60000"/>
                </a:solidFill>
                <a:latin typeface="Arial"/>
              </a:defRPr>
            </a:pPr>
            <a:r>
              <a:t>Consumer Youth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206240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Size: ~17.2M subscribers | Trend: growing | Our Share: ~23% overall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389120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Needs: Social media and streaming-optimized plans, eSIM and digital-first experience</a:t>
            </a:r>
          </a:p>
        </p:txBody>
      </p:sp>
      <p:pic>
        <p:nvPicPr>
          <p:cNvPr id="22" name="Picture 21" descr="appeals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188720"/>
            <a:ext cx="5029200" cy="4389120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German telecom market totals EUR 12327.0M in quarterly revenue; vodafone_germany holds 25.1% market share; competitive strengths in Availability, Assurances; Market outlook is favorable with more opportunities than threats.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$APPEALS 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CUSTOMER NEEDS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12</a:t>
            </a:r>
          </a:p>
        </p:txBody>
      </p:sp>
      <p:pic>
        <p:nvPicPr>
          <p:cNvPr id="6" name="Picture 5" descr="appeals_rad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10515600" cy="43891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German telecom market totals EUR 12327.0M in quarterly revenue; vodafone_germany holds 25.1% market share; competitive strengths in Availability, Assurances; Market outlook is favorable with more opportunities than threats.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Customer Value Migration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VALUE MIGRATION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Arial"/>
              </a:defRPr>
            </a:pPr>
            <a:r>
              <a:t>Value migration is mixed: some segments trending up while price-sensitive segments face pressure. Differentiated strategy by segment recommended.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004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8000"/>
                </a:solidFill>
                <a:latin typeface="Arial"/>
              </a:defRPr>
            </a:pPr>
            <a:r>
              <a:t>Opportunities: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47472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Vodafone completes 1&amp;1 customer migration: 12M users on network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Vodafone completes Skaylink acquisition for €175M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Deutsche Telekom Q3 2025: revenue +1.5%, net profit +14.3%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Vodafone restructures cable TV frequencies nationwide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German telecom market totals EUR 12327.0M in quarterly revenue; vodafone_germany holds 25.1% market share; competitive strengths in Availability, Assurances; Market outlook is favorable with more opportunities than threats.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Tariff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CDC"/>
                </a:solidFill>
                <a:latin typeface="Arial"/>
              </a:defRPr>
            </a:pPr>
            <a:r>
              <a:t>Mobile, Fixed &amp; Convergence Pricing Landscape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Mobile Postpaid Price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CROSS-OPERATOR TIER BENCHMARKING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15</a:t>
            </a:r>
          </a:p>
        </p:txBody>
      </p:sp>
      <p:pic>
        <p:nvPicPr>
          <p:cNvPr id="6" name="Picture 5" descr="tariff_mobile_postpa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7772400" cy="43891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0" y="128016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Price Gaps: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1645920"/>
            <a:ext cx="34747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Tier S: EUR 25 gap — cheapest Telefonica O2 Germany, most expensive Deutsche Telekom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Tier M: EUR 30 gap — cheapest Telefonica O2 Germany, most expensive Deutsche Telekom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Tier L: EUR 35 gap — cheapest Telefonica O2 Germany, most expensive Deutsche Telekom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Tier XL: EUR 45 gap — cheapest 1&amp;1 AG, most expensive Deutsche Telekom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Mobile postpaid tier comparison across all operators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EUR/GB Value Analysis &amp; 5G Premium Erosion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PRICING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16</a:t>
            </a:r>
          </a:p>
        </p:txBody>
      </p:sp>
      <p:pic>
        <p:nvPicPr>
          <p:cNvPr id="6" name="Picture 5" descr="tariff_eur_per_g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188720"/>
            <a:ext cx="5760720" cy="4389120"/>
          </a:xfrm>
          <a:prstGeom prst="rect">
            <a:avLst/>
          </a:prstGeom>
        </p:spPr>
      </p:pic>
      <p:pic>
        <p:nvPicPr>
          <p:cNvPr id="7" name="Picture 6" descr="tariff_5g_eros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188720"/>
            <a:ext cx="5486400" cy="438912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Best value: Telefonica O2 Germany at EUR 0.17/GB | 5G premium fully eroded: all plans now include 5G as of H2_2025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Price Evolution — Mobile Postpaid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H1_2023 TO H1_2026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17</a:t>
            </a:r>
          </a:p>
        </p:txBody>
      </p:sp>
      <p:pic>
        <p:nvPicPr>
          <p:cNvPr id="6" name="Picture 5" descr="tariff_evolution_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11430000" cy="45720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Price evolution across 7 snapshots — H1_2023 to H1_2026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Fixed &amp; Convergence Pricing Landscape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DSL / CABLE / FIBER / FMC BUNDLES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60000"/>
                </a:solidFill>
                <a:latin typeface="Arial"/>
              </a:defRPr>
            </a:pPr>
            <a:r>
              <a:t>DSL: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118872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00">
                <a:solidFill>
                  <a:srgbClr val="333333"/>
                </a:solidFill>
                <a:latin typeface="Arial"/>
              </a:defRPr>
            </a:pPr>
            <a:r>
              <a:t>• Telefonica O2 Germany O2 my Home L: EUR 35/mo 100.0Mbps</a:t>
            </a:r>
          </a:p>
          <a:p>
            <a:pPr>
              <a:spcAft>
                <a:spcPts val="400"/>
              </a:spcAft>
              <a:defRPr sz="900">
                <a:solidFill>
                  <a:srgbClr val="333333"/>
                </a:solidFill>
                <a:latin typeface="Arial"/>
              </a:defRPr>
            </a:pPr>
            <a:r>
              <a:t>• 1&amp;1 AG 1&amp;1 DSL 250: EUR 40/mo 250.0Mbps</a:t>
            </a:r>
          </a:p>
          <a:p>
            <a:pPr>
              <a:spcAft>
                <a:spcPts val="400"/>
              </a:spcAft>
              <a:defRPr sz="900">
                <a:solidFill>
                  <a:srgbClr val="333333"/>
                </a:solidFill>
                <a:latin typeface="Arial"/>
              </a:defRPr>
            </a:pPr>
            <a:r>
              <a:t>• Deutsche Telekom MagentaZuhause L: EUR 45/mo 100.0Mbps</a:t>
            </a:r>
          </a:p>
          <a:p>
            <a:pPr>
              <a:spcAft>
                <a:spcPts val="400"/>
              </a:spcAft>
              <a:defRPr sz="900">
                <a:solidFill>
                  <a:srgbClr val="333333"/>
                </a:solidFill>
                <a:latin typeface="Arial"/>
              </a:defRPr>
            </a:pPr>
            <a:r>
              <a:t>• Telefonica O2 Germany O2 my Home M: EUR 30/mo 50.0Mbps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4688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60000"/>
                </a:solidFill>
                <a:latin typeface="Arial"/>
              </a:defRPr>
            </a:pPr>
            <a:r>
              <a:t>Cable: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246888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00">
                <a:solidFill>
                  <a:srgbClr val="333333"/>
                </a:solidFill>
                <a:latin typeface="Arial"/>
              </a:defRPr>
            </a:pPr>
            <a:r>
              <a:t>• Vodafone Germany GigaZuhause 500 Kabel: EUR 40/mo 500.0Mbps</a:t>
            </a:r>
          </a:p>
          <a:p>
            <a:pPr>
              <a:spcAft>
                <a:spcPts val="400"/>
              </a:spcAft>
              <a:defRPr sz="900">
                <a:solidFill>
                  <a:srgbClr val="333333"/>
                </a:solidFill>
                <a:latin typeface="Arial"/>
              </a:defRPr>
            </a:pPr>
            <a:r>
              <a:t>• Deutsche Telekom MagentaZuhause XL Cable: EUR 50/mo 250.0Mbps</a:t>
            </a:r>
          </a:p>
          <a:p>
            <a:pPr>
              <a:spcAft>
                <a:spcPts val="400"/>
              </a:spcAft>
              <a:defRPr sz="900">
                <a:solidFill>
                  <a:srgbClr val="333333"/>
                </a:solidFill>
                <a:latin typeface="Arial"/>
              </a:defRPr>
            </a:pPr>
            <a:r>
              <a:t>• Vodafone Germany GigaZuhause 250 Kabel: EUR 35/mo 250.0Mbps</a:t>
            </a:r>
          </a:p>
          <a:p>
            <a:pPr>
              <a:spcAft>
                <a:spcPts val="400"/>
              </a:spcAft>
              <a:defRPr sz="900">
                <a:solidFill>
                  <a:srgbClr val="333333"/>
                </a:solidFill>
                <a:latin typeface="Arial"/>
              </a:defRPr>
            </a:pPr>
            <a:r>
              <a:t>• Vodafone Germany GigaZuhause 1000 Kabel: EUR 50/mo 1000.0Mbps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7490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60000"/>
                </a:solidFill>
                <a:latin typeface="Arial"/>
              </a:defRPr>
            </a:pPr>
            <a:r>
              <a:t>Fiber: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374904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00">
                <a:solidFill>
                  <a:srgbClr val="333333"/>
                </a:solidFill>
                <a:latin typeface="Arial"/>
              </a:defRPr>
            </a:pPr>
            <a:r>
              <a:t>• Vodafone Germany GigaZuhause 500 Glasfaser: EUR 45/mo 500.0Mbps</a:t>
            </a:r>
          </a:p>
          <a:p>
            <a:pPr>
              <a:spcAft>
                <a:spcPts val="400"/>
              </a:spcAft>
              <a:defRPr sz="900">
                <a:solidFill>
                  <a:srgbClr val="333333"/>
                </a:solidFill>
                <a:latin typeface="Arial"/>
              </a:defRPr>
            </a:pPr>
            <a:r>
              <a:t>• Telefonica O2 Germany O2 my Home Glasfaser L: EUR 45/mo 600.0Mbps</a:t>
            </a:r>
          </a:p>
          <a:p>
            <a:pPr>
              <a:spcAft>
                <a:spcPts val="400"/>
              </a:spcAft>
              <a:defRPr sz="900">
                <a:solidFill>
                  <a:srgbClr val="333333"/>
                </a:solidFill>
                <a:latin typeface="Arial"/>
              </a:defRPr>
            </a:pPr>
            <a:r>
              <a:t>• Deutsche Telekom MagentaZuhause L Glasfaser: EUR 55/mo 500.0Mbps</a:t>
            </a:r>
          </a:p>
          <a:p>
            <a:pPr>
              <a:spcAft>
                <a:spcPts val="400"/>
              </a:spcAft>
              <a:defRPr sz="900">
                <a:solidFill>
                  <a:srgbClr val="333333"/>
                </a:solidFill>
                <a:latin typeface="Arial"/>
              </a:defRPr>
            </a:pPr>
            <a:r>
              <a:t>• Telefonica O2 Germany O2 my Home Glasfaser M: EUR 35/mo 300.0Mbps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118872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FMC Bundles: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1554480"/>
            <a:ext cx="4389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Telefonica O2 Germany O2 All-in-One L: EUR 60/mo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1&amp;1 AG 1&amp;1 Kombi XL: EUR 60/mo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Vodafone Germany GigaKombi Premium: EUR 80/mo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Deutsche Telekom MagentaEINS Premium: EUR 120/mo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Telefonica O2 Germany O2 All-in-One S: EUR 35/mo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1&amp;1 AG 1&amp;1 Kombi S: EUR 35/mo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Vodafone Germany GigaKombi Basic: EUR 50/mo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Deutsche Telekom MagentaEINS S: EUR 65/mo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Cheapest FMC bundle: Telefonica O2 Germany O2 All-in-One S at EUR 35/mo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03 Look at Competition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CDC"/>
                </a:solidFill>
                <a:latin typeface="Arial"/>
              </a:defRPr>
            </a:pPr>
            <a:r>
              <a:t>Porter's Five Forces — Competitive Landscape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Porter's Five Forces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COMPETITIVE FORCES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20</a:t>
            </a:r>
          </a:p>
        </p:txBody>
      </p:sp>
      <p:pic>
        <p:nvPicPr>
          <p:cNvPr id="6" name="Picture 5" descr="porter_for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1097280"/>
            <a:ext cx="6400800" cy="4572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3716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60000"/>
                </a:solidFill>
                <a:latin typeface="Arial"/>
              </a:defRPr>
            </a:pPr>
            <a:r>
              <a:t>Overall Intensity: MEDIUM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In a 4-player market with medium competition intensity, Deutsche Telekom leads with 50% revenue share. Target operator holds 25% share. Strongest competitive force: Existing Competitors.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Competitor Analysis: Telefonica O2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COMPETITOR DEEP DIVE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21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€2,000M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5740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0000"/>
                </a:solidFill>
                <a:latin typeface="Arial"/>
              </a:defRPr>
            </a:pPr>
            <a:r>
              <a:t>-3.4% YoY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375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EBITDA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€650M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807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Margin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807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32.5%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868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239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Capex/Rev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239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25.0%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25603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8000"/>
                </a:solidFill>
                <a:latin typeface="Arial"/>
              </a:defRPr>
            </a:pPr>
            <a:r>
              <a:t>Strengths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283464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5G Deployment: 88.0/100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Brand Strength: 75.0/100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Customer Service: 72.0/100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Network Coverage: 85.0/100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0" y="25603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80000"/>
                </a:solidFill>
                <a:latin typeface="Arial"/>
              </a:defRPr>
            </a:pPr>
            <a:r>
              <a:t>Weaknesses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0" y="283464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23" name="Rectangle 22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Competitor analysis: Telefonica O2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Competitor Analysis: Deutsche Telekom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COMPETITOR DEEP DIVE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22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€6,200M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5740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8000"/>
                </a:solidFill>
                <a:latin typeface="Arial"/>
              </a:defRPr>
            </a:pPr>
            <a:r>
              <a:t>+1.1% YoY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375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EBITDA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€2,610M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807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Margin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807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42.1%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868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239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Capex/Rev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239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19.4%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25603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8000"/>
                </a:solidFill>
                <a:latin typeface="Arial"/>
              </a:defRPr>
            </a:pPr>
            <a:r>
              <a:t>Strengths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283464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5G Deployment: 95.0/100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Brand Strength: 90.0/100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Customer Service: 82.0/100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Digital Services: 85.0/100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0" y="25603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80000"/>
                </a:solidFill>
                <a:latin typeface="Arial"/>
              </a:defRPr>
            </a:pPr>
            <a:r>
              <a:t>Weaknesses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0" y="283464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23" name="Rectangle 22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Competitor analysis: Deutsche Telekom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Competitor Analysis: One And 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COMPETITOR DEEP DIVE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23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€1,035M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5740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8000"/>
                </a:solidFill>
                <a:latin typeface="Arial"/>
              </a:defRPr>
            </a:pPr>
            <a:r>
              <a:t>+0.1% YoY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375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EBITDA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€126M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807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Margin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807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12.2%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868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239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Capex/Rev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239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38.6%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25603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8000"/>
                </a:solidFill>
                <a:latin typeface="Arial"/>
              </a:defRPr>
            </a:pPr>
            <a:r>
              <a:t>Strengths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283464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Pricing Competitiveness: 90.0/100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Product Innovation: 72.0/100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Sustainability: 80.0/100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0" y="25603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80000"/>
                </a:solidFill>
                <a:latin typeface="Arial"/>
              </a:defRPr>
            </a:pPr>
            <a:r>
              <a:t>Weaknesses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0" y="283464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23" name="Rectangle 22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Competitor analysis: One And One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Competitive Landscape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COMPETITION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24</a:t>
            </a:r>
          </a:p>
        </p:txBody>
      </p:sp>
      <p:pic>
        <p:nvPicPr>
          <p:cNvPr id="6" name="Picture 5" descr="comp_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10972800" cy="41148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In a 4-player market with medium competition intensity, Deutsche Telekom leads with 50% revenue share. Target operator holds 25% share. Strongest competitive force: Existing Competitors.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Gap Analysis: Vodafone Germany vs Deutsche Telekom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COMPETITIVE GAP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25</a:t>
            </a:r>
          </a:p>
        </p:txBody>
      </p:sp>
      <p:pic>
        <p:nvPicPr>
          <p:cNvPr id="6" name="Picture 5" descr="gap_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10972800" cy="43891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Gap analysis vs market leader Deutsche Telekom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New Entrants Threat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MARKET ENTRY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10972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Arial"/>
              </a:defRPr>
            </a:pPr>
            <a:r>
              <a:t>• Active new entrant: 1&amp;1 AG: 1&amp;1 AG is currently building/expanding its network presence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Arial"/>
              </a:defRPr>
            </a:pPr>
            <a:r>
              <a:t>• 1&amp;1 completes OpenRAN migration, reaches 25% own network coverage: 1&amp;1OpenRAN 5G1,5004,50025%Q3 2025+4H19CAPEX €2.287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Arial"/>
              </a:defRPr>
            </a:pPr>
            <a:r>
              <a:t>• Entry barriers: High barriers: spectrum licensing, massive capex for network build, regulatory approvals, established brand loyalty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New entrants threat level: medium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04 Look at Self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CDC"/>
                </a:solidFill>
                <a:latin typeface="Arial"/>
              </a:defRPr>
            </a:pPr>
            <a:r>
              <a:t>BMC + Capability Assessment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Operating Health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FINANCIAL HEALTH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28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€3,092M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5740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8000"/>
                </a:solidFill>
                <a:latin typeface="Arial"/>
              </a:defRPr>
            </a:pPr>
            <a:r>
              <a:t>+0.72% YoY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375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EBITDA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€1,120M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37560" y="205740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8000"/>
                </a:solidFill>
                <a:latin typeface="Arial"/>
              </a:defRPr>
            </a:pPr>
            <a:r>
              <a:t>+1.5% YoY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807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EBITDA Margin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807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36.2%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6868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239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Capex/Rev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25.9%</a:t>
            </a:r>
          </a:p>
        </p:txBody>
      </p:sp>
      <p:pic>
        <p:nvPicPr>
          <p:cNvPr id="20" name="Picture 19" descr="revenue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651760"/>
            <a:ext cx="5486400" cy="2834640"/>
          </a:xfrm>
          <a:prstGeom prst="rect">
            <a:avLst/>
          </a:prstGeom>
        </p:spPr>
      </p:pic>
      <p:pic>
        <p:nvPicPr>
          <p:cNvPr id="21" name="Picture 20" descr="revenue_breakdow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2651760"/>
            <a:ext cx="5760720" cy="2834640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Ranked #2 of 4 operators in market; revenue EUR 3092.0M; EBITDA margin 36.2%; stable but facing challenges; key strength: Brand Strength; key challenge: Customer Service; Management outlook: EBITDAH2H1FY26(1) MDUQ3(2) 1&amp;1Q4(full run-rate)(3) MVNOFY27E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Revenue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COMPETITIVE BENCHMARKING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29</a:t>
            </a:r>
          </a:p>
        </p:txBody>
      </p:sp>
      <p:pic>
        <p:nvPicPr>
          <p:cNvPr id="6" name="Picture 5" descr="revenue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5760720" cy="4389120"/>
          </a:xfrm>
          <a:prstGeom prst="rect">
            <a:avLst/>
          </a:prstGeom>
        </p:spPr>
      </p:pic>
      <p:pic>
        <p:nvPicPr>
          <p:cNvPr id="7" name="Picture 6" descr="margin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188720"/>
            <a:ext cx="5486400" cy="438912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Revenue and margin benchmarking across operators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Segment Analysis: Mobile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SEGMENT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30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Service 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€1,520M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Service Growth Pct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2.8%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807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Total 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€32,500M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239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Postpaid 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239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€23,200M</a:t>
            </a:r>
          </a:p>
        </p:txBody>
      </p:sp>
      <p:pic>
        <p:nvPicPr>
          <p:cNvPr id="18" name="Picture 17" descr="segment_0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2560320"/>
            <a:ext cx="5486400" cy="292608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57200" y="2560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Health: STABLE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292608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revenue: improving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subscribers: stable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arpu: improving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Mobile service revenue at EUR 1520.0M; up 2.8% YoY; ARPU EUR 12.8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Segment Analysis: Fixed Broadband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SEGMENT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31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Service 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€795M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Service Growth Pct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-1.1%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807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Total 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€9,940M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239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Net Adds 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239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-63</a:t>
            </a:r>
          </a:p>
        </p:txBody>
      </p:sp>
      <p:pic>
        <p:nvPicPr>
          <p:cNvPr id="18" name="Picture 17" descr="segment_1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2560320"/>
            <a:ext cx="5486400" cy="292608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57200" y="2560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Health: STABLE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292608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revenue: stable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subscribers: stable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arpu: stable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Fixed service revenue EUR 795.0M; growth -1.1% YoY; Fiber subs 1480K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Segment Analysis: B2B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SEGMENT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32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€520M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Growth Pct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8.5%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807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Customers 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€215M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239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Share Of Revenue Pct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239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16.8%</a:t>
            </a:r>
          </a:p>
        </p:txBody>
      </p:sp>
      <p:pic>
        <p:nvPicPr>
          <p:cNvPr id="18" name="Picture 17" descr="segment_2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2560320"/>
            <a:ext cx="5486400" cy="292608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57200" y="2560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Health: STRONG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292608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revenue: improving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customers: improving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B2B revenue EUR 520.0M; growth +8.5% YoY; 16.8% of total revenue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Segment Analysis: TV/Convergence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SEGMENT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33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€268M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Total 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€7,740M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807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Net Adds 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-6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239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Fmc Total 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239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€4,900M</a:t>
            </a:r>
          </a:p>
        </p:txBody>
      </p:sp>
      <p:pic>
        <p:nvPicPr>
          <p:cNvPr id="18" name="Picture 17" descr="segment_3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2560320"/>
            <a:ext cx="5486400" cy="292608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57200" y="2560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Health: STABLE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292608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revenue: stable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subscribers: stable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fmc_subscribers: improving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TV subscribers 7740K; FMC 4900K; FMC penetration 49.3%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Network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INFRASTRUCTURE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34</a:t>
            </a:r>
          </a:p>
        </p:txBody>
      </p:sp>
      <p:pic>
        <p:nvPicPr>
          <p:cNvPr id="6" name="Picture 5" descr="coverage_gaug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1097280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36576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Technology Mix: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93192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Mobile Vendor: Ericsson + Nokia (non-standalone 5G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5G Sa Status: Testing, planned 2026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Spectrum Mhz: 700: 20, 1800: 50, 2100: 40, 2600: 20, 3600: 90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5G Base Stations: 18500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Core Vendor: Ericsson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Virtualization Pct: 45%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Edge Nodes: 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365760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Arial"/>
              </a:defRPr>
            </a:pPr>
            <a:r>
              <a:t>Investment Direction: stable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Network infrastructure and coverage assessment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Business Model Canvas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BMC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35</a:t>
            </a:r>
          </a:p>
        </p:txBody>
      </p:sp>
      <p:pic>
        <p:nvPicPr>
          <p:cNvPr id="6" name="Picture 5" descr="bmc_canv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11430000" cy="448056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Business model canvas overview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Organization &amp; Talent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PEOPLE &amp; CULTURE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36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Employees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14,500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Organization and talent assessment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Strengths, Weaknesses &amp; Exposure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SELF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37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8000"/>
                </a:solidFill>
                <a:latin typeface="Arial"/>
              </a:defRPr>
            </a:pPr>
            <a:r>
              <a:t>Strengths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45920"/>
            <a:ext cx="3474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Brand Strength: score 82 (market avg 78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Enterprise Solutions: score 82 (market avg 74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Network Coverage: score 80 (market avg 76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Strong EBITDA margin at 36.2%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Revenue on growth trajectory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Top 2 in revenue market ranking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128016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80000"/>
                </a:solidFill>
                <a:latin typeface="Arial"/>
              </a:defRPr>
            </a:pPr>
            <a:r>
              <a:t>Weaknesses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1645920"/>
            <a:ext cx="3474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Customer Service: score 70 (market avg 74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Pricing Competitiveness: score 72 (market avg 78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128016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A500"/>
                </a:solidFill>
                <a:latin typeface="Arial"/>
              </a:defRPr>
            </a:pPr>
            <a:r>
              <a:t>Exposure Points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1645920"/>
            <a:ext cx="3474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1&amp;1 building own mobile network and migrating users off Vodafone wholesale: Loss of wholesale revenue as 1&amp;1 users migrate to own network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Heavy reliance on cable (DOCSIS) technology while market shifts to fiber: Technology perception gap as competitors lead fiber deployment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Low fiber penetration compared to Deutsche Telekom: Competitive disadvantage in future-proof broadband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Ranked #2 of 4 operators in market; revenue EUR 3092.0M; EBITDA margin 36.2%; stable but facing challenges; key strength: Brand Strength; key challenge: Customer Service; Management outlook: EBITDAH2H1FY26(1) MDUQ3(2) 1&amp;1Q4(full run-rate)(3) MVNOFY27E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SWOT Synthesis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CDC"/>
                </a:solidFill>
                <a:latin typeface="Arial"/>
              </a:defRPr>
            </a:pPr>
            <a:r>
              <a:t>Strengths, Weaknesses, Opportunities &amp; Threats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SWOT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STRATEGIC SYNTHESIS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39</a:t>
            </a:r>
          </a:p>
        </p:txBody>
      </p:sp>
      <p:pic>
        <p:nvPicPr>
          <p:cNvPr id="6" name="Picture 5" descr="swot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6858000" cy="44805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0" y="128016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8000"/>
                </a:solidFill>
                <a:latin typeface="Arial"/>
              </a:defRPr>
            </a:pPr>
            <a:r>
              <a:t>SO: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128016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rial"/>
              </a:defRPr>
            </a:pPr>
            <a:r>
              <a:t>Leverage 'Brand Strength: score 82 (market avg 78)' to ca...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192024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682B4"/>
                </a:solidFill>
                <a:latin typeface="Arial"/>
              </a:defRPr>
            </a:pPr>
            <a:r>
              <a:t>WO: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0" y="192024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rial"/>
              </a:defRPr>
            </a:pPr>
            <a:r>
              <a:t>Address weakness 'Customer Service: score 70 (market avg ...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256032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A500"/>
                </a:solidFill>
                <a:latin typeface="Arial"/>
              </a:defRPr>
            </a:pPr>
            <a:r>
              <a:t>ST: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56032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rial"/>
              </a:defRPr>
            </a:pPr>
            <a:r>
              <a:t>Use strength 'Brand Strength: score 82 (market avg 78)' t...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320040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80000"/>
                </a:solidFill>
                <a:latin typeface="Arial"/>
              </a:defRPr>
            </a:pPr>
            <a:r>
              <a:t>WT: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320040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rial"/>
              </a:defRPr>
            </a:pPr>
            <a:r>
              <a:t>Mitigate weakness 'Customer Service: score 70 (market avg...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SWOT analysis identifies 7 strengths, 5 weaknesses, 11 opportunities, and 4 threats. The recommended strategic posture is offensive (SO-dominant).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05 Look at Opportunities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CDC"/>
                </a:solidFill>
                <a:latin typeface="Arial"/>
              </a:defRPr>
            </a:pPr>
            <a:r>
              <a:t>SPAN Matrix — Opportunity Selection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SPAN Matrix — Opportunity Positioning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OPPORTUNITY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41</a:t>
            </a:r>
          </a:p>
        </p:txBody>
      </p:sp>
      <p:pic>
        <p:nvPicPr>
          <p:cNvPr id="6" name="Picture 5" descr="span_bub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10515600" cy="43891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SPAN matrix positions 22 opportunities: 18 grow/invest, 4 acquire skills, 0 harvest, 0 avoid/exit. Focus resources on the 18 grow/invest items for maximum strategic impact.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Opportunity Priority Ranking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PRIORITIES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42</a:t>
            </a:r>
          </a:p>
        </p:txBody>
      </p:sp>
      <p:pic>
        <p:nvPicPr>
          <p:cNvPr id="6" name="Picture 5" descr="priority_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10972800" cy="41148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SPAN matrix positions 22 opportunities: 18 grow/invest, 4 acquire skills, 0 harvest, 0 avoid/exit. Focus resources on the 18 grow/invest items for maximum strategic impact.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Opportunity Details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DEEP DIVE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43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10972800" cy="9144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371600"/>
            <a:ext cx="457200" cy="32004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38988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P0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13258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60000"/>
                </a:solidFill>
                <a:latin typeface="Arial"/>
              </a:defRPr>
            </a:pPr>
            <a:r>
              <a:t>SO-1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160020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Market: N/A | Window: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18288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Leverage 'Brand Strength: score 82 (market avg 78)' to capture the opportunity of 'Regulatory Environment: Compliance requirements and spectrum policies directly affect vodafone_germany'.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331720"/>
            <a:ext cx="10972800" cy="9144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2423160"/>
            <a:ext cx="457200" cy="32004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44144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P0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23774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60000"/>
                </a:solidFill>
                <a:latin typeface="Arial"/>
              </a:defRPr>
            </a:pPr>
            <a:r>
              <a:t>SO-2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265176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Market: N/A | Window: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28803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Leverage 'Enterprise Solutions: score 82 (market avg 74)' to capture the opportunity of 'National Digital Strategy: Fiber/5G coverage mandates may require vodafone_germany investment but also enable subsidy access'.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383280"/>
            <a:ext cx="10972800" cy="9144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3474720"/>
            <a:ext cx="457200" cy="32004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349300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P0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34290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60000"/>
                </a:solidFill>
                <a:latin typeface="Arial"/>
              </a:defRPr>
            </a:pPr>
            <a:r>
              <a:t>SO-3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370332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Market: N/A | Window: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3931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Leverage 'Network Coverage: score 80 (market avg 76)' to capture the opportunity of 'BNetzA extends 800/1800/2600 MHz spectrum by 5 years: Potential impact on vodafone_germany'.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434840"/>
            <a:ext cx="10972800" cy="9144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" y="4526280"/>
            <a:ext cx="457200" cy="32004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454456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P0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88720" y="44805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60000"/>
                </a:solidFill>
                <a:latin typeface="Arial"/>
              </a:defRPr>
            </a:pPr>
            <a:r>
              <a:t>SO-4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88720" y="475488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Market: N/A | Window: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88720" y="49834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Leverage 'Strong EBITDA margin at 36.2%' to capture the opportunity of 'German government launches €1.2B Gigabit Funding Programme 2025: Potential impact on vodafone_germany'.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SPAN matrix positions 22 opportunities: 18 grow/invest, 4 acquire skills, 0 harvest, 0 avoid/exit. Focus resources on the 18 grow/invest items for maximum strategic impact.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Analysis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KEY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44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73152" cy="54864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29844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01 Trends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1298448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Macro environment: Favorable. Key opportunities: Regulatory Environment, National Digital Strategy. Key risks: Regulatory Environment, Nebenkostenprivileg (MDU cable TV bundling) abolished.. Industry is mature. (+0.3% YoY (CQ2_2025 -&gt; CQ4_2025)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920240"/>
            <a:ext cx="73152" cy="54864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93852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02 Market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1938528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German telecom market totals EUR 12327.0M in quarterly revenue; vodafone_germany holds 25.1% market share; competitive strengths in Availability, Assurances; Market outlook is favorable with more opportunities than threats.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560320"/>
            <a:ext cx="73152" cy="54864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57860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03 Competition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2578608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In a 4-player market with medium competition intensity, Deutsche Telekom leads with 50% revenue share. Target operator holds 25% share. Strongest competitive force: Existing Competitors.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200400"/>
            <a:ext cx="73152" cy="54864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21868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04 Self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3218688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Ranked #2 of 4 operators in market; revenue EUR 3092.0M; EBITDA margin 36.2%; stable but facing challenges; key strength: Brand Strength; key challenge: Customer Service; Management outlook: EBITDAH2H1FY26(1) MDUQ3(2) 1&amp;1Q4(full run-rate)(3) MVNOFY27E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840480"/>
            <a:ext cx="73152" cy="54864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85876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SWOT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3858768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SWOT analysis identifies 7 strengths, 5 weaknesses, 11 opportunities, and 4 threats. The recommended strategic posture is offensive (SO-dominant).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480560"/>
            <a:ext cx="73152" cy="54864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449884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05 Opportunities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0" y="4498848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SPAN matrix positions 22 opportunities: 18 grow/invest, 4 acquire skills, 0 harvest, 0 avoid/exit. Focus resources on the 18 grow/invest items for maximum strategic impact.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Complete Five Looks analysis — see opportunity priorities for next steps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Data Provenance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SOURCES &amp; METHODOLOGY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08080"/>
                </a:solidFill>
                <a:latin typeface="Arial"/>
              </a:defRPr>
            </a:pPr>
            <a:r>
              <a:t>No provenance data recorded for this analysis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All data points are traceable to original sources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Arial"/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657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DCDC"/>
                </a:solidFill>
                <a:latin typeface="Arial"/>
              </a:defRPr>
            </a:pPr>
            <a:r>
              <a:t>BLM Five Looks Strategic Analysis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