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Vodafone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Germany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2026-02-09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看趋势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看市场 Market/Customer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看竞争 Competition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看自己 Self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看机会 Opportunities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数据质量概览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19 data points tracked, 0 high-confidence (0%)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Penetration.. Industry is mature. (+0.3% YoY (CQ2_2025 -&gt; CQ4_2025))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3092.0M; EBITDA margin 36.2%; stable but facing challenges; key strength: Brand Strength; key challenge: Customer Service; Management outlook: 德国EBITDA：H2表现优于H1，但FY26不会回到正增长。关键顺风因素：(1) MDU同比基数效应Q3开始消退；(2) 1&amp;1批发收入Q4达到完整运行率(full run-rate)；(3) MVNO基数效应。预计FY27才能真正实现E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3 weaknesses, 11 opportunities, and 4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21 opportunities: 18 grow/invest, 3 acquire skills, 0 harvest, 0 avoid/exit. Focus resources on the 18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看趋势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Look at Trends — PEST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宏观环境分析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行业环境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Market Size: EUR 12.3B (quarterly, CQ4_2025)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Growth Rate: +0.3% YoY (CQ2_2025 -&gt; CQ4_2025)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Profit Trend: Stable (industry EBITDA margin ~36.6%)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Concentration: CR4 = 100% (Deutsche Telekom: 50.3%, Vodafone Germany: 25.1%, Telefonica O2 Germany: 16.2%, 1&amp;1 AG: 8.4%)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Lifecycle Stage: mature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801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 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 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 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 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 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  Open RAN for vendor diversification and cost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Key Success Factors: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quality and coverage breadth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Convergent (FMC) bundling strategy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B2B/ICT capabilities for enterprise growth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Operational efficiency (OPEX/revenue ratio)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Penetration.. Industry is mature. (+0.3% YoY (CQ2_2025 -&gt; CQ4_2025))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价值转移趋势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Penetration.. Industry is mature. (+0.3% YoY (CQ2_2025 -&gt; CQ4_2025))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看市场/客户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Look at Market/Customer — $APPEALS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市场变化全景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12327.0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143100.0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31420.0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0175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completes OpenRAN migration, reaches 25% own network coverage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Deutsche Telekom Q3 2025: revenue +1.5%, net profit +14.3%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DT reboots fibre tactics, targets Vodafone cable footprint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客户细分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High-End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~13.9M subscribers | Trend: growing | Our Share: ~25% of postpaid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Unmet Needs: Premium 5G standalone experiences, Ultra-low latency gaming and VR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Mainstream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~51.2M subscribers | Trend: stable | Our Share: ~25% of postpaid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Unmet Needs: Better value convergent bundles, Transparent pricing without hidden fees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Price-Sensitive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~35.1M subscribers | Trend: shrinking | Our Share: ~19% of prepaid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Unmet Needs: Affordable unlimited data plans, No-contract flexibility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Youth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~17.2M subscribers | Trend: growing | Our Share: ~23% overall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Unmet Needs: Social media and streaming-optimized plans, eSIM and digital-first experience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客户需求评估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客户价值迁移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is mixed: some segments trending up while price-sensitive segments face pressure. Differentiated strategy by segment recommended.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Q3 2025: revenue +1.5%, net profit +14.3%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看竞争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Look at Competition — Porter's Five Forces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波特五力分析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Telefonica 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竞争对手分析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data_available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Latest 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2000.0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1700.0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88.0/100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75.0/100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72.0/100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85.0/100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Quality: 78.0/100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telefonica_o2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Deutsche Telekom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竞争对手分析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data_available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Latest 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6200.0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5460.0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95.0/100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90.0/100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82.0/100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Services: 85.0/100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92.0/100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deutsche_telekom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One And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竞争对手分析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data_available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Latest 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1035.0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915.0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90.0/100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Product Innovation: 72.0/100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Sustainability: 80.0/100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one_and_one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竞争格局总结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新进入者威胁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Active new entrant: 1&amp;1 AG: 1&amp;1 AG is currently building/expanding its network presence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1&amp;1 completes OpenRAN migration, reaches 25% own network coverage: 1&amp;1全部移动用户已迁移至自有OpenRAN 5G网络（欧洲首个）。自有基站约1,500个运营中，约4,500个在建。达到25%人口覆盖的监管截止日目标。Q3 2025移动净增+4万（H1因迁移影响基本持平）。9个月CAPEX €2.287亿主要用于建网。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medium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看自己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Look at Self — BMC + Capability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经营体检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3092.0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2726.0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1120.0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36.2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Arial"/>
              </a:defRPr>
            </a:pPr>
            <a:r>
              <a:t>Health Rating: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Revenue Breakdown: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Service Revenue: €1,520M (49.2%)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Fixed Service Revenue: €795M (25.7%)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B2B Revenue: €520M (16.8%)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Tv Revenue: €268M (8.7%)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Wholesale Revenue: €380M (12.3%)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Total Revenue: 3092.0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 Positions: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566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calendar_quarter: CQ4_2025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operators_count: 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revenue_rank: 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total_revenue: 3092.0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revenue_market_share_pct: 25.1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subscriber_rank: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3092.0M; EBITDA margin 36.2%; stable but facing challenges; key strength: Brand Strength; key challenge: Customer Service; Management outlook: 德国EBITDA：H2表现优于H1，但FY26不会回到正增长。关键顺风因素：(1) MDU同比基数效应Q3开始消退；(2) 1&amp;1批发收入Q4达到完整运行率(full run-rate)；(3) MVNO基数效应。预计FY27才能真正实现E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细分业务分析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1520.0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2.8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32500.0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23200.0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improving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EUR 1520.0M; up 2.8% YoY; ARPU EUR 12.8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细分业务分析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Fixed 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795.0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Fixed 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-1.1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9940.0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-63.0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EUR 795.0M; growth -1.1% YoY; Fiber subs 1480K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细分业务分析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B2B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520.0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B2B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8.5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B2B 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215.0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B2B 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16.8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EUR 520.0M; growth +8.5% YoY; 16.8% of total revenue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细分业务分析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Tv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268.0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Tv 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7740.0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Tv 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-6.0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4900.0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improving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7740K; FMC 4900K; FMC penetration 49.3%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网络分析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Ericsson + Nokia (non-standalone 5G)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 Status: Testing, planned 2026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700: 20, 1800: 50, 2100: 40, 2600: 20, 3600: 90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Base Stations: 18500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Virtualization Pct: 45%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Edge Nodes: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商业模式画布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组织与人才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优势/劣势/风险暴露点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82 (market avg 78)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82 (market avg 74)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80 (market avg 76)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36.2%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Top 2 in revenue market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70 (market avg 74)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72 (market avg 78)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building own mobile network and migrating users off Vodafone wholesale: Loss of wholesale revenue as 1&amp;1 users migrate to own network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3092.0M; EBITDA margin 36.2%; stable but facing challenges; key strength: Brand Strength; key challenge: Customer Service; Management outlook: 德国EBITDA：H2表现优于H1，但FY26不会回到正增长。关键顺风因素：(1) MDU同比基数效应Q3开始消退；(2) 1&amp;1批发收入Q4达到完整运行率(full run-rate)；(3) MVNO基数效应。预计FY27才能真正实现E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综合分析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SWOT Synthesis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SWOT 综合分析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'Customer Service: score 70 (market avg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82 (market avg 78)'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'Customer Service: score 70 (market avg...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7 strengths, 3 weaknesses, 11 opportunities, and 4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看机会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Look at Opportunities — SPAN Matrix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机会定位矩阵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21 opportunities: 18 grow/invest, 3 acquire skills, 0 harvest, 0 avoid/exit. Focus resources on the 18 grow/invest items for maximum strategic impact.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机会优先级排序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21 opportunities: 18 grow/invest, 3 acquire skills, 0 harvest, 0 avoid/exit. Focus resources on the 18 grow/invest items for maximum strategic impact.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机会详情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capture the opportunity of 'Regulatory Environment: Compliance requirements and spectrum policies directly affect vodafone_germany'.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'Enterprise Solutions: score 82 (market avg 74)' to capture the opportunity of 'National Digital Strategy: Fiber/5G coverage mandates may require vodafone_germany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'Network Coverage: score 80 (market avg 76)' to capture the opportunity of 'BNetzA extends 800/1800/2600 MHz spectrum by 5 years: Potential impact on vodafone_germany'.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'Strong EBITDA margin at 36.2%' to capture the opportunity of 'German government launches €1.2B Gigabit Funding Programme 2025: Potential impact on vodafone_germany'.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21 opportunities: 18 grow/invest, 3 acquire skills, 0 harvest, 0 avoid/exit. Focus resources on the 18 grow/invest items for maximum strategic impact.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分析总结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Penetration.. Industry is mature. (+0.3% YoY (CQ2_2025 -&gt; CQ4_2025))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3092.0M; EBITDA margin 36.2%; stable but facing challenges; key strength: Brand Strength; key challenge: Customer Service; Management outlook: 德国EBITDA：H2表现优于H1，但FY26不会回到正增长。关键顺风因素：(1) MDU同比基数效应Q3开始消退；(2) 1&amp;1批发收入Q4达到完整运行率(full run-rate)；(3) MVNO基数效应。预计FY27才能真正实现E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3 weaknesses, 11 opportunities, and 4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21 opportunities: 18 grow/invest, 3 acquire skills, 0 harvest, 0 avoid/exit. Focus resources on the 18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数据溯源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