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Vodafone BLM Strategic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BLM (Business Leadership Model) Five Looks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Target 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0000"/>
                </a:solidFill>
                <a:latin typeface="Arial"/>
              </a:defRPr>
            </a:pPr>
            <a:r>
              <a:t>Vodafone Germany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0000"/>
                </a:solidFill>
                <a:latin typeface="Arial"/>
              </a:defRPr>
            </a:pPr>
            <a:r>
              <a:t>Germany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Analysis Period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0000"/>
                </a:solidFill>
                <a:latin typeface="Arial"/>
              </a:defRPr>
            </a:pPr>
            <a:r>
              <a:t>CQ4_2025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Report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0000"/>
                </a:solidFill>
                <a:latin typeface="Arial"/>
              </a:defRPr>
            </a:pPr>
            <a:r>
              <a:t>2026-02-10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46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  <a:latin typeface="Arial"/>
              </a:defRPr>
            </a:pPr>
            <a:r>
              <a:t>01 Trends (PEST) | 02 Market/Customer ($APPEALS) | 03 Competition (Porter) | 04 Self (BMC) | SWOT Synthesis | 05 Opportunities (SPAN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Report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447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3898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45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Key findings and recommendations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011680"/>
            <a:ext cx="457200" cy="45720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848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0299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Trends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2860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PEST Framework — macro environment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2651760"/>
            <a:ext cx="457200" cy="45720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249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6700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926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$APPEALS — market changes &amp; customer needs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3291840"/>
            <a:ext cx="457200" cy="45720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3649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3101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Competition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566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Porter's Five Forces — competitive landscape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3931920"/>
            <a:ext cx="457200" cy="45720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0050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9502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Self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206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BMC + Capability — internal assessment</a:t>
            </a:r>
          </a:p>
        </p:txBody>
      </p:sp>
      <p:sp>
        <p:nvSpPr>
          <p:cNvPr id="26" name="Oval 25"/>
          <p:cNvSpPr/>
          <p:nvPr/>
        </p:nvSpPr>
        <p:spPr>
          <a:xfrm>
            <a:off x="731520" y="4572000"/>
            <a:ext cx="457200" cy="45720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6451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5902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SWOT Synthesis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846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Strengths, Weaknesses, Opportunities, Threats</a:t>
            </a:r>
          </a:p>
        </p:txBody>
      </p:sp>
      <p:sp>
        <p:nvSpPr>
          <p:cNvPr id="30" name="Oval 29"/>
          <p:cNvSpPr/>
          <p:nvPr/>
        </p:nvSpPr>
        <p:spPr>
          <a:xfrm>
            <a:off x="731520" y="5212080"/>
            <a:ext cx="457200" cy="45720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2852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2303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Opportunities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54864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SPAN Matrix — opportunity selection</a:t>
            </a:r>
          </a:p>
        </p:txBody>
      </p:sp>
      <p:sp>
        <p:nvSpPr>
          <p:cNvPr id="34" name="Oval 33"/>
          <p:cNvSpPr/>
          <p:nvPr/>
        </p:nvSpPr>
        <p:spPr>
          <a:xfrm>
            <a:off x="731520" y="5852160"/>
            <a:ext cx="457200" cy="45720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9253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58704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Summary &amp; Provenance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6126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Conclusions and data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Data Quality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DATA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Data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High Confidence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148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Medium Confidence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Low/Estimated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Arial"/>
              </a:defRPr>
            </a:pPr>
            <a:r>
              <a:t>Unique Sources: 0</a:t>
            </a:r>
            <a:br/>
            <a:r>
              <a:t>Data Conflicts: 0</a:t>
            </a:r>
            <a:br/>
            <a:r>
              <a:t>Coverage: Partial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19 data points tracked, 0 high-confidence (0%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Trends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3716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Macro environment: Favorable. Key opportunities: Regulatory Environment, National Digital Strategy. Key risks: Regulatory Environment, Nebenkostenprivileg (MDU cable TV bundling) abolished.. Industry is mature. (+0.3% YoY (CQ2_2025 -&gt; CQ4_2025)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Market/Customer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0116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German telecom market totals EUR 12327.0M in quarterly revenue; vodafone_germany holds 25.1% market share; competitive strengths in Availability, Assurances; Market outlook is favorable with more opportunities than threats.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6032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51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Competition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6517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In a 4-player market with medium competition intensity, Deutsche Telekom leads with 50% revenue share. Target operator holds 25% share. Strongest competitive force: Existing Competitors.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0040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Self Assessment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2918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Ranked #2 of 4 operators in market; revenue EUR 3092.0M; EBITDA margin 36.2%; stable but facing challenges; key strength: Brand Strength; key challenge: Customer Service; Management outlook: EBITDAH2H1FY26(1) MDUQ3(2) 1&amp;1Q4(full run-rate)(3) MVNOFY27E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4048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931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SWOT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9319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SWOT analysis identifies 7 strengths, 5 weaknesses, 11 opportunities, and 4 threats. The recommended strategic posture is offensive (SO-dominant).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48056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572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Opportunities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45720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SPAN matrix positions 22 opportunities: 18 grow/invest, 4 acquire skills, 0 harvest, 0 avoid/exit. Focus resources on the 18 grow/invest items for maximum strategic impact.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Five Looks analysis completed — see details in following sections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01 Look at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PEST Framework — Macro Environment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PEST Analysis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MACRO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6</a:t>
            </a:r>
          </a:p>
        </p:txBody>
      </p:sp>
      <p:pic>
        <p:nvPicPr>
          <p:cNvPr id="6" name="Picture 5" descr="pes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Nebenkostenprivileg (MDU cable TV bundling) abolished.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Industry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INDUSTRY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 Size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EUR 12.3B (quarterly, CQ4_2025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Growth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+0.3% YoY (CQ2_2025 -&gt; CQ4_2025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Concentration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CR4 = 100% (Deutsche Telekom: 50.3%, Vodafone Germany: 25.1%, Telefonica O2 Germany: 16.2%, 1&amp;1 AG: 8.4%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Lifecycle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mature</a:t>
            </a:r>
          </a:p>
        </p:txBody>
      </p:sp>
      <p:pic>
        <p:nvPicPr>
          <p:cNvPr id="18" name="Picture 17" descr="pest_factor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651760"/>
            <a:ext cx="5486400" cy="28346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943600" y="26517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New Business Models: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FWA (Fixed Wireless Access) as fiber alternative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Network-as-a-Service for enterprise verticals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Wholesale/MVNO partnerships for coverage monetization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Technology Revolution: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5G SA enabling network slicing and enterprise services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AI/ML for network optimization and customer experience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Open RAN for vendor diversification and cost reduction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Nebenkostenprivileg (MDU cable TV bundling) abolished.. Industry is mature. (+0.3% YoY (CQ2_2025 -&gt; CQ4_2025)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Value Transfer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VALUE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Value shifting from voice/SMS to data and digital services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B2B/ICT growing faster than consumer segment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Fiber displacing copper and cable broadband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Nebenkostenprivileg (MDU cable TV bundling) abolished.. Industry is mature. (+0.3% YoY (CQ2_2025 -&gt; CQ4_2025)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02 Look at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$APPEALS — Market Changes &amp; Customer Needs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Market Change Panorama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MARKET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Revenue (€M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12,327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Mobile Subs (K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143,100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Broadband Subs (K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31,420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Operators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4</a:t>
            </a:r>
          </a:p>
        </p:txBody>
      </p:sp>
      <p:pic>
        <p:nvPicPr>
          <p:cNvPr id="18" name="Picture 17" descr="marke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743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Market Changes: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0175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Vodafone completes 1&amp;1 customer migration: 12M users on network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1&amp;1 completes OpenRAN migration, reaches 25% own network coverage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Vodafone completes Skaylink acquisition for €175M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Deutsche Telekom Q3 2025: revenue +1.5%, net profit +14.3%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German telecom market totals EUR 12327.0M in quarterly revenue; vodafone_germany holds 25.1% market share; competitive strengths in Availability, Assurances; Market outlook is favorable with more opportunities than threats.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Customer Segments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Consumer High-End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Size: ~13.9M subscribers | Trend: growing | Our Share: ~25% of postpaid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Premium 5G standalone experiences, Ultra-low latency gaming and VR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4884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Consumer Mainstream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688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Size: ~51.2M subscribers | Trend: stable | Our Share: ~25% of postpaid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517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Better value convergent bundles, Transparent pricing without hidden fees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1752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063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Consumer Price-Sensitive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375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Size: ~35.1M subscribers | Trend: shrinking | Our Share: ~19% of prepaid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52044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Affordable unlimited data plans, No-contract flexibility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8620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931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Consumer Youth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20624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Size: ~17.2M subscribers | Trend: growing | Our Share: ~23% overall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38912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Social media and streaming-optimized plans, eSIM and digital-first experience</a:t>
            </a:r>
          </a:p>
        </p:txBody>
      </p:sp>
      <p:pic>
        <p:nvPicPr>
          <p:cNvPr id="22" name="Picture 21" descr="appeals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188720"/>
            <a:ext cx="5029200" cy="438912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German telecom market totals EUR 12327.0M in quarterly revenue; vodafone_germany holds 25.1% market share; competitive strengths in Availability, Assurances; Market outlook is favorable with more opportunities than threats.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$APPEALS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CUSTOMER NEEDS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12</a:t>
            </a:r>
          </a:p>
        </p:txBody>
      </p:sp>
      <p:pic>
        <p:nvPicPr>
          <p:cNvPr id="6" name="Picture 5" descr="appeals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5156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German telecom market totals EUR 12327.0M in quarterly revenue; vodafone_germany holds 25.1% market share; competitive strengths in Availability, Assurances; Market outlook is favorable with more opportunities than threats.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Customer Value Migration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VALUE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Value migration is mixed: some segments trending up while price-sensitive segments face pressure. Differentiated strategy by segment recommended.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00"/>
                </a:solidFill>
                <a:latin typeface="Arial"/>
              </a:defRPr>
            </a:pPr>
            <a:r>
              <a:t>Opportunities: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Vodafone completes 1&amp;1 customer migration: 12M users on network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Vodafone completes Skaylink acquisition for €175M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Deutsche Telekom Q3 2025: revenue +1.5%, net profit +14.3%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Vodafone restructures cable TV frequencies nationwide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German telecom market totals EUR 12327.0M in quarterly revenue; vodafone_germany holds 25.1% market share; competitive strengths in Availability, Assurances; Market outlook is favorable with more opportunities than threats.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03 Look at 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Porter's Five Forces — Competitive Landscape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Porter's Five Forces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COMPETITIVE FORCES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15</a:t>
            </a:r>
          </a:p>
        </p:txBody>
      </p:sp>
      <p:pic>
        <p:nvPicPr>
          <p:cNvPr id="6" name="Picture 5" descr="porter_for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097280"/>
            <a:ext cx="640080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71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Overall Intensity: MEDIUM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In a 4-player market with medium competition intensity, Deutsche Telekom leads with 50% revenue share. Target operator holds 25% share. Strongest competitive force: Existing Competitors.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Competitor Analysis: Telefonica 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COMPETITOR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€2,000M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-3.4%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€650M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32.5%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25.0%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5G Deployment: 88.0/100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Brand Strength: 75.0/100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 Service: 72.0/100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Network Coverage: 85.0/100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Competitor analysis: Telefonica O2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Competitor Analysis: Deutsche Telekom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COMPETITOR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€6,200M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+1.1%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€2,610M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42.1%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19.4%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5G Deployment: 95.0/100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Brand Strength: 90.0/100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 Service: 82.0/100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Digital Services: 85.0/100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Competitor analysis: Deutsche Telekom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Competitor Analysis: One And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COMPETITOR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€1,035M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+0.1%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€126M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12.2%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38.6%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Pricing Competitiveness: 90.0/100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Product Innovation: 72.0/100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Sustainability: 80.0/100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Competitor analysis: One And One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Competitive Landscape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COMPETITION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19</a:t>
            </a:r>
          </a:p>
        </p:txBody>
      </p:sp>
      <p:pic>
        <p:nvPicPr>
          <p:cNvPr id="6" name="Picture 5" descr="comp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In a 4-player market with medium competition intensity, Deutsche Telekom leads with 50% revenue share. Target operator holds 25% share. Strongest competitive force: Existing Competitors.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Gap Analysis: Vodafone Germany vs Deutsche Telekom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COMPETITIVE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20</a:t>
            </a:r>
          </a:p>
        </p:txBody>
      </p:sp>
      <p:pic>
        <p:nvPicPr>
          <p:cNvPr id="6" name="Picture 5" descr="gap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Gap analysis vs market leader Deutsche Telekom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New Entrants Threat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MARKET ENTRY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Active new entrant: 1&amp;1 AG: 1&amp;1 AG is currently building/expanding its network presence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1&amp;1 completes OpenRAN migration, reaches 25% own network coverage: 1&amp;1OpenRAN 5G1,5004,50025%Q3 2025+4H19CAPEX €2.287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Entry barriers: High barriers: spectrum licensing, massive capex for network build, regulatory approvals, established brand loyalty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New entrants threat level: medium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04 Look at 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BMC + Capability Assessment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Operating Health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FINANCIAL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€3,092M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+0.72%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€1,120M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+1.5% YoY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 Margin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36.2%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25.9%</a:t>
            </a:r>
          </a:p>
        </p:txBody>
      </p:sp>
      <p:pic>
        <p:nvPicPr>
          <p:cNvPr id="20" name="Picture 19" descr="revenu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651760"/>
            <a:ext cx="5486400" cy="2834640"/>
          </a:xfrm>
          <a:prstGeom prst="rect">
            <a:avLst/>
          </a:prstGeom>
        </p:spPr>
      </p:pic>
      <p:pic>
        <p:nvPicPr>
          <p:cNvPr id="21" name="Picture 20" descr="revenue_break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651760"/>
            <a:ext cx="5760720" cy="283464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Ranked #2 of 4 operators in market; revenue EUR 3092.0M; EBITDA margin 36.2%; stable but facing challenges; key strength: Brand Strength; key challenge: Customer Service; Management outlook: EBITDAH2H1FY26(1) MDUQ3(2) 1&amp;1Q4(full run-rate)(3) MVNOFY27E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Revenue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COMPETITIVE BENCHMARKING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24</a:t>
            </a:r>
          </a:p>
        </p:txBody>
      </p:sp>
      <p:pic>
        <p:nvPicPr>
          <p:cNvPr id="6" name="Picture 5" descr="revenu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760720" cy="4389120"/>
          </a:xfrm>
          <a:prstGeom prst="rect">
            <a:avLst/>
          </a:prstGeom>
        </p:spPr>
      </p:pic>
      <p:pic>
        <p:nvPicPr>
          <p:cNvPr id="7" name="Picture 6" descr="margin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486400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Revenue and margin benchmarking across operators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€1,520M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2.8%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€32,500M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Postpaid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€23,200M</a:t>
            </a:r>
          </a:p>
        </p:txBody>
      </p:sp>
      <p:pic>
        <p:nvPicPr>
          <p:cNvPr id="18" name="Picture 17" descr="segment_0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arpu: improving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Mobile service revenue at EUR 1520.0M; up 2.8% YoY; ARPU EUR 12.8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Fixed Broadband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€795M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-1.1%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€9,940M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Net Adds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-63</a:t>
            </a:r>
          </a:p>
        </p:txBody>
      </p:sp>
      <p:pic>
        <p:nvPicPr>
          <p:cNvPr id="18" name="Picture 17" descr="segment_1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arpu: stable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Fixed service revenue EUR 795.0M; growth -1.1% YoY; Fiber subs 1480K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B2B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€520M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8.5%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Customers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€215M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Share Of Revenue Pct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16.8%</a:t>
            </a:r>
          </a:p>
        </p:txBody>
      </p:sp>
      <p:pic>
        <p:nvPicPr>
          <p:cNvPr id="18" name="Picture 17" descr="segment_2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Health: STRONG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customers: improving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B2B revenue EUR 520.0M; growth +8.5% YoY; 16.8% of total revenue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TV/Convergence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€268M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€7,740M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Net Adds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-6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Fmc Total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€4,900M</a:t>
            </a:r>
          </a:p>
        </p:txBody>
      </p:sp>
      <p:pic>
        <p:nvPicPr>
          <p:cNvPr id="18" name="Picture 17" descr="segment_3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fmc_subscribers: improving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TV subscribers 7740K; FMC 4900K; FMC penetration 49.3%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Network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29</a:t>
            </a:r>
          </a:p>
        </p:txBody>
      </p:sp>
      <p:pic>
        <p:nvPicPr>
          <p:cNvPr id="6" name="Picture 5" descr="coverage_gau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657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Technology Mix: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Mobile Vendor: Ericsson + Nokia (non-standalone 5G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5G Sa Status: Testing, planned 2026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Spectrum Mhz: 700: 20, 1800: 50, 2100: 40, 2600: 20, 3600: 90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5G Base Stations: 18500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Core Vendor: Ericsson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Virtualization Pct: 45%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Edge Nodes: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6576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Investment Direction: stable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Network infrastructure and coverage assessment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Business Model Canvas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BMC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30</a:t>
            </a:r>
          </a:p>
        </p:txBody>
      </p:sp>
      <p:pic>
        <p:nvPicPr>
          <p:cNvPr id="6" name="Picture 5" descr="bmc_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44805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Business model canvas overview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Organization &amp; Talent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PEOPLE &amp; CULTURE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Employees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14,500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Organization and talent assessment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Strengths, Weaknesses &amp; Exposure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SELF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Brand Strength: score 82 (market avg 78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Enterprise Solutions: score 82 (market avg 74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Network Coverage: score 80 (market avg 76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Strong EBITDA margin at 36.2%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 on growth trajectory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Top 2 in revenue market ranking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 Service: score 70 (market avg 74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Pricing Competitiveness: score 72 (market avg 78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A500"/>
                </a:solidFill>
                <a:latin typeface="Arial"/>
              </a:defRPr>
            </a:pPr>
            <a:r>
              <a:t>Exposure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1&amp;1 building own mobile network and migrating users off Vodafone wholesale: Loss of wholesale revenue as 1&amp;1 users migrate to own network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Heavy reliance on cable (DOCSIS) technology while market shifts to fiber: Technology perception gap as competitors lead fiber deployment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Low fiber penetration compared to Deutsche Telekom: Competitive disadvantage in future-proof broadband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Ranked #2 of 4 operators in market; revenue EUR 3092.0M; EBITDA margin 36.2%; stable but facing challenges; key strength: Brand Strength; key challenge: Customer Service; Management outlook: EBITDAH2H1FY26(1) MDUQ3(2) 1&amp;1Q4(full run-rate)(3) MVNOFY27E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SWOT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Strengths, Weaknesses, Opportunities &amp; Threats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SWOT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STRATEGIC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34</a:t>
            </a:r>
          </a:p>
        </p:txBody>
      </p:sp>
      <p:pic>
        <p:nvPicPr>
          <p:cNvPr id="6" name="Picture 5" descr="swot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6858000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12801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8000"/>
                </a:solidFill>
                <a:latin typeface="Arial"/>
              </a:defRPr>
            </a:pPr>
            <a:r>
              <a:t>SO: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280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Leverage 'Brand Strength: score 82 (market avg 78)' to ca...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920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682B4"/>
                </a:solidFill>
                <a:latin typeface="Arial"/>
              </a:defRPr>
            </a:pPr>
            <a:r>
              <a:t>WO: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9202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Address weakness 'Customer Service: score 70 (market avg 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5603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A500"/>
                </a:solidFill>
                <a:latin typeface="Arial"/>
              </a:defRPr>
            </a:pPr>
            <a:r>
              <a:t>ST: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5603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Use strength 'Brand Strength: score 82 (market avg 78)' t...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2004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80000"/>
                </a:solidFill>
                <a:latin typeface="Arial"/>
              </a:defRPr>
            </a:pPr>
            <a:r>
              <a:t>WT: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2004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Mitigate weakness 'Customer Service: score 70 (market avg...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SWOT analysis identifies 7 strengths, 5 weaknesses, 11 opportunities, and 4 threats. The recommended strategic posture is offensive (SO-dominant).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05 Look at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SPAN Matrix — Opportunity Selection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SPAN Matrix — Opportunity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OPPORTUNITY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36</a:t>
            </a:r>
          </a:p>
        </p:txBody>
      </p:sp>
      <p:pic>
        <p:nvPicPr>
          <p:cNvPr id="6" name="Picture 5" descr="span_bub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05156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22 opportunities: 18 grow/invest, 4 acquire skills, 0 harvest, 0 avoid/exit. Focus resources on the 18 grow/invest items for maximum strategic impact.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Opportunity Priority 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PRIORITIES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37</a:t>
            </a:r>
          </a:p>
        </p:txBody>
      </p:sp>
      <p:pic>
        <p:nvPicPr>
          <p:cNvPr id="6" name="Picture 5" descr="priority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22 opportunities: 18 grow/invest, 4 acquire skills, 0 harvest, 0 avoid/exit. Focus resources on the 18 grow/invest items for maximum strategic impact.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Opportunity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457200" cy="3200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898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325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SO-1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0020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'Brand Strength: score 82 (market avg 78)' to capture the opportunity of 'Regulatory Environment: Compliance requirements and spectrum policies directly affect vodafone_germany'.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3172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423160"/>
            <a:ext cx="457200" cy="3200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4414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377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SO-2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6517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880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'Enterprise Solutions: score 82 (market avg 74)' to capture the opportunity of 'National Digital Strategy: Fiber/5G coverage mandates may require vodafone_germany investment but also enable subsidy access'.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8328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474720"/>
            <a:ext cx="457200" cy="3200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49300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429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SO-3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7033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931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'Network Coverage: score 80 (market avg 76)' to capture the opportunity of 'BNetzA extends 800/1800/2600 MHz spectrum by 5 years: Potential impact on vodafone_germany'.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43484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526280"/>
            <a:ext cx="457200" cy="3200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54456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480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SO-4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7548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4983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'Strong EBITDA margin at 36.2%' to capture the opportunity of 'German government launches €1.2B Gigabit Funding Programme 2025: Potential impact on vodafone_germany'.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22 opportunities: 18 grow/invest, 4 acquire skills, 0 harvest, 0 avoid/exit. Focus resources on the 18 grow/invest items for maximum strategic impact.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Analysis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39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73152" cy="5486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984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01 Trends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29844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Macro environment: Favorable. Key opportunities: Regulatory Environment, National Digital Strategy. Key risks: Regulatory Environment, Nebenkostenprivileg (MDU cable TV bundling) abolished.. Industry is mature. (+0.3% YoY (CQ2_2025 -&gt; CQ4_2025)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73152" cy="5486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385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02 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93852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German telecom market totals EUR 12327.0M in quarterly revenue; vodafone_germany holds 25.1% market share; competitive strengths in Availability, Assurances; Market outlook is favorable with more opportunities than threats.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60320"/>
            <a:ext cx="73152" cy="5486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786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03 Competition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57860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In a 4-player market with medium competition intensity, Deutsche Telekom leads with 50% revenue share. Target operator holds 25% share. Strongest competitive force: Existing Competitors.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00400"/>
            <a:ext cx="73152" cy="5486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186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04 Self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21868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Ranked #2 of 4 operators in market; revenue EUR 3092.0M; EBITDA margin 36.2%; stable but facing challenges; key strength: Brand Strength; key challenge: Customer Service; Management outlook: EBITDAH2H1FY26(1) MDUQ3(2) 1&amp;1Q4(full run-rate)(3) MVNOFY27E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40480"/>
            <a:ext cx="73152" cy="5486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8587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SWOT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85876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SWOT analysis identifies 7 strengths, 5 weaknesses, 11 opportunities, and 4 threats. The recommended strategic posture is offensive (SO-dominant).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480560"/>
            <a:ext cx="73152" cy="5486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4988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05 Opportunities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49884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SPAN matrix positions 22 opportunities: 18 grow/invest, 4 acquire skills, 0 harvest, 0 avoid/exit. Focus resources on the 18 grow/invest items for maximum strategic impact.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Complete Five Looks analysis — see opportunity priorities for next steps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Data Provenance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SOURCES &amp;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  <a:latin typeface="Arial"/>
              </a:defRPr>
            </a:pPr>
            <a:r>
              <a:t>No provenance data recorded for this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All data points are traceable to original sources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DCDC"/>
                </a:solidFill>
                <a:latin typeface="Arial"/>
              </a:defRPr>
            </a:pPr>
            <a:r>
              <a:t>BLM Five Looks Strategic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