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Entel Chile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Chile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Chile telecom market totals CLP 1.39T in quarterly revenue; Market faces significant competitive headwinds.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but facing challenges; key strength: Established market presence; key challenge: No critical weaknesses identified from available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 strengths, 1 weaknesses, 2 opportunities, and 8 threats. The recommended strategic posture is cautious (WT-dominant).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20 opportunities: 14 grow/invest, 2 acquire skills, 2 harvest, 2 avoid/exit. Focus resources on the 14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CLP 1.4T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+7.2%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(Entel Chile: 58.3%, Movistar Chile: 17.6%, WOM Chile: 13.3%, Claro Chile: 10.8%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1,391,000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30,500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4,180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Entel Chile revenue growth 15.9%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Movistar Chile revenue growth 8.9%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WOM Chile revenue growth 6.9%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Chile revenue growth 8.7%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Market faces significant competitive headwinds.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~2.8M subscribers | Trend: growing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5G coverage and experiences, Premium convergent bundles (fiber+mobile+streaming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~10.2M subscribers | 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Better value mobile plans, Reliable home broadband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~8.3M subscribers | Trend: shrinking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Ultra-low-cost data plans, No-contract flexibility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Large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~5K customers (top 5%) | Trend: growing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SD-WAN and multi-cloud solutions, Private 5G for mining and logistics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Market faces significant competitive headwinds.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Market faces significant competitive headwinds.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Chile revenue growth 15.9%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Movistar Chile revenue growth 8.9%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WOM Chile revenue growth 6.9%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Chile revenue growth 8.7% YoY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Chile telecom market totals CLP 1.39T in quarterly revenue; Market faces significant competitive headwinds.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CROSS-OPERATOR TIER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6" name="Picture 5" descr="tariff_mobile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EUR 5000 gap — cheapest WOM Chile, most expensive Entel Chile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EUR 6000 gap — cheapest WOM Chile, most expensive Entel Chile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EUR 8000 gap — cheapest WOM Chile, most expensive Entel Chile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EUR 12000 gap — cheapest WOM Chile, most expensive Entel Chile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postpaid tier comparison across all operators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&amp; 5G Premium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6" name="Picture 5" descr="tariff_eur_pe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76072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000"/>
                </a:solidFill>
                <a:latin typeface="Arial"/>
              </a:defRPr>
            </a:pPr>
            <a:r>
              <a:t>All mobile postpaid plans now include 5G — premium fully eroded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Best value: WOM Chile at EUR 212.38/GB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Price Evolution — Mobile Postpaid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H1_2023 TO H1_2026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tariff_evolut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Price evolution across 7 snapshots — H1_2023 to H1_2026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Cable: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Cable 1000: EUR 24990/mo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Cable 500: EUR 18990/mo 500.0Mbps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Cable 200: EUR 13990/mo 200.0Mbps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  <a:latin typeface="Arial"/>
              </a:defRPr>
            </a:pPr>
            <a:r>
              <a:t>Fiber: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31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Fibra 1000: EUR 25990/mo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Movistar Chile Movistar Fibra 1000: EUR 27990/mo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Entel Chile Entel Fibra 1000: EUR 29990/mo 1000.0Mbps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Claro Chile ClaroVTR Fibra 500: EUR 19990/mo 500.0Mbps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FMC Bundles: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Chile Entel Pack Premium: EUR 49990/mo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Chile ClaroVTR Pack Total: EUR 49990/mo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Movistar Chile Movistar Pack Total: EUR 54990/mo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Chile ClaroVTR Pack Duo: EUR 22990/mo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Movistar Chile Movistar Pack Duo: EUR 24990/mo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Entel Chile Entel Pack Hogar: EUR 27990/mo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Cheapest FMC bundle: Claro Chile ClaroVTR Pack Duo at EUR 22990/mo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€150,000M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€33,000M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22.0%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50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60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60 (market avg 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Cl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Tigo Chile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Tigo Chile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Wom 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€185,000M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+6.8%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€37,000M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Deployment: score 70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70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Services: score 80 (market avg 70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Pricing Competitiveness: score 90 (market avg 70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30 (market avg 58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50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Quality: score 50 (market avg 68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Sustainability: score 40 (market avg 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Wom Cl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Strongest competitive force: Existing Competitors.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stable but facing challenges; key strength: Established market presence; key challenge: No critical weaknesses identified from available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Entel Chile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58.3%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+2.2pp gaining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Movistar Chile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17.6%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-0.7pp 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WOM Chile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13.3%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-1.0pp losing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Claro Chile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10.8% 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-0.5pp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4,003 (Highly Concentrated) | CR3: 89.2% | Trend: Concentrating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 data unavailable for the target operator.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Insufficient data for mobile segment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Insufficient data for fixed broadband assessment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Insufficient data for B2B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Insufficient data for TV/convergence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Talent Assessment: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71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c_suite_count: 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avg_tenure_years: None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key_leaders: []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capability_alignment: []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assessment: Limited executive visibility from available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Established market presence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 critical weaknesses identified from available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stable but facing challenges; key strength: Established market presence; key challenge: No critical weaknesses identified from available data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'Established market presence' to capture the opp...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'No critical weaknesses identified from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'Established market presence' to counter the...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'No critical weaknesses identified from...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 strengths, 1 weaknesses, 2 opportunities, and 8 threats. The recommended strategic posture is cautious (WT-dominant).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20 opportunities: 14 grow/invest, 2 acquire skills, 2 harvest, 2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20 opportunities: 14 grow/invest, 2 acquire skills, 2 harvest, 2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'Established market presence' to capture the opportunity of 'Regulatory Environment: Compliance requirements and spectrum policies directly affect entel_chile'.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'Established market presence' to capture the opportunity of 'National Digital Strategy: Fiber/5G coverage mandates may require entel_chile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5G SA enabling network slicing and enterprise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5G SA enabling network slicing and enterprise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AI/ML for network optimization and customer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AI/ML for network optimization and customer experience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20 opportunities: 14 grow/invest, 2 acquire skills, 2 harvest, 2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core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core segments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No critical weaknesses identified from available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No critical weaknesses identified from available data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Network modernization to close infrastructure gaps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Capex efficiency improvement</a:t>
            </a:r>
            <a:br/>
            <a:r>
              <a:t>- Network quality score top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Mobile, Fixed Broadband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Mobile, Fixed Broadband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Defensive. As The Dominant Leader: defend leadership through innovation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1 P0 (IMMEDIATE), 3 P1 (1-2 YEARS), 0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Margin Recovery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at 0.0% — below industry average, drive cost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EBITDA margin +2pp | Opex reduction 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Network Quality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network reliability and customer experience scores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Network quality index 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14 grow/invest opportunities identified — establish execution office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4 critical tasks: 1 P0 (immediate), 3 P1 (1-2 years), 0 P2 (3-5 years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(+7.2%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Chile telecom market totals CLP 1.39T in quarterly revenue; Market faces significant competitive headwinds.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but facing challenges; key strength: Established market presence; key challenge: No critical weaknesses identified from available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 strengths, 1 weaknesses, 2 opportunities, and 8 threats. The recommended strategic posture is cautious (WT-dominant).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20 opportunities: 14 grow/invest, 2 acquire skills, 2 harvest, 2 avoid/exit. Focus resources on the 14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