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Colombia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Colombia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(+3.0%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Colombia telecom market totals COP 9,340M in quarterly revenue; Market presents a balanced mix of opportunities and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high competition intensity, Claro Colombia leads with 49% revenue share. Target operator holds 26%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COP 2,420M; EBITDA margin 35.1%; stable but facing challenges; key strength: Customer Service; key challenge: Price Competitiveness; Management outlook: Mobile service revenue growth accelerating with data monetization and postpaid migration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9 strengths, 5 weaknesses, 5 opportunities, and 7 threats. The recommended strategic posture is defensive (ST-dominant).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29 opportunities: 14 grow/invest, 7 acquire skills, 4 harvest, 4 avoid/exit. Focus resources on the 14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COP 9.3B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+3.0%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(Claro Colombia: 48.7%, Tigo Colombia: 25.9%, Movistar Colombia: 20.0%, WOM Colombia: 5.4%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(+3.0%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(+3.0%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9,340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68,250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6,060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Colombia revenue growth 7.1%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WOM Colombia revenue increase 8.7% QoQ (COP 500.0M vs COP 460.0M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WOM Colombia revenue growth 35.1%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WOM Colombia mobile ARPU increase 8.7% QoQ (COP 10870.0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Colombia telecom market totals COP 9,340M in quarterly revenue; Market presents a balanced mix of opportunities and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data plans for low-income users, Rural and semi-urban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 &amp; Convergent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High-quality convergent bundles (mobile+fiber+TV), 5G-ready plans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~16K customers (top 5%) | Trend: growing | Our Share: ~30% of B2B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SD-WAN and multi-cloud connectivity, IoT solutions for agriculture and logistics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SME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~314K customers | Trend: stable | Our Share: ~30% of B2B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Simple all-in-one business connectivity, Affordable cloud solutions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Colombia telecom market totals COP 9,340M in quarterly revenue; Market presents a balanced mix of opportunities and challenges.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Colombia telecom market totals COP 9,340M in quarterly revenue; Market presents a balanced mix of opportunities and challenges.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Colombia revenue growth 7.1%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Tigo-UNE launches 5G in Bogota and Medellin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WOM reaches 4.6M subscribers in Colombia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WOM Colombia revenue increase 8.7% QoQ (COP 500.0M vs COP 460.0M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WOM Colombia revenue growth 35.1%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WOM Colombia EBITDA margin improvement: -2.0% vs -4.3% (+2.3pp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Colombia telecom market totals COP 9,340M in quarterly revenue; Market presents a balanced mix of opportunities and challenges.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HIGH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high competition intensity, Claro Colombia leads with 49% revenue share. Target operator holds 26%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Movistar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€1,870M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+2.3%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€555M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29.7%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62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58 (market avg 67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68 (market avg 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Movistar 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€4,550M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€1,820M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40.0%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88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75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90 (market avg 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65 (market avg 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Steady growth trajectory; subscriber acquisition focus;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Wom 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+35.3%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€-10M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34.0%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90 (market avg 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50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55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45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20 (market avg 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Wom Co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high competition intensity, Claro Colombia leads with 49% revenue share. Target operator holds 26% share. Strongest competitive force: Existing Competitors.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Active new entrant: WOM Colombia: WOM Colombia is currently building/expanding its network presence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medium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€2,420M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+7.08%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€850M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+7.6%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35.1%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20.2%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COP 2,420M; EBITDA margin 35.1%; stable but facing challenges; key strength: Customer Service; key challenge: Price Competitiveness; Management outlook: Mobile service revenue growth accelerating with data monetization and postpaid migration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€1,240M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€15,900M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€4,770M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service revenue growth accelerating with data monetization and postpaid migration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1,240M; up 6.9% YoY; ARPU 7850.0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€880M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€1,880M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Fixed broadband growth driven by fiber expansion, targeting 550K fiber subs by end of 2025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2.3%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2.2%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880.0M; growth +7.5% YoY; Fiber subs 550K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€170M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7.0%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Colombia B2B segment benefiting from enterprise cloud connectivity solutions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2.1%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170.0M; 7.0% of total revenue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€1,270M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€540M</a:t>
            </a:r>
          </a:p>
        </p:txBody>
      </p:sp>
      <p:pic>
        <p:nvPicPr>
          <p:cNvPr id="18" name="Picture 17" descr="segment_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 increased 3.9%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1270K; FMC 540K; FMC penetration 28.7%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Nokia/Ericsson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145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6,800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['Marcelo Cataldo (CEO)', 'Diego Pardo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JV culture blending Millicom commercial agility with EPM public utility stability; innovation-oriented with digital transformation focus; strong local brand.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Marcelo Cataldo: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Diego Pardo: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68 (market avg 64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72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70 (market avg 58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78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75 (market avg 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70 (market avg 73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WOM aggressive pricing disrupting postpaid economics: ARPU pressure as WOM grows from 2.5M to 4.6M subscribers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50% JV structure with EPM limits strategic flexibility: Slower decision-making and capex allocation vs fully-owned subsidiaries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network aging while competitors deploy fiber: Speed and perception gap vs Claro fiber offerings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#2 of 4 operators in market; revenue COP 2,420M; EBITDA margin 35.1%; stable but facing challenges; key strength: Customer Service; key challenge: Price Competitiveness; Management outlook: Mobile service revenue growth accelerating with data monetization and postpaid migration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'Customer Service: score 68 (market avg 64)' to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'Price Competitiveness: score 70 (market...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'Customer Service: score 68 (market avg 64)'...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'Price Competitiveness: score 70 (marke...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9 strengths, 5 weaknesses, 5 opportunities, and 7 threats. The recommended strategic posture is defensive (ST-dominant).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29 opportunities: 14 grow/invest, 7 acquire skills, 4 harvest, 4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29 opportunities: 14 grow/invest, 7 acquire skills, 4 harvest, 4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68 (market avg 64)' to capture the opportunity of 'Regulatory Environment: Compliance requirements and spectrum policies directly affect tigo_colombia'.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72 (market avg 68)' to capture the opportunity of 'National Digital Strategy: Fiber/5G coverage mandates may require tigo_colombia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75 (market avg 70)' to capture the opportunity of 'Tigo Colombia revenue growth 7.1%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'Enterprise Solutions: score 70 (market avg 58)' to capture the opportunity of 'Tigo-UNE launches 5G in Bogota and Medellin'.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29 opportunities: 14 grow/invest, 7 acquire skills, 4 harvest, 4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Close the gap to market leader — accelerate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Gain 1-2pp revenue share</a:t>
            </a:r>
            <a:br/>
            <a:r>
              <a:t>- Grow Mobile, Fixed Broadband, B2B double-digit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Price Competitiveness: score 70 (market avg 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Price Competitiveness: score 70 (market avg 73)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Defensive. As The Squeezed Middle: stabilize core business, then select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€1,240M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€880M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14 grow/invest opportunities identified — establish execution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35.1% — maintain through smart automation and resource reallocatio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7 critical tasks: 3 P0 (immediate), 3 P1 (1-2 years), 1 P2 (3-5 years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(+3.0%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Colombia telecom market totals COP 9,340M in quarterly revenue; Market presents a balanced mix of opportunities and challenges.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high competition intensity, Claro Colombia leads with 49% revenue share. Target operator holds 26%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#2 of 4 operators in market; revenue COP 2,420M; EBITDA margin 35.1%; stable but facing challenges; key strength: Customer Service; key challenge: Price Competitiveness; Management outlook: Mobile service revenue growth accelerating with data monetization and postpaid migration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9 strengths, 5 weaknesses, 5 opportunities, and 7 threats. The recommended strategic posture is defensive (ST-dominant).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29 opportunities: 14 grow/invest, 7 acquire skills, 4 harvest, 4 avoid/exit. Focus resources on the 14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