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Default BLM Strategic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CDC"/>
                </a:solidFill>
                <a:latin typeface="Arial"/>
              </a:defRPr>
            </a:pPr>
            <a:r>
              <a:t>BLM (Business Leadership Model) Five Looks Analysis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3200400"/>
            <a:ext cx="2651760" cy="11887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32918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Target Operator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56616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3366"/>
                </a:solidFill>
                <a:latin typeface="Arial"/>
              </a:defRPr>
            </a:pPr>
            <a:r>
              <a:t>Epic Cy</a:t>
            </a:r>
          </a:p>
        </p:txBody>
      </p:sp>
      <p:sp>
        <p:nvSpPr>
          <p:cNvPr id="8" name="Rectangle 7"/>
          <p:cNvSpPr/>
          <p:nvPr/>
        </p:nvSpPr>
        <p:spPr>
          <a:xfrm>
            <a:off x="3291840" y="3200400"/>
            <a:ext cx="2651760" cy="11887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29000" y="32918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Market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9000" y="356616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3366"/>
                </a:solidFill>
                <a:latin typeface="Arial"/>
              </a:defRPr>
            </a:pPr>
            <a:r>
              <a:t>Cyprus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3200400"/>
            <a:ext cx="2651760" cy="11887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63640" y="32918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Analysis Period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356616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3366"/>
                </a:solidFill>
                <a:latin typeface="Arial"/>
              </a:defRPr>
            </a:pPr>
            <a:r>
              <a:t>CQ4_2025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961120" y="3200400"/>
            <a:ext cx="2651760" cy="11887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98280" y="32918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Report 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98280" y="356616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3366"/>
                </a:solidFill>
                <a:latin typeface="Arial"/>
              </a:defRPr>
            </a:pPr>
            <a:r>
              <a:t>2026-02-15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846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08080"/>
                </a:solidFill>
                <a:latin typeface="Arial"/>
              </a:defRPr>
            </a:pPr>
            <a:r>
              <a:t>01 Trends (PEST) | 02 Market/Customer ($APPEALS) | 03 Competition (Porter) | 04 Self (BMC) | SWOT Synthesis | 05 Opportunities (SPAN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Report Contents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TABLE OF 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6" name="Oval 5"/>
          <p:cNvSpPr/>
          <p:nvPr/>
        </p:nvSpPr>
        <p:spPr>
          <a:xfrm>
            <a:off x="731520" y="1371600"/>
            <a:ext cx="457200" cy="457200"/>
          </a:xfrm>
          <a:prstGeom prst="ellipse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4475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38988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Arial"/>
              </a:defRPr>
            </a:pPr>
            <a:r>
              <a:t>Executive Summary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6459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Arial"/>
              </a:defRPr>
            </a:pPr>
            <a:r>
              <a:t>Key findings and recommendations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2011680"/>
            <a:ext cx="457200" cy="457200"/>
          </a:xfrm>
          <a:prstGeom prst="ellipse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08483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02996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Arial"/>
              </a:defRPr>
            </a:pPr>
            <a:r>
              <a:t>Look at Trends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2860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Arial"/>
              </a:defRPr>
            </a:pPr>
            <a:r>
              <a:t>PEST Framework — macro environment</a:t>
            </a:r>
          </a:p>
        </p:txBody>
      </p:sp>
      <p:sp>
        <p:nvSpPr>
          <p:cNvPr id="14" name="Oval 13"/>
          <p:cNvSpPr/>
          <p:nvPr/>
        </p:nvSpPr>
        <p:spPr>
          <a:xfrm>
            <a:off x="731520" y="2651760"/>
            <a:ext cx="457200" cy="457200"/>
          </a:xfrm>
          <a:prstGeom prst="ellipse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272491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267004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Arial"/>
              </a:defRPr>
            </a:pPr>
            <a:r>
              <a:t>Look at Market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29260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Arial"/>
              </a:defRPr>
            </a:pPr>
            <a:r>
              <a:t>$APPEALS — market changes &amp; customer needs</a:t>
            </a:r>
          </a:p>
        </p:txBody>
      </p:sp>
      <p:sp>
        <p:nvSpPr>
          <p:cNvPr id="18" name="Oval 17"/>
          <p:cNvSpPr/>
          <p:nvPr/>
        </p:nvSpPr>
        <p:spPr>
          <a:xfrm>
            <a:off x="731520" y="3291840"/>
            <a:ext cx="457200" cy="457200"/>
          </a:xfrm>
          <a:prstGeom prst="ellipse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36499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31012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Arial"/>
              </a:defRPr>
            </a:pPr>
            <a:r>
              <a:t>Tariff Analysis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35661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Arial"/>
              </a:defRPr>
            </a:pPr>
            <a:r>
              <a:t>Pricing comparison — mobile, fixed &amp; convergence</a:t>
            </a:r>
          </a:p>
        </p:txBody>
      </p:sp>
      <p:sp>
        <p:nvSpPr>
          <p:cNvPr id="22" name="Oval 21"/>
          <p:cNvSpPr/>
          <p:nvPr/>
        </p:nvSpPr>
        <p:spPr>
          <a:xfrm>
            <a:off x="731520" y="3931920"/>
            <a:ext cx="457200" cy="457200"/>
          </a:xfrm>
          <a:prstGeom prst="ellipse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400507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395020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Arial"/>
              </a:defRPr>
            </a:pPr>
            <a:r>
              <a:t>Look at Competition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4206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Arial"/>
              </a:defRPr>
            </a:pPr>
            <a:r>
              <a:t>Porter's Five Forces — competitive landscape</a:t>
            </a:r>
          </a:p>
        </p:txBody>
      </p:sp>
      <p:sp>
        <p:nvSpPr>
          <p:cNvPr id="26" name="Oval 25"/>
          <p:cNvSpPr/>
          <p:nvPr/>
        </p:nvSpPr>
        <p:spPr>
          <a:xfrm>
            <a:off x="731520" y="4572000"/>
            <a:ext cx="457200" cy="457200"/>
          </a:xfrm>
          <a:prstGeom prst="ellipse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464515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459028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Arial"/>
              </a:defRPr>
            </a:pPr>
            <a:r>
              <a:t>Look at Self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71600" y="48463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Arial"/>
              </a:defRPr>
            </a:pPr>
            <a:r>
              <a:t>BMC + Capability — internal assessment</a:t>
            </a:r>
          </a:p>
        </p:txBody>
      </p:sp>
      <p:sp>
        <p:nvSpPr>
          <p:cNvPr id="30" name="Oval 29"/>
          <p:cNvSpPr/>
          <p:nvPr/>
        </p:nvSpPr>
        <p:spPr>
          <a:xfrm>
            <a:off x="731520" y="5212080"/>
            <a:ext cx="457200" cy="457200"/>
          </a:xfrm>
          <a:prstGeom prst="ellipse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528523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06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71600" y="523036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Arial"/>
              </a:defRPr>
            </a:pPr>
            <a:r>
              <a:t>SWOT Synthesis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71600" y="54864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Arial"/>
              </a:defRPr>
            </a:pPr>
            <a:r>
              <a:t>Strengths, Weaknesses, Opportunities, Threats</a:t>
            </a:r>
          </a:p>
        </p:txBody>
      </p:sp>
      <p:sp>
        <p:nvSpPr>
          <p:cNvPr id="34" name="Oval 33"/>
          <p:cNvSpPr/>
          <p:nvPr/>
        </p:nvSpPr>
        <p:spPr>
          <a:xfrm>
            <a:off x="731520" y="5852160"/>
            <a:ext cx="457200" cy="457200"/>
          </a:xfrm>
          <a:prstGeom prst="ellipse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1520" y="592531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07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71600" y="587044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Arial"/>
              </a:defRPr>
            </a:pPr>
            <a:r>
              <a:t>Look at Opportunities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71600" y="61264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Arial"/>
              </a:defRPr>
            </a:pPr>
            <a:r>
              <a:t>SPAN Matrix — opportunity selection</a:t>
            </a:r>
          </a:p>
        </p:txBody>
      </p:sp>
      <p:sp>
        <p:nvSpPr>
          <p:cNvPr id="38" name="Oval 37"/>
          <p:cNvSpPr/>
          <p:nvPr/>
        </p:nvSpPr>
        <p:spPr>
          <a:xfrm>
            <a:off x="731520" y="6492240"/>
            <a:ext cx="457200" cy="457200"/>
          </a:xfrm>
          <a:prstGeom prst="ellipse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31520" y="656539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08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371600" y="651052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Arial"/>
              </a:defRPr>
            </a:pPr>
            <a:r>
              <a:t>Summary &amp; Provenance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371600" y="67665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Arial"/>
              </a:defRPr>
            </a:pPr>
            <a:r>
              <a:t>Conclusions and data sources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Data Quality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DATA QUALITY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4630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Total Data Points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830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20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37160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14630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High Confidence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17830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214884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0000"/>
                </a:solidFill>
                <a:latin typeface="Arial"/>
              </a:defRPr>
            </a:pPr>
            <a:r>
              <a:t>0%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0" y="137160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80760" y="14630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Medium Confidence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80760" y="17830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86800" y="137160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23960" y="14630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Low/Estimated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23960" y="17830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20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292608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Arial"/>
              </a:defRPr>
            </a:pPr>
            <a:r>
              <a:t>Unique Sources: 0</a:t>
            </a:r>
            <a:br/>
            <a:r>
              <a:t>Data Conflicts: 0</a:t>
            </a:r>
            <a:br/>
            <a:r>
              <a:t>Coverage: Partial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20 data points tracked, 0 high-confidence (0%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2011680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Trends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51760" y="137160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Macro environment: Favorable. Key opportunities: Regulatory Environment, National Digital Strategy. Key risks: Regulatory Environment, Fiber Broadband Penetration Industry is in late growth phase. (+4.8% YoY (CQ2_2025 -&gt; CQ4_2025)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920240"/>
            <a:ext cx="2011680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0116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Market/Customer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51760" y="201168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Cyprus telecom market totals EUR 153.0M in quarterly revenue; competitive strengths in Performance; gaps in Assurances; Market presents a balanced mix of opportunities and challenges.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560320"/>
            <a:ext cx="2011680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6517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Competition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51760" y="265176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In a 3-player market with medium competition intensity, Cyta leads with 69% revenue share. Target operator holds 22% share. Strongest competitive force: Existing Competitors.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200400"/>
            <a:ext cx="2011680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2918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Self Assessment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51760" y="329184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Ranked #2 of 3 operators in market; revenue EUR 33.0M; EBITDA margin 39.4%; stable but facing challenges; key strength: Digital Experience; key challenge: Distribution; Management outlook: Epic is #1 mobile network in speed tests (Ookla). 5G pioneer since Jul 2021. Growing subscriber base challenging Cyta's dominance. NJJ/Monaco Telecom ownership providing investment commitment.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840480"/>
            <a:ext cx="2011680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931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SWOT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51760" y="393192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SWOT analysis identifies 7 strengths, 6 weaknesses, 3 opportunities, and 4 threats. The recommended strategic posture is defensive (ST-dominant).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480560"/>
            <a:ext cx="2011680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45720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Opportunities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51760" y="457200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SPAN matrix positions 24 opportunities: 10 grow/invest, 6 acquire skills, 4 harvest, 4 avoid/exit. Focus resources on the 10 grow/invest items for maximum strategic impact.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Five Looks analysis completed — see details in following sections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01 Look at Trends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CDC"/>
                </a:solidFill>
                <a:latin typeface="Arial"/>
              </a:defRPr>
            </a:pPr>
            <a:r>
              <a:t>PEST Framework — Macro Environment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PEST Analysis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MACRO ENVIRONMENT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6</a:t>
            </a:r>
          </a:p>
        </p:txBody>
      </p:sp>
      <p:pic>
        <p:nvPicPr>
          <p:cNvPr id="6" name="Picture 5" descr="pest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10972800" cy="43891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Macro environment: Favorable. Key opportunities: Regulatory Environment, National Digital Strategy. Key risks: Regulatory Environment, Fiber Broadband Penetration.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Industry Environment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INDUSTRY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7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Market Size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EUR 0.2B (quarterly, CQ4_2025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Growth Rate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+4.8% YoY (CQ2_2025 -&gt; CQ4_2025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807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Concentration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CR4 = 100% (Cyta: 69.3%, Epic Cyprus: 21.6%, PrimeTel: 9.2%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239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Lifecycle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239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late_growth</a:t>
            </a:r>
          </a:p>
        </p:txBody>
      </p:sp>
      <p:pic>
        <p:nvPicPr>
          <p:cNvPr id="18" name="Picture 17" descr="pest_factor_d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651760"/>
            <a:ext cx="5486400" cy="283464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943600" y="265176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Arial"/>
              </a:defRPr>
            </a:pPr>
            <a:r>
              <a:t>• New Business Models: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Arial"/>
              </a:defRPr>
            </a:pPr>
            <a:r>
              <a:t>• FWA (Fixed Wireless Access) as fiber alternative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Arial"/>
              </a:defRPr>
            </a:pPr>
            <a:r>
              <a:t>• Network-as-a-Service for enterprise verticals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Arial"/>
              </a:defRPr>
            </a:pPr>
            <a:r>
              <a:t>• Wholesale/MVNO partnerships for coverage monetization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Arial"/>
              </a:defRPr>
            </a:pPr>
            <a:r>
              <a:t>• Technology Revolution: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Arial"/>
              </a:defRPr>
            </a:pPr>
            <a:r>
              <a:t>• 5G SA enabling network slicing and enterprise services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Arial"/>
              </a:defRPr>
            </a:pPr>
            <a:r>
              <a:t>• AI/ML for network optimization and customer experience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Arial"/>
              </a:defRPr>
            </a:pPr>
            <a:r>
              <a:t>• Open RAN for vendor diversification and cost reduction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Macro environment: Favorable. Key opportunities: Regulatory Environment, National Digital Strategy. Key risks: Regulatory Environment, Fiber Broadband Penetration Industry is in late growth phase. (+4.8% YoY (CQ2_2025 -&gt; CQ4_2025)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Value Transfer Trends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VALUE MIGRATION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Arial"/>
              </a:defRPr>
            </a:pPr>
            <a:r>
              <a:t>• Value shifting from voice/SMS to data and digital services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Arial"/>
              </a:defRPr>
            </a:pPr>
            <a:r>
              <a:t>• B2B/ICT growing faster than consumer segment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Arial"/>
              </a:defRPr>
            </a:pPr>
            <a:r>
              <a:t>• Fiber displacing copper and cable broadband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Macro environment: Favorable. Key opportunities: Regulatory Environment, National Digital Strategy. Key risks: Regulatory Environment, Fiber Broadband Penetration Industry is in late growth phase. (+4.8% YoY (CQ2_2025 -&gt; CQ4_2025)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02 Look at Market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CDC"/>
                </a:solidFill>
                <a:latin typeface="Arial"/>
              </a:defRPr>
            </a:pPr>
            <a:r>
              <a:t>$APPEALS — Market Changes &amp; Customer Needs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Market Change Panorama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MARKET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10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Total Revenue (€M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153.0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Mobile Subs (K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1,442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807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Broadband Subs (K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302.0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239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Operators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239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3</a:t>
            </a:r>
          </a:p>
        </p:txBody>
      </p:sp>
      <p:pic>
        <p:nvPicPr>
          <p:cNvPr id="18" name="Picture 17" descr="market_sh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2560320"/>
            <a:ext cx="5486400" cy="292608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57200" y="27432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366"/>
                </a:solidFill>
                <a:latin typeface="Arial"/>
              </a:defRPr>
            </a:pPr>
            <a:r>
              <a:t>Market Changes: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01752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Epic Cyprus revenue growth 10.0% YoY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PrimeTel revenue growth 7.7% YoY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Cyprus telecom market totals EUR 153.0M in quarterly revenue; competitive strengths in Performance; gaps in Assurances; Market presents a balanced mix of opportunities and challenges.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Customer Segments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SEGMENTATION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11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5943600" cy="77724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366"/>
                </a:solidFill>
                <a:latin typeface="Arial"/>
              </a:defRPr>
            </a:pPr>
            <a:r>
              <a:t>Consumer Urban Connected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600200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Trend: stable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83080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Needs: Faster and more affordable fiber broadband, Seamless converged fixed-mobile bundles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148840"/>
            <a:ext cx="5943600" cy="77724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1945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366"/>
                </a:solidFill>
                <a:latin typeface="Arial"/>
              </a:defRPr>
            </a:pPr>
            <a:r>
              <a:t>Consumer Price-Sensitive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468880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Size: ~0.4M subscribers | Trend: shrinking | Our Share: ~33% of prepaid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651760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Needs: More affordable unlimited mobile data plans, Transparent pricing without hidden fees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017520"/>
            <a:ext cx="5943600" cy="77724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0632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366"/>
                </a:solidFill>
                <a:latin typeface="Arial"/>
              </a:defRPr>
            </a:pPr>
            <a:r>
              <a:t>Tourist / Seasonal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337560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Trend: stable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520440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Needs: Easy tourist SIM activation and eSIM support, Short-term data-heavy plans for visitors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886200"/>
            <a:ext cx="5943600" cy="77724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9319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366"/>
                </a:solidFill>
                <a:latin typeface="Arial"/>
              </a:defRPr>
            </a:pPr>
            <a:r>
              <a:t>Enterprise &amp; Government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206240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Trend: stable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389120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Needs: Managed ICT services for growing Cyprus business sector, Cloud and cybersecurity solutions</a:t>
            </a:r>
          </a:p>
        </p:txBody>
      </p:sp>
      <p:pic>
        <p:nvPicPr>
          <p:cNvPr id="22" name="Picture 21" descr="appeals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188720"/>
            <a:ext cx="5029200" cy="4389120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Cyprus telecom market totals EUR 153.0M in quarterly revenue; competitive strengths in Performance; gaps in Assurances; Market presents a balanced mix of opportunities and challenges.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$APPEALS 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CUSTOMER NEEDS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12</a:t>
            </a:r>
          </a:p>
        </p:txBody>
      </p:sp>
      <p:pic>
        <p:nvPicPr>
          <p:cNvPr id="6" name="Picture 5" descr="appeals_rad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10515600" cy="43891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Cyprus telecom market totals EUR 153.0M in quarterly revenue; competitive strengths in Performance; gaps in Assurances; Market presents a balanced mix of opportunities and challenges.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Customer Value Migration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VALUE MIGRATION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Arial"/>
              </a:defRPr>
            </a:pPr>
            <a:r>
              <a:t>Value migration trending upward: customers willing to pay more for premium connectivity and convergent bundles. Focus on upselling and cross-selling opportunities.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004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8000"/>
                </a:solidFill>
                <a:latin typeface="Arial"/>
              </a:defRPr>
            </a:pPr>
            <a:r>
              <a:t>Opportunities: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47472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Epic Cyprus revenue growth 10.0% YoY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32004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80000"/>
                </a:solidFill>
                <a:latin typeface="Arial"/>
              </a:defRPr>
            </a:pPr>
            <a:r>
              <a:t>Threats: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347472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PrimeTel revenue growth 7.7% YoY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Cyprus telecom market totals EUR 153.0M in quarterly revenue; competitive strengths in Performance; gaps in Assurances; Market presents a balanced mix of opportunities and challenges.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Tariff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CDC"/>
                </a:solidFill>
                <a:latin typeface="Arial"/>
              </a:defRPr>
            </a:pPr>
            <a:r>
              <a:t>Mobile, Fixed &amp; Convergence Pricing Landscape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Fixed &amp; Convergence Pricing Landscape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DSL / CABLE / FIBER / FMC BUNDLES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15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Fixed and convergence pricing overview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03 Look at Competition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CDC"/>
                </a:solidFill>
                <a:latin typeface="Arial"/>
              </a:defRPr>
            </a:pPr>
            <a:r>
              <a:t>Porter's Five Forces — Competitive Landscape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Porter's Five Forces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COMPETITIVE FORCES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17</a:t>
            </a:r>
          </a:p>
        </p:txBody>
      </p:sp>
      <p:pic>
        <p:nvPicPr>
          <p:cNvPr id="6" name="Picture 5" descr="porter_for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1097280"/>
            <a:ext cx="6400800" cy="4572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3716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366"/>
                </a:solidFill>
                <a:latin typeface="Arial"/>
              </a:defRPr>
            </a:pPr>
            <a:r>
              <a:t>Overall Intensity: MEDIUM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In a 3-player market with medium competition intensity, Cyta leads with 69% revenue share. Target operator holds 22% share. Strongest competitive force: Existing Competitors.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Competitor Analysis: Primetel 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COMPETITOR DEEP DIVE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18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Revenue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€14M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5740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8000"/>
                </a:solidFill>
                <a:latin typeface="Arial"/>
              </a:defRPr>
            </a:pPr>
            <a:r>
              <a:t>+8.3% YoY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375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EBITDA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€4M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807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Margin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807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28.6%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868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239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Capex/Rev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239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21.4%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25603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8000"/>
                </a:solidFill>
                <a:latin typeface="Arial"/>
              </a:defRPr>
            </a:pPr>
            <a:r>
              <a:t>Strengths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283464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Price Competitiveness: score 78 (market avg 72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0" y="25603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80000"/>
                </a:solidFill>
                <a:latin typeface="Arial"/>
              </a:defRPr>
            </a:pPr>
            <a:r>
              <a:t>Weaknesses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0" y="283464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Brand Strength: score 55 (market avg 72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Distribution: score 55 (market avg 72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Enterprise Solutions: score 45 (market avg 63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Innovation: score 60 (market avg 70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Strategy: Revenue-led profitable growth; subscriber acquisition focus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Competitor analysis: Primetel Cy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Competitor Analysis: Cyta 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COMPETITOR DEEP DIVE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19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Revenue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€106M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5740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8000"/>
                </a:solidFill>
                <a:latin typeface="Arial"/>
              </a:defRPr>
            </a:pPr>
            <a:r>
              <a:t>+4.2% YoY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375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EBITDA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€22M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807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Margin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807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20.8%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868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239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Capex/Rev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239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25.5%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25603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8000"/>
                </a:solidFill>
                <a:latin typeface="Arial"/>
              </a:defRPr>
            </a:pPr>
            <a:r>
              <a:t>Strengths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283464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Brand Strength: score 88 (market avg 72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Distribution: score 92 (market avg 72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Enterprise Solutions: score 88 (market avg 63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Network Coverage: score 98 (market avg 82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0" y="25603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80000"/>
                </a:solidFill>
                <a:latin typeface="Arial"/>
              </a:defRPr>
            </a:pPr>
            <a:r>
              <a:t>Weaknesses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0" y="283464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Digital Experience: score 65 (market avg 73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Innovation: score 62 (market avg 70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Price Competitiveness: score 55 (market avg 72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Strategy: Revenue-led profitable growth; subscriber acquisition focus; strong B2B/enterprise push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Competitor analysis: Cyta Cy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Competitive Landscape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COMPETITION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20</a:t>
            </a:r>
          </a:p>
        </p:txBody>
      </p:sp>
      <p:pic>
        <p:nvPicPr>
          <p:cNvPr id="6" name="Picture 5" descr="comp_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10972800" cy="41148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In a 3-player market with medium competition intensity, Cyta leads with 69% revenue share. Target operator holds 22% share. Strongest competitive force: Existing Competitors.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Gap Analysis: Epic Cy vs Cyta 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COMPETITIVE GAP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21</a:t>
            </a:r>
          </a:p>
        </p:txBody>
      </p:sp>
      <p:pic>
        <p:nvPicPr>
          <p:cNvPr id="6" name="Picture 5" descr="gap_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10972800" cy="43891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Gap analysis vs market leader Cyta Cy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New Entrants Threat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MARKET ENTRY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10972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Arial"/>
              </a:defRPr>
            </a:pPr>
            <a:r>
              <a:t>• Entry barriers: High barriers: spectrum licensing, massive capex for network build, regulatory approvals, established brand loyalty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New entrants threat level: low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04 Look at Self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CDC"/>
                </a:solidFill>
                <a:latin typeface="Arial"/>
              </a:defRPr>
            </a:pPr>
            <a:r>
              <a:t>BMC + Capability Assessment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Operating Health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FINANCIAL HEALTH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24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Revenue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€33M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5740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8000"/>
                </a:solidFill>
                <a:latin typeface="Arial"/>
              </a:defRPr>
            </a:pPr>
            <a:r>
              <a:t>+10.0% YoY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375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EBITDA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€13M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37560" y="205740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8000"/>
                </a:solidFill>
                <a:latin typeface="Arial"/>
              </a:defRPr>
            </a:pPr>
            <a:r>
              <a:t>+8.3% YoY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807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EBITDA Margin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807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39.4%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6868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239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Capex/Rev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24.2%</a:t>
            </a:r>
          </a:p>
        </p:txBody>
      </p:sp>
      <p:pic>
        <p:nvPicPr>
          <p:cNvPr id="20" name="Picture 19" descr="revenue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651760"/>
            <a:ext cx="5486400" cy="283464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365760" y="22860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80"/>
                </a:solidFill>
                <a:latin typeface="Arial"/>
              </a:defRPr>
            </a:pPr>
            <a:r>
              <a:t>CAGR: +9.8% | Accelerating Growth</a:t>
            </a:r>
          </a:p>
        </p:txBody>
      </p:sp>
      <p:pic>
        <p:nvPicPr>
          <p:cNvPr id="22" name="Picture 21" descr="revenue_breakdow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2651760"/>
            <a:ext cx="5760720" cy="2834640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Ranked #2 of 3 operators in market; revenue EUR 33.0M; EBITDA margin 39.4%; stable but facing challenges; key strength: Digital Experience; key challenge: Distribution; Management outlook: Epic is #1 mobile network in speed tests (Ookla). 5G pioneer since Jul 2021. Growing subscriber base challenging Cyta's dominance. NJJ/Monaco Telecom ownership providing investment commitment.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Market Share Evolution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REVENUE SHARE TREND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25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274320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46304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Cyta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830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69.3% #1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4884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0000"/>
                </a:solidFill>
                <a:latin typeface="Arial"/>
              </a:defRPr>
            </a:pPr>
            <a:r>
              <a:t>-1.3pp losing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83280" y="1371600"/>
            <a:ext cx="274320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20440" y="146304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Epic Cyprus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40" y="17830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21.6% #2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214884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8000"/>
                </a:solidFill>
                <a:latin typeface="Arial"/>
              </a:defRPr>
            </a:pPr>
            <a:r>
              <a:t>+1.0pp gaining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1371600"/>
            <a:ext cx="274320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146304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PrimeTel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17830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9.2% #3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214884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8000"/>
                </a:solidFill>
                <a:latin typeface="Arial"/>
              </a:defRPr>
            </a:pPr>
            <a:r>
              <a:t>+0.3pp stable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2926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Market Concentration: HHI 5,349 (Highly Concentrated) | CR3: 100.0% | Trend: Fragmenting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4747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Subscriber share: Mobile: 35.0% (+0.6pp) | Broadband: 18.2% (+3.1pp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Revenue share: 21.6% (#2); gaining (+1.0pp); market is highly concentrated (HHI 5,349); fragmenting.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Momentum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MULTI-QUARTER TREND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26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2743200" cy="12801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46304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Revenue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830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+9.8% CAGR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4884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0000"/>
                </a:solidFill>
                <a:latin typeface="Arial"/>
              </a:defRPr>
            </a:pPr>
            <a:r>
              <a:t>Accelerating Growth (59/100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83280" y="1371600"/>
            <a:ext cx="2743200" cy="12801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20440" y="146304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EBITDA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40" y="17830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+16.2% CAGR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214884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0000"/>
                </a:solidFill>
                <a:latin typeface="Arial"/>
              </a:defRPr>
            </a:pPr>
            <a:r>
              <a:t>Stabilizing (15/100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1371600"/>
            <a:ext cx="2743200" cy="12801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146304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Margin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17830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+5.8% CAGR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214884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0000"/>
                </a:solidFill>
                <a:latin typeface="Arial"/>
              </a:defRPr>
            </a:pPr>
            <a:r>
              <a:t>Decelerating Growth (9/100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Dominant momentum: Accelerating Growth — based on 3 KPI trend analyses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Revenue Composition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SEGMENT REVENUE MIX OVER 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27</a:t>
            </a:r>
          </a:p>
        </p:txBody>
      </p:sp>
      <p:pic>
        <p:nvPicPr>
          <p:cNvPr id="6" name="Picture 5" descr="revenue_composition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10972800" cy="41148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Growing: Mobile, Fixed Broadband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Revenue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COMPETITIVE BENCHMARKING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28</a:t>
            </a:r>
          </a:p>
        </p:txBody>
      </p:sp>
      <p:pic>
        <p:nvPicPr>
          <p:cNvPr id="6" name="Picture 5" descr="revenue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5760720" cy="4389120"/>
          </a:xfrm>
          <a:prstGeom prst="rect">
            <a:avLst/>
          </a:prstGeom>
        </p:spPr>
      </p:pic>
      <p:pic>
        <p:nvPicPr>
          <p:cNvPr id="7" name="Picture 6" descr="margin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188720"/>
            <a:ext cx="5486400" cy="438912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Revenue and margin benchmarking across operators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Segment Analysis: Mobile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SEGMENT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29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Service Revenue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€24M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Service Growth Pct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9.1%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807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Total 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€505M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239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Postpaid 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239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€335M</a:t>
            </a:r>
          </a:p>
        </p:txBody>
      </p:sp>
      <p:pic>
        <p:nvPicPr>
          <p:cNvPr id="18" name="Picture 17" descr="segment_0_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2560320"/>
            <a:ext cx="5486400" cy="292608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57200" y="2560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Health: STRONG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292608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revenue: improving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subscribers: stable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arpu: improving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Epic is #1 mobile network in speed tests (Ookla). 5G pioneer since Jul 2021. Growing subscriber base challenging Cyta's dominance. NJJ/Monaco Telecom ownership providing investment commitment.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FTTH rollout funded by EIB EUR 19M. Growing broadband subscriber base. Mobile-first evolving toward convergence to compete with Cyta's fixed-mobile bundles.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revenue increased 4.3% QoQ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Mobile service revenue at 24.0M; up 9.1% YoY; ARPU 16.5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Segment Analysis: Fixed Broadband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SEGMENT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30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Service Revenue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€5M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Service Growth Pct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25.0%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807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Total 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55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239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Net Adds 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239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3</a:t>
            </a:r>
          </a:p>
        </p:txBody>
      </p:sp>
      <p:pic>
        <p:nvPicPr>
          <p:cNvPr id="18" name="Picture 17" descr="segment_1_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2560320"/>
            <a:ext cx="5486400" cy="292608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57200" y="2560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Health: STABLE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292608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revenue: stable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subscribers: improving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arpu: stable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FTTH rollout funded by EIB EUR 19M. Growing broadband subscriber base. Mobile-first evolving toward convergence to compete with Cyta's fixed-mobile bundles.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subscribers increased 5.8% QoQ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Fixed service revenue 5.0M; growth +25.0% YoY; Fiber subs 40K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Segment Analysis: B2B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SEGMENT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31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Revenue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€2M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Growth Pct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None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807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Customers 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239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Share Of Revenue Pct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239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6.1%</a:t>
            </a:r>
          </a:p>
        </p:txBody>
      </p:sp>
      <p:pic>
        <p:nvPicPr>
          <p:cNvPr id="18" name="Picture 17" descr="segment_2_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2560320"/>
            <a:ext cx="5486400" cy="292608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57200" y="2560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Health: STABLE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292608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revenue: stable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customers: stable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B2B revenue 2.0M; 6.1% of total revenue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Segment Analysis: TV/Convergence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SEGMENT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32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Revenue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None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Total 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807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Net Adds 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None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239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Fmc Total 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239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None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2560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Health: STABLE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292608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revenue: stable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subscribers: stable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fmc_subscribers: stable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FTTH rollout funded by EIB EUR 19M. Growing broadband subscriber base. Mobile-first evolving toward convergence to compete with Cyta's fixed-mobile bundles.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TV subscribers 0K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Network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INFRASTRUCTURE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33</a:t>
            </a:r>
          </a:p>
        </p:txBody>
      </p:sp>
      <p:pic>
        <p:nvPicPr>
          <p:cNvPr id="6" name="Picture 5" descr="coverage_gaug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10972800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36576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Technology Mix: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93192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Mobile Vendor: Huawei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Spectrum Mhz: 200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5G Launched: Jul 2021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Fiber Status: EIB EUR 19M FTTH financing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365760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Arial"/>
              </a:defRPr>
            </a:pPr>
            <a:r>
              <a:t>Investment Direction: stable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Network infrastructure and coverage assessment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Business Model Canvas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BMC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34</a:t>
            </a:r>
          </a:p>
        </p:txBody>
      </p:sp>
      <p:pic>
        <p:nvPicPr>
          <p:cNvPr id="6" name="Picture 5" descr="bmc_canv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11430000" cy="448056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Business model canvas overview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Organization &amp; Talent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PEOPLE &amp; CULTURE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35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Employees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585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C Suite Count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807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Avg Tenure Years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6.1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239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Key Leaders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239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['Marios Kalochoritis (CEO)']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26517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Organization Culture: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297180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Stable leadership team (avg tenure &gt;3 years); Growth-oriented strategic posture; High-investment posture; Private-sector agility. Monaco Telecom management. Innovation-focused. Digital-first approach.</a:t>
            </a:r>
          </a:p>
        </p:txBody>
      </p:sp>
      <p:pic>
        <p:nvPicPr>
          <p:cNvPr id="20" name="Picture 19" descr="talent_sco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2651760"/>
            <a:ext cx="5486400" cy="27432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457200" y="45720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Leadership Changes: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846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Marios Kalochoritis: (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Organization and talent assessment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Strengths, Weaknesses &amp; Exposure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SELF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36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8000"/>
                </a:solidFill>
                <a:latin typeface="Arial"/>
              </a:defRPr>
            </a:pPr>
            <a:r>
              <a:t>Strengths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45920"/>
            <a:ext cx="3474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Digital Experience: score 85 (market avg 73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Innovation: score 88 (market avg 70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Network Quality: score 90 (market avg 81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Price Competitiveness: score 82 (market avg 72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Strong EBITDA margin at 39.4%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Revenue on growth trajectory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128016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80000"/>
                </a:solidFill>
                <a:latin typeface="Arial"/>
              </a:defRPr>
            </a:pPr>
            <a:r>
              <a:t>Weaknesses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1645920"/>
            <a:ext cx="3474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Distribution: score 68 (market avg 72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Enterprise Solutions: score 55 (market avg 63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Network Coverage: score 78 (market avg 82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5G coverage gap at only 60.0%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128016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A500"/>
                </a:solidFill>
                <a:latin typeface="Arial"/>
              </a:defRPr>
            </a:pPr>
            <a:r>
              <a:t>Exposure Points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1645920"/>
            <a:ext cx="3474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Limited fixed broadband infrastructure vs Cyta's national network: Cannot offer full convergent bundles across Cyprus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Second-largest mobile operator competing against state-backed Cyta: Scale disadvantage in a small market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Ranked #2 of 3 operators in market; revenue EUR 33.0M; EBITDA margin 39.4%; stable but facing challenges; key strength: Digital Experience; key challenge: Distribution; Management outlook: Epic is #1 mobile network in speed tests (Ookla). 5G pioneer since Jul 2021. Growing subscriber base challenging Cyta's dominance. NJJ/Monaco Telecom ownership providing investment commitment.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SWOT Synthesis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CDC"/>
                </a:solidFill>
                <a:latin typeface="Arial"/>
              </a:defRPr>
            </a:pPr>
            <a:r>
              <a:t>Strengths, Weaknesses, Opportunities &amp; Threats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SWOT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STRATEGIC SYNTHESIS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38</a:t>
            </a:r>
          </a:p>
        </p:txBody>
      </p:sp>
      <p:pic>
        <p:nvPicPr>
          <p:cNvPr id="6" name="Picture 5" descr="swot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6858000" cy="44805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0" y="128016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8000"/>
                </a:solidFill>
                <a:latin typeface="Arial"/>
              </a:defRPr>
            </a:pPr>
            <a:r>
              <a:t>SO: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128016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rial"/>
              </a:defRPr>
            </a:pPr>
            <a:r>
              <a:t>Leverage 'Digital Experience: score 85 (market avg 73)' t...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192024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4682B4"/>
                </a:solidFill>
                <a:latin typeface="Arial"/>
              </a:defRPr>
            </a:pPr>
            <a:r>
              <a:t>WO: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0" y="192024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rial"/>
              </a:defRPr>
            </a:pPr>
            <a:r>
              <a:t>Address weakness 'Distribution: score 68 (market avg 72)'...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256032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A500"/>
                </a:solidFill>
                <a:latin typeface="Arial"/>
              </a:defRPr>
            </a:pPr>
            <a:r>
              <a:t>ST: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256032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rial"/>
              </a:defRPr>
            </a:pPr>
            <a:r>
              <a:t>Use strength 'Digital Experience: score 85 (market avg 73...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320040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80000"/>
                </a:solidFill>
                <a:latin typeface="Arial"/>
              </a:defRPr>
            </a:pPr>
            <a:r>
              <a:t>WT: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320040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rial"/>
              </a:defRPr>
            </a:pPr>
            <a:r>
              <a:t>Mitigate weakness 'Distribution: score 68 (market avg 72)...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SWOT analysis identifies 7 strengths, 6 weaknesses, 3 opportunities, and 4 threats. The recommended strategic posture is defensive (ST-dominant).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05 Look at Opportunities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CDC"/>
                </a:solidFill>
                <a:latin typeface="Arial"/>
              </a:defRPr>
            </a:pPr>
            <a:r>
              <a:t>SPAN Matrix — Opportunity Selection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SPAN Matrix — Opportunity Positioning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OPPORTUNITY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40</a:t>
            </a:r>
          </a:p>
        </p:txBody>
      </p:sp>
      <p:pic>
        <p:nvPicPr>
          <p:cNvPr id="6" name="Picture 5" descr="span_bub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10515600" cy="43891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SPAN matrix positions 24 opportunities: 10 grow/invest, 6 acquire skills, 4 harvest, 4 avoid/exit. Focus resources on the 10 grow/invest items for maximum strategic impact.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Opportunity Priority Ranking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PRIORITIES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41</a:t>
            </a:r>
          </a:p>
        </p:txBody>
      </p:sp>
      <p:pic>
        <p:nvPicPr>
          <p:cNvPr id="6" name="Picture 5" descr="priority_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10972800" cy="41148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SPAN matrix positions 24 opportunities: 10 grow/invest, 6 acquire skills, 4 harvest, 4 avoid/exit. Focus resources on the 10 grow/invest items for maximum strategic impact.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Opportunity Details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DEEP DIVE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42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10972800" cy="9144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371600"/>
            <a:ext cx="457200" cy="3200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38988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P0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13258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366"/>
                </a:solidFill>
                <a:latin typeface="Arial"/>
              </a:defRPr>
            </a:pPr>
            <a:r>
              <a:t>SO-1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160020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Market: N/A | Window: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18288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Leverage 'Digital Experience: score 85 (market avg 73)' to capture the opportunity of 'Regulatory Environment: Compliance requirements and spectrum policies directly affect epic_cy'.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331720"/>
            <a:ext cx="10972800" cy="9144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2423160"/>
            <a:ext cx="457200" cy="3200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44144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P0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23774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366"/>
                </a:solidFill>
                <a:latin typeface="Arial"/>
              </a:defRPr>
            </a:pPr>
            <a:r>
              <a:t>SO-2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265176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Market: N/A | Window: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28803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Leverage 'Innovation: score 88 (market avg 70)' to capture the opportunity of 'National Digital Strategy: Fiber/5G coverage mandates may require epic_cy investment but also enable subsidy access'.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383280"/>
            <a:ext cx="10972800" cy="9144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3474720"/>
            <a:ext cx="457200" cy="3200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349300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P0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34290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366"/>
                </a:solidFill>
                <a:latin typeface="Arial"/>
              </a:defRPr>
            </a:pPr>
            <a:r>
              <a:t>SO-3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370332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Market: N/A | Window: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" y="3931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Leverage 'Network Quality: score 90 (market avg 81)' to capture the opportunity of 'Epic Cyprus revenue growth 10.0% YoY'.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434840"/>
            <a:ext cx="10972800" cy="9144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" y="4526280"/>
            <a:ext cx="457200" cy="3200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454456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P0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88720" y="44805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366"/>
                </a:solidFill>
                <a:latin typeface="Arial"/>
              </a:defRPr>
            </a:pPr>
            <a:r>
              <a:t>Epic Cyprus revenue growth 10.0% YoY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88720" y="475488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Market: N/A | Window: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88720" y="49834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Epic Cyprus revenue growth 10.0% YoY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SPAN matrix positions 24 opportunities: 10 grow/invest, 6 acquire skills, 4 harvest, 4 avoid/exit. Focus resources on the 10 grow/invest items for maximum strategic impact.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Three Decisions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CDC"/>
                </a:solidFill>
                <a:latin typeface="Arial"/>
              </a:defRPr>
            </a:pPr>
            <a:r>
              <a:t>Strategy — Key Tasks — Execution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Decision 1: Define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DEFENSIVE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44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682B4"/>
                </a:solidFill>
                <a:latin typeface="Arial"/>
              </a:defRPr>
            </a:pPr>
            <a:r>
              <a:t>As The Squeezed Middle: stabilize core business, then selectively invest for turnaround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920240"/>
            <a:ext cx="2743200" cy="32004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93192" y="1993392"/>
            <a:ext cx="411480" cy="2560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8" y="2002536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rial"/>
              </a:defRPr>
            </a:pPr>
            <a:r>
              <a:t>P0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3317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Arial"/>
              </a:defRPr>
            </a:pPr>
            <a:r>
              <a:t>Growth Strategy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2697480"/>
            <a:ext cx="2560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Arial"/>
              </a:defRPr>
            </a:pPr>
            <a:r>
              <a:t>Close the gap to market leader — accelerate Mobile, Fixed Broadband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402336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F8C8D"/>
                </a:solidFill>
                <a:latin typeface="Arial"/>
              </a:defRPr>
            </a:pPr>
            <a:r>
              <a:t>- Gain 1-2pp revenue share</a:t>
            </a:r>
            <a:br/>
            <a:r>
              <a:t>- Grow Mobile, Fixed Broadband double-digit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0" y="1920240"/>
            <a:ext cx="2743200" cy="320040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73552" y="1993392"/>
            <a:ext cx="411480" cy="2560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10128" y="2002536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rial"/>
              </a:defRPr>
            </a:pPr>
            <a:r>
              <a:t>P0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0" y="23317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Arial"/>
              </a:defRPr>
            </a:pPr>
            <a:r>
              <a:t>Competitive Strategy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91840" y="2697480"/>
            <a:ext cx="2560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Arial"/>
              </a:defRPr>
            </a:pPr>
            <a:r>
              <a:t>Shore up competitive position — address: Distribution: score 68 (market avg 72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91840" y="402336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F8C8D"/>
                </a:solidFill>
                <a:latin typeface="Arial"/>
              </a:defRPr>
            </a:pPr>
            <a:r>
              <a:t>- Close Distribution: score 68 (market avg 72) gap within 12 months</a:t>
            </a:r>
            <a:br/>
            <a:r>
              <a:t>- Reduce customer churn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80760" y="1920240"/>
            <a:ext cx="2743200" cy="32004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53912" y="1993392"/>
            <a:ext cx="411480" cy="25603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90488" y="2002536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rial"/>
              </a:defRPr>
            </a:pPr>
            <a:r>
              <a:t>P1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72200" y="23317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Arial"/>
              </a:defRPr>
            </a:pPr>
            <a:r>
              <a:t>Transformation Strategy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72200" y="2697480"/>
            <a:ext cx="2560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Arial"/>
              </a:defRPr>
            </a:pPr>
            <a:r>
              <a:t>Accelerate fiber transition — converged network as competitive moat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72200" y="402336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F8C8D"/>
                </a:solidFill>
                <a:latin typeface="Arial"/>
              </a:defRPr>
            </a:pPr>
            <a:r>
              <a:t>- Fiber homepass coverage +20%</a:t>
            </a:r>
            <a:br/>
            <a:r>
              <a:t>- FMC bundle attach rate 50%+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61120" y="1920240"/>
            <a:ext cx="2743200" cy="320040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034272" y="1993392"/>
            <a:ext cx="411480" cy="25603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70848" y="2002536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rial"/>
              </a:defRPr>
            </a:pPr>
            <a:r>
              <a:t>P1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0" y="23317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Arial"/>
              </a:defRPr>
            </a:pPr>
            <a:r>
              <a:t>Customer Strategy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52560" y="2697480"/>
            <a:ext cx="2560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Arial"/>
              </a:defRPr>
            </a:pPr>
            <a:r>
              <a:t>Optimize value extraction in stable segments: B2B, TV/Convergence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2560" y="402336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F8C8D"/>
                </a:solidFill>
                <a:latin typeface="Arial"/>
              </a:defRPr>
            </a:pPr>
            <a:r>
              <a:t>- Upsell rate +10% in B2B, TV/Convergence</a:t>
            </a:r>
            <a:br/>
            <a:r>
              <a:t>- Cross-sell convergence bundles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As The Squeezed Middle, the strategic posture is Defensive. As The Squeezed Middle: stabilize core business, then select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Decision 2: Define Key Tasks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3 P0 (IMMEDIATE), 3 P1 (1-2 YEARS), 1 P2 (3-5 YEARS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45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371600"/>
            <a:ext cx="11338560" cy="548640"/>
          </a:xfrm>
          <a:prstGeom prst="rect">
            <a:avLst/>
          </a:prstGeom>
          <a:solidFill>
            <a:srgbClr val="FDED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508760"/>
            <a:ext cx="411480" cy="2743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1517904"/>
            <a:ext cx="3840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rial"/>
              </a:defRPr>
            </a:pPr>
            <a:r>
              <a:t>P0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517904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980B9"/>
                </a:solidFill>
                <a:latin typeface="Arial"/>
              </a:defRPr>
            </a:pPr>
            <a:r>
              <a:t>Network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03120" y="1444752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C3E50"/>
                </a:solidFill>
                <a:latin typeface="Arial"/>
              </a:defRPr>
            </a:pPr>
            <a:r>
              <a:t>Accelerate Fixed Network Upgrade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3120" y="169164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F8C8D"/>
                </a:solidFill>
                <a:latin typeface="Arial"/>
              </a:defRPr>
            </a:pPr>
            <a:r>
              <a:t>Drive DOCSIS/Fiber rollout to increase homepass and improve quality scores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150876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66C73"/>
                </a:solidFill>
                <a:latin typeface="Arial"/>
              </a:defRPr>
            </a:pPr>
            <a:r>
              <a:t>Homepass coverage +15% | Speed tier upgrades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1965960"/>
            <a:ext cx="11338560" cy="548640"/>
          </a:xfrm>
          <a:prstGeom prst="rect">
            <a:avLst/>
          </a:prstGeom>
          <a:solidFill>
            <a:srgbClr val="FDED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" y="2103120"/>
            <a:ext cx="411480" cy="2743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4048" y="2112264"/>
            <a:ext cx="3840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rial"/>
              </a:defRPr>
            </a:pPr>
            <a:r>
              <a:t>P0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112264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7AE60"/>
                </a:solidFill>
                <a:latin typeface="Arial"/>
              </a:defRPr>
            </a:pPr>
            <a:r>
              <a:t>Business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20" y="2039112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C3E50"/>
                </a:solidFill>
                <a:latin typeface="Arial"/>
              </a:defRPr>
            </a:pPr>
            <a:r>
              <a:t>Accelerate Mobile Growth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03120" y="228600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F8C8D"/>
                </a:solidFill>
                <a:latin typeface="Arial"/>
              </a:defRPr>
            </a:pPr>
            <a:r>
              <a:t>Mobile at €24M showing strong momentum — invest to scale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21031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66C73"/>
                </a:solidFill>
                <a:latin typeface="Arial"/>
              </a:defRPr>
            </a:pPr>
            <a:r>
              <a:t>Mobile revenue +10% YoY | Market share gain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2560320"/>
            <a:ext cx="11338560" cy="548640"/>
          </a:xfrm>
          <a:prstGeom prst="rect">
            <a:avLst/>
          </a:prstGeom>
          <a:solidFill>
            <a:srgbClr val="FDED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5760" y="2697480"/>
            <a:ext cx="411480" cy="2743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4048" y="2706624"/>
            <a:ext cx="3840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rial"/>
              </a:defRPr>
            </a:pPr>
            <a:r>
              <a:t>P0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2706624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7AE60"/>
                </a:solidFill>
                <a:latin typeface="Arial"/>
              </a:defRPr>
            </a:pPr>
            <a:r>
              <a:t>Business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03120" y="2633472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C3E50"/>
                </a:solidFill>
                <a:latin typeface="Arial"/>
              </a:defRPr>
            </a:pPr>
            <a:r>
              <a:t>Accelerate Fixed Broadband Growth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03120" y="288036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F8C8D"/>
                </a:solidFill>
                <a:latin typeface="Arial"/>
              </a:defRPr>
            </a:pPr>
            <a:r>
              <a:t>Fixed Broadband at €5M showing strong momentum — invest to scale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0" y="269748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66C73"/>
                </a:solidFill>
                <a:latin typeface="Arial"/>
              </a:defRPr>
            </a:pPr>
            <a:r>
              <a:t>Fixed Broadband revenue +10% YoY | Market share gain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3154680"/>
            <a:ext cx="11338560" cy="548640"/>
          </a:xfrm>
          <a:prstGeom prst="rect">
            <a:avLst/>
          </a:prstGeom>
          <a:solidFill>
            <a:srgbClr val="FEF5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65760" y="3291840"/>
            <a:ext cx="411480" cy="2743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84048" y="3300984"/>
            <a:ext cx="3840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rial"/>
              </a:defRPr>
            </a:pPr>
            <a:r>
              <a:t>P1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3300984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980B9"/>
                </a:solidFill>
                <a:latin typeface="Arial"/>
              </a:defRPr>
            </a:pPr>
            <a:r>
              <a:t>Network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03120" y="3227832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C3E50"/>
                </a:solidFill>
                <a:latin typeface="Arial"/>
              </a:defRPr>
            </a:pPr>
            <a:r>
              <a:t>5G Coverage Expansion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103120" y="347472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F8C8D"/>
                </a:solidFill>
                <a:latin typeface="Arial"/>
              </a:defRPr>
            </a:pPr>
            <a:r>
              <a:t>Expand 5G population coverage to strengthen mobile competitive position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0" y="32918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66C73"/>
                </a:solidFill>
                <a:latin typeface="Arial"/>
              </a:defRPr>
            </a:pPr>
            <a:r>
              <a:t>5G pop coverage target | 5G attach rate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" y="3749040"/>
            <a:ext cx="11338560" cy="548640"/>
          </a:xfrm>
          <a:prstGeom prst="rect">
            <a:avLst/>
          </a:prstGeom>
          <a:solidFill>
            <a:srgbClr val="FEF5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65760" y="3886200"/>
            <a:ext cx="411480" cy="2743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84048" y="3895344"/>
            <a:ext cx="3840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rial"/>
              </a:defRPr>
            </a:pPr>
            <a:r>
              <a:t>P1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" y="3895344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7AE60"/>
                </a:solidFill>
                <a:latin typeface="Arial"/>
              </a:defRPr>
            </a:pPr>
            <a:r>
              <a:t>Business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103120" y="3822192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C3E50"/>
                </a:solidFill>
                <a:latin typeface="Arial"/>
              </a:defRPr>
            </a:pPr>
            <a:r>
              <a:t>Opportunity Portfolio Execution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103120" y="406908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F8C8D"/>
                </a:solidFill>
                <a:latin typeface="Arial"/>
              </a:defRPr>
            </a:pPr>
            <a:r>
              <a:t>10 grow/invest opportunities identified — establish execution office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0" y="38862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66C73"/>
                </a:solidFill>
                <a:latin typeface="Arial"/>
              </a:defRPr>
            </a:pPr>
            <a:r>
              <a:t>Launch 3+ priority initiatives | Pipeline contribution tracking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74320" y="4343400"/>
            <a:ext cx="11338560" cy="548640"/>
          </a:xfrm>
          <a:prstGeom prst="rect">
            <a:avLst/>
          </a:prstGeom>
          <a:solidFill>
            <a:srgbClr val="FEF5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65760" y="4480560"/>
            <a:ext cx="411480" cy="2743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84048" y="4489704"/>
            <a:ext cx="3840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rial"/>
              </a:defRPr>
            </a:pPr>
            <a:r>
              <a:t>P1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4400" y="4489704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8E44AD"/>
                </a:solidFill>
                <a:latin typeface="Arial"/>
              </a:defRPr>
            </a:pPr>
            <a:r>
              <a:t>Customer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103120" y="4416552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C3E50"/>
                </a:solidFill>
                <a:latin typeface="Arial"/>
              </a:defRPr>
            </a:pPr>
            <a:r>
              <a:t>Customer Experience Enhancement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103120" y="466344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F8C8D"/>
                </a:solidFill>
                <a:latin typeface="Arial"/>
              </a:defRPr>
            </a:pPr>
            <a:r>
              <a:t>Improve digital touchpoints and service resolution to boost NPS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315200" y="448056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66C73"/>
                </a:solidFill>
                <a:latin typeface="Arial"/>
              </a:defRPr>
            </a:pPr>
            <a:r>
              <a:t>NPS +5 points | First-call resolution rate 80%+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74320" y="4937760"/>
            <a:ext cx="11338560" cy="548640"/>
          </a:xfrm>
          <a:prstGeom prst="rect">
            <a:avLst/>
          </a:prstGeom>
          <a:solidFill>
            <a:srgbClr val="EAF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365760" y="5074920"/>
            <a:ext cx="411480" cy="2743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84048" y="5084064"/>
            <a:ext cx="3840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rial"/>
              </a:defRPr>
            </a:pPr>
            <a:r>
              <a:t>P2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14400" y="5084064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67E22"/>
                </a:solidFill>
                <a:latin typeface="Arial"/>
              </a:defRPr>
            </a:pPr>
            <a:r>
              <a:t>Efficiency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103120" y="5010912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C3E50"/>
                </a:solidFill>
                <a:latin typeface="Arial"/>
              </a:defRPr>
            </a:pPr>
            <a:r>
              <a:t>Operational Efficiency &amp; Automation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103120" y="525780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F8C8D"/>
                </a:solidFill>
                <a:latin typeface="Arial"/>
              </a:defRPr>
            </a:pPr>
            <a:r>
              <a:t>EBITDA margin 39.4% — maintain through smart automation and resource reallocatio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315200" y="50749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66C73"/>
                </a:solidFill>
                <a:latin typeface="Arial"/>
              </a:defRPr>
            </a:pPr>
            <a:r>
              <a:t>Process automation 30%+ | Cost-to-serve reduction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7 critical tasks: 3 P0 (immediate), 3 P1 (1-2 years), 1 P2 (3-5 years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Decision 3: Define Execution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QUARTERLY ROADMAP &amp; 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46</a:t>
            </a:r>
          </a:p>
        </p:txBody>
      </p:sp>
      <p:pic>
        <p:nvPicPr>
          <p:cNvPr id="6" name="Picture 5" descr="execution_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11430000" cy="25603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0233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Arial"/>
              </a:defRPr>
            </a:pPr>
            <a:r>
              <a:t>Governance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3891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C3E50"/>
                </a:solidFill>
                <a:latin typeface="Arial"/>
              </a:defRPr>
            </a:pPr>
            <a:r>
              <a:t>- Monthly Progress Review (Monthly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7548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C3E50"/>
                </a:solidFill>
                <a:latin typeface="Arial"/>
              </a:defRPr>
            </a:pPr>
            <a:r>
              <a:t>- Quarterly Strategic Checkpoint (Quarterly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1206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C3E50"/>
                </a:solidFill>
                <a:latin typeface="Arial"/>
              </a:defRPr>
            </a:pPr>
            <a:r>
              <a:t>- Mid-Year Strategic Adjustment (Semi-annual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40233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0392B"/>
                </a:solidFill>
                <a:latin typeface="Arial"/>
              </a:defRPr>
            </a:pPr>
            <a:r>
              <a:t>Strategic Traps to Avoid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43891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0392B"/>
                </a:solidFill>
                <a:latin typeface="Arial"/>
              </a:defRPr>
            </a:pPr>
            <a:r>
              <a:t>x Enter a price war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47548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0392B"/>
                </a:solidFill>
                <a:latin typeface="Arial"/>
              </a:defRPr>
            </a:pPr>
            <a:r>
              <a:t>x Attempt premium repositioning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51206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0392B"/>
                </a:solidFill>
                <a:latin typeface="Arial"/>
              </a:defRPr>
            </a:pPr>
            <a:r>
              <a:t>x Delay core transformation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3035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33333"/>
                </a:solidFill>
                <a:latin typeface="Arial"/>
              </a:defRPr>
            </a:pPr>
            <a:r>
              <a:t>Key Risks &amp; Mitigation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62356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66C73"/>
                </a:solidFill>
                <a:latin typeface="Arial"/>
              </a:defRPr>
            </a:pPr>
            <a:r>
              <a:t>! Resource constraints delay P0 initiatives -- Ring-fence P0 budgets; establish escalation path for blockers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89788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66C73"/>
                </a:solidFill>
                <a:latin typeface="Arial"/>
              </a:defRPr>
            </a:pPr>
            <a:r>
              <a:t>! Macro-economic slowdown reduces consumer spending -- Prepare value-tier offerings; shift mix toward B2B resilience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Execute with discipline: monthly reviews, quarterly checkpoints, annual refresh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Analysis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KEY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47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73152" cy="5486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29844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01 Trends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1298448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Macro environment: Favorable. Key opportunities: Regulatory Environment, National Digital Strategy. Key risks: Regulatory Environment, Fiber Broadband Penetration Industry is in late growth phase. (+4.8% YoY (CQ2_2025 -&gt; CQ4_2025)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920240"/>
            <a:ext cx="73152" cy="5486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93852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02 Market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1938528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Cyprus telecom market totals EUR 153.0M in quarterly revenue; competitive strengths in Performance; gaps in Assurances; Market presents a balanced mix of opportunities and challenges.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560320"/>
            <a:ext cx="73152" cy="5486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57860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03 Competition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2578608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In a 3-player market with medium competition intensity, Cyta leads with 69% revenue share. Target operator holds 22% share. Strongest competitive force: Existing Competitors.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200400"/>
            <a:ext cx="73152" cy="5486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21868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04 Self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3218688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Ranked #2 of 3 operators in market; revenue EUR 33.0M; EBITDA margin 39.4%; stable but facing challenges; key strength: Digital Experience; key challenge: Distribution; Management outlook: Epic is #1 mobile network in speed tests (Ookla). 5G pioneer since Jul 2021. Growing subscriber base challenging Cyta's dominance. NJJ/Monaco Telecom ownership providing investment commitment.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840480"/>
            <a:ext cx="73152" cy="5486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85876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SWOT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3858768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SWOT analysis identifies 7 strengths, 6 weaknesses, 3 opportunities, and 4 threats. The recommended strategic posture is defensive (ST-dominant).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480560"/>
            <a:ext cx="73152" cy="5486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449884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05 Opportunities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6080" y="4498848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SPAN matrix positions 24 opportunities: 10 grow/invest, 6 acquire skills, 4 harvest, 4 avoid/exit. Focus resources on the 10 grow/invest items for maximum strategic impact.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Complete Five Looks analysis — see opportunity priorities for next steps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Data Provenance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SOURCES &amp; METHODOLOGY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48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08080"/>
                </a:solidFill>
                <a:latin typeface="Arial"/>
              </a:defRPr>
            </a:pPr>
            <a:r>
              <a:t>No provenance data recorded for this analysis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All data points are traceable to original sources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Arial"/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657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DCDC"/>
                </a:solidFill>
                <a:latin typeface="Arial"/>
              </a:defRPr>
            </a:pPr>
            <a:r>
              <a:t>BLM Five Looks Strategic Analysis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