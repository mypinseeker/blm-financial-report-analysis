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Default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Tigo Ecuador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Ecuador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2026-02-14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Pricing comparison — mobile, fixed &amp; convergence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64922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565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766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0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20 data points tracked, 0 high-confidence (0%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 Industry is in late growth phase. (+2.5% YoY (CQ2_2025 -&gt; CQ4_2025)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Ecuador telecom market totals USD 1,225M in quarterly revenue; gaps in Assurances, Social/Brand; Market outlook is favorable with more opportunities than threats.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3-player market with medium competition intensity, Claro Ecuador leads with 47% revenue share. Target operator holds 29% share. Strongest competitive force: Substitutes.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3 operators in market; revenue USD 355.0M; EBITDA margin 32.7%; stable but facing challenges; key strength: Innovation; key challenge: Brand Strength; Management outlook: Ecuador integration proceeding on schedule; synergies expected from Millicom LATAM platform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4 strengths, 6 weaknesses, 4 opportunities, and 4 threats. The recommended strategic posture is cautious (WT-dominant).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26 opportunities: 7 grow/invest, 11 acquire skills, 4 harvest, 4 avoid/exit. Focus resources on the 7 grow/invest items for maximum strategic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USD 1.2B (quarterly, CQ4_2025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+2.5% YoY (CQ2_2025 -&gt; 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CR4 = 100% (Claro Ecuador: 47.0%, Tigo Ecuador: 29.0%, CNT Ecuador: 24.0%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late_growth</a:t>
            </a:r>
          </a:p>
        </p:txBody>
      </p:sp>
      <p:pic>
        <p:nvPicPr>
          <p:cNvPr id="18" name="Picture 17" descr="pest_fact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2651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Open RAN for vendor diversification and 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 Industry is in late growth phase. (+2.5% YoY (CQ2_2025 -&gt; CQ4_2025)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 Industry is in late growth phase. (+2.5% YoY (CQ2_2025 -&gt; CQ4_2025)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(€M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1,225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17,700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1,895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</a:t>
            </a:r>
          </a:p>
        </p:txBody>
      </p:sp>
      <p:pic>
        <p:nvPicPr>
          <p:cNvPr id="18" name="Picture 17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Claro Ecuador revenue growth 5.9% YoY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Tigo Ecuador revenue growth 6.0% YoY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Millicom completes acquisition of Telefonica Ecuador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Ecuador telecom market totals USD 1,225M in quarterly revenue; gaps in Assurances, Social/Brand; Market outlook is favorable with more opportunities than threats.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Prepaid Mass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Affordable mobile data packages, Better rural connectivity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Postpaid Urban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Higher speed 4G/LTE service, Convergent fixed-mobile bundles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Enterprise &amp; Government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Cloud connectivity and managed services, Reliable enterprise broadband</a:t>
            </a:r>
          </a:p>
        </p:txBody>
      </p:sp>
      <p:pic>
        <p:nvPicPr>
          <p:cNvPr id="18" name="Picture 17" descr="appeal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Ecuador telecom market totals USD 1,225M in quarterly revenue; gaps in Assurances, Social/Brand; Market outlook is favorable with more opportunities than threats.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CUSTOMER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Ecuador telecom market totals USD 1,225M in quarterly revenue; gaps in Assurances, Social/Brand; Market outlook is favorable with more opportunities than threats.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Value migration trending upward: customers willing to pay more for premium connectivity and convergent bundles. Focus on upselling and cross-selling opportunities.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Tigo Ecuador revenue growth 6.0%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Millicom completes acquisition of Telefonica Ecuador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Threats: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Claro Ecuador revenue growth 5.9% YoY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Ecuador telecom market totals USD 1,225M in quarterly revenue; gaps in Assurances, Social/Brand; Market outlook is favorable with more opportunities than threats.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Mobile, Fixed &amp; Convergence Pricing Landscape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&amp; Convergence 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DSL / CABLE / FIBER / FMC BUNDLES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and convergence pricing overview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3-player market with medium competition intensity, Claro Ecuador leads with 47% revenue share. Target operator holds 29% share. Strongest competitive force: Substitutes.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Cnt 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€294M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+1.4%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€59M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20.1%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18.0%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75 (market avg 68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58 (market avg 65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48 (market avg 59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42 (market avg 57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55 (market avg 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Revenue-led profitable growth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Cnt Ec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Claro 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€576M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+6.0%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€213M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37.0%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17.5%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82 (market avg 65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68 (market avg 59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70 (market avg 57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85 (market avg 73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62 (market avg 68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Revenue-led profitable growth; subscriber acquisition focus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Claro Ec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3-player market with medium competition intensity, Claro Ecuador leads with 47% revenue share. Target operator holds 29% share. Strongest competitive force: Substitutes.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low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€355M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+5.97%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€116M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+7.4%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32.7%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18.0%</a:t>
            </a:r>
          </a:p>
        </p:txBody>
      </p:sp>
      <p:pic>
        <p:nvPicPr>
          <p:cNvPr id="20" name="Picture 19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pic>
        <p:nvPicPr>
          <p:cNvPr id="21" name="Picture 20" descr="revenu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5760720" cy="28346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3 operators in market; revenue USD 355.0M; EBITDA margin 32.7%; stable but facing challenges; key strength: Innovation; key challenge: Brand Strength; Management outlook: Ecuador integration proceeding on schedule; synergies expected from Millicom LATAM platform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Composition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REVENUE MIX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24</a:t>
            </a:r>
          </a:p>
        </p:txBody>
      </p:sp>
      <p:pic>
        <p:nvPicPr>
          <p:cNvPr id="6" name="Picture 5" descr="revenue_compositio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Growing: Mobile, Fixed Broadband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pic>
        <p:nvPicPr>
          <p:cNvPr id="6" name="Picture 5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margi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and margin benchmarking across operators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€236M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7.3%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€5,850M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€1,175M</a:t>
            </a:r>
          </a:p>
        </p:txBody>
      </p:sp>
      <p:pic>
        <p:nvPicPr>
          <p:cNvPr id="18" name="Picture 17" descr="segment_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236.0M; up 7.3% YoY; ARPU 4.0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€81M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5.1%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€490M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10</a:t>
            </a:r>
          </a:p>
        </p:txBody>
      </p:sp>
      <p:pic>
        <p:nvPicPr>
          <p:cNvPr id="18" name="Picture 17" descr="segment_1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 increased 2.1%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81.0M; growth +5.1% YoY; Fiber subs 170K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€18M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5.1%</a:t>
            </a:r>
          </a:p>
        </p:txBody>
      </p:sp>
      <p:pic>
        <p:nvPicPr>
          <p:cNvPr id="18" name="Picture 17" descr="segment_2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 increased 3.6%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18.0M; 5.1% of total revenue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€235M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 increased 2.2% QoQ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TV subscribers 235K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Vendor: Nokia/Ericsson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 Mhz: 110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Core Vendor: Nokia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stable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PEOPLE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2,600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 Suite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Avg Tenure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0.7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Key Leaders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['Carlos Villagomez (CEO)']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Organization Culture: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Leadership in transition (avg tenure &lt;1.5 years); Transitioning from Telefonica culture to Millicom/Tigo operational model; integration-focused management team.</a:t>
            </a:r>
          </a:p>
        </p:txBody>
      </p:sp>
      <p:pic>
        <p:nvPicPr>
          <p:cNvPr id="20" name="Picture 19" descr="talent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651760"/>
            <a:ext cx="5486400" cy="2743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Leadership Changes: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Carlos Villagomez: (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Innovation: score 58 (market avg 54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Strong EBITDA margin at 32.7%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on growth trajectory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Top 2 in revenue market ranking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55 (market avg 65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65 (market avg 73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55 (market avg 61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coverage gap at only 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Post-acquisition integration complexity from Telefonica Ecuador: Customer churn during brand transition period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Limited historical brand awareness as Tigo in Ecuador: Customer trust deficit vs established Claro and CNT brands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3 operators in market; revenue USD 355.0M; EBITDA margin 32.7%; stable but facing challenges; key strength: Innovation; key challenge: Brand Strength; Management outlook: Ecuador integration proceeding on schedule; synergies expected from Millicom LATAM platform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35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'Innovation: score 58 (market avg 54)' to captur...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'Brand Strength: score 55 (market avg 65...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'Innovation: score 58 (market avg 54)' to co...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'Brand Strength: score 55 (market avg 6...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4 strengths, 6 weaknesses, 4 opportunities, and 4 threats. The recommended strategic posture is cautious (WT-dominant).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37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26 opportunities: 7 grow/invest, 11 acquire skills, 4 harvest, 4 avoid/exit. Focus resources on the 7 grow/invest items for maximum strategic impact.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38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26 opportunities: 7 grow/invest, 11 acquire skills, 4 harvest, 4 avoid/exit. Focus resources on the 7 grow/invest items for maximum strategic impact.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'Innovation: score 58 (market avg 54)' to capture the opportunity of 'Regulatory Environment: Compliance requirements and spectrum policies directly affect tigo_ecuador'.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'Strong EBITDA margin at 32.7%' to capture the opportunity of 'National Digital Strategy: Fiber/5G coverage mandates may require tigo_ecuador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'Revenue on growth trajectory' to capture the opportunity of 'Tigo Ecuador revenue growth 6.0% YoY'.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'Top 2 in revenue market ranking' to capture the opportunity of 'Millicom completes acquisition of Telefonica Ecuador'.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26 opportunities: 7 grow/invest, 11 acquire skills, 4 harvest, 4 avoid/exit. Focus resources on the 7 grow/invest items for maximum strategic impact.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Three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Strategy — Key Tasks — Execution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1: Define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TURNAROUND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82B4"/>
                </a:solidFill>
                <a:latin typeface="Arial"/>
              </a:defRPr>
            </a:pPr>
            <a:r>
              <a:t>As The Squeezed Middle: stabilize core business, then selectively invest for turnaround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Growth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Close the gap to market leader — accelerate Mobile, Fixed Broadband, B2B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Gain 1-2pp revenue share</a:t>
            </a:r>
            <a:br/>
            <a:r>
              <a:t>- Grow Mobile, Fixed Broadband, B2B double-digit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Competitive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Shore up competitive position — address: Brand Strength: score 55 (market avg 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Close Brand Strength: score 55 (market avg 65) gap within 12 months</a:t>
            </a:r>
            <a:br/>
            <a:r>
              <a:t>- Reduce customer churn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Transformation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Accelerate fiber transition — converged network as competitive moat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Fiber homepass coverage +20%</a:t>
            </a:r>
            <a:br/>
            <a:r>
              <a:t>- FMC bundle attach rate 50%+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427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Customer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Optimize value extraction in stable segments: Wholesale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Upsell rate +10% in Wholesale</a:t>
            </a:r>
            <a:br/>
            <a:r>
              <a:t>- Cross-sell convergence bundles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As The Squeezed Middle, the strategic posture is Turnaround. As The Squeezed Middle: stabilize core business, then selec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2: Define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3 P0 (IMMEDIATE), 2 P1 (1-2 YEARS), 1 P2 (3-5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179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179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44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Network Upgrade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91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Drive DOCSIS/Fiber rollout to increase homepass and improve quality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Homepass coverage +15% | Speed tier upgrades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6596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1122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122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039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Mobile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286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Mobile at €236M showing strong momentum — invest to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Mobile revenue +10% YoY | Market share gain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6032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9748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70662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706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6334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Broadband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2880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Fixed Broadband at €81M showing strong momentum — invest to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Fixed Broadband revenue +10% YoY | Market share gain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5468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29184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30098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300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2278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Opportunity Portfolio Execution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7 grow/invest opportunities identified — establish execution office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291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Launch 3+ priority initiatives | Pipeline contribution tracking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88620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89534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895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E44AD"/>
                </a:solidFill>
                <a:latin typeface="Arial"/>
              </a:defRPr>
            </a:pPr>
            <a:r>
              <a:t>Customer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38221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Customer Experience Enhancement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069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Improve digital touchpoints and service resolution to boost NPS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NPS +5 points | First-call resolution rate 80%+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343400"/>
            <a:ext cx="11338560" cy="548640"/>
          </a:xfrm>
          <a:prstGeom prst="rect">
            <a:avLst/>
          </a:prstGeom>
          <a:solidFill>
            <a:srgbClr val="EA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4480560"/>
            <a:ext cx="41148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44897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4897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Arial"/>
              </a:defRPr>
            </a:pPr>
            <a:r>
              <a:t>Efficiency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44165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Operational Efficiency &amp; Automation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46634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EBITDA margin 32.7% — maintain through smart automation and resource reallocatio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Process automation 30%+ | Cost-to-serve reduction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6 critical tasks: 3 P0 (immediate), 2 P1 (1-2 years), 1 P2 (3-5 years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3: Define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QUARTERLY ROADMAP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43</a:t>
            </a:r>
          </a:p>
        </p:txBody>
      </p:sp>
      <p:pic>
        <p:nvPicPr>
          <p:cNvPr id="6" name="Picture 5" descr="execu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Monthly Progress Review (Monthly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Quarterly Strategic Checkpoint (Quarterly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Mid-Year Strategic Adjustment (Semi-annual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Arial"/>
              </a:defRPr>
            </a:pPr>
            <a:r>
              <a:t>Strategic Traps to Avoid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Enter a price war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Attempt premium repositioning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Delay core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Key Risks &amp; Mitigation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35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Resource constraints delay P0 initiatives -- Ring-fence P0 budgets; establish escalation path for blockers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Macro-economic slowdown reduces consumer spending -- Prepare value-tier offerings; shift mix toward B2B resilience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Execute with discipline: monthly reviews, quarterly checkpoints, annual refresh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 Industry is in late growth phase. (+2.5% YoY (CQ2_2025 -&gt; CQ4_2025)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Ecuador telecom market totals USD 1,225M in quarterly revenue; gaps in Assurances, Social/Brand; Market outlook is favorable with more opportunities than threats.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3-player market with medium competition intensity, Claro Ecuador leads with 47% revenue share. Target operator holds 29% share. Strongest competitive force: Substitutes.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3 operators in market; revenue USD 355.0M; EBITDA margin 32.7%; stable but facing challenges; key strength: Innovation; key challenge: Brand Strength; Management outlook: Ecuador integration proceeding on schedule; synergies expected from Millicom LATAM platform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4 strengths, 6 weaknesses, 4 opportunities, and 4 threats. The recommended strategic posture is cautious (WT-dominant).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26 opportunities: 7 grow/invest, 11 acquire skills, 4 harvest, 4 avoid/exit. Focus resources on the 7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SOURCES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No provenance data recorded for this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