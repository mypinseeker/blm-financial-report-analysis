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image" Target="../media/image9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image" Target="../media/image12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png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56032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Arial"/>
              </a:defRPr>
            </a:pPr>
            <a:r>
              <a:t>Default BLM Strategic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55448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FFDCDC"/>
                </a:solidFill>
                <a:latin typeface="Arial"/>
              </a:defRPr>
            </a:pPr>
            <a:r>
              <a:t>BLM (Business Leadership Model) Five Looks Analysis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3200400"/>
            <a:ext cx="2651760" cy="118872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329184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Target Operator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3566160"/>
            <a:ext cx="2377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3366"/>
                </a:solidFill>
                <a:latin typeface="Arial"/>
              </a:defRPr>
            </a:pPr>
            <a:r>
              <a:t>Tigo El Salvador</a:t>
            </a:r>
          </a:p>
        </p:txBody>
      </p:sp>
      <p:sp>
        <p:nvSpPr>
          <p:cNvPr id="8" name="Rectangle 7"/>
          <p:cNvSpPr/>
          <p:nvPr/>
        </p:nvSpPr>
        <p:spPr>
          <a:xfrm>
            <a:off x="3291840" y="3200400"/>
            <a:ext cx="2651760" cy="118872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429000" y="329184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Market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29000" y="3566160"/>
            <a:ext cx="2377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3366"/>
                </a:solidFill>
                <a:latin typeface="Arial"/>
              </a:defRPr>
            </a:pPr>
            <a:r>
              <a:t>El Salvador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26480" y="3200400"/>
            <a:ext cx="2651760" cy="118872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63640" y="329184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Analysis Period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63640" y="3566160"/>
            <a:ext cx="2377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3366"/>
                </a:solidFill>
                <a:latin typeface="Arial"/>
              </a:defRPr>
            </a:pPr>
            <a:r>
              <a:t>CQ4_2025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961120" y="3200400"/>
            <a:ext cx="2651760" cy="118872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098280" y="329184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Report Date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98280" y="3566160"/>
            <a:ext cx="2377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3366"/>
                </a:solidFill>
                <a:latin typeface="Arial"/>
              </a:defRPr>
            </a:pPr>
            <a:r>
              <a:t>2026-02-14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4846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08080"/>
                </a:solidFill>
                <a:latin typeface="Arial"/>
              </a:defRPr>
            </a:pPr>
            <a:r>
              <a:t>01 Trends (PEST) | 02 Market/Customer ($APPEALS) | 03 Competition (Porter) | 04 Self (BMC) | SWOT Synthesis | 05 Opportunities (SPAN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Arial"/>
              </a:defRPr>
            </a:pPr>
            <a:r>
              <a:t>Report Contents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  <a:latin typeface="Arial"/>
              </a:defRPr>
            </a:pPr>
            <a:r>
              <a:t>TABLE OF CONTENTS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  <a:latin typeface="Arial"/>
              </a:defRPr>
            </a:pPr>
            <a:r>
              <a:t>2</a:t>
            </a:r>
          </a:p>
        </p:txBody>
      </p:sp>
      <p:sp>
        <p:nvSpPr>
          <p:cNvPr id="6" name="Oval 5"/>
          <p:cNvSpPr/>
          <p:nvPr/>
        </p:nvSpPr>
        <p:spPr>
          <a:xfrm>
            <a:off x="731520" y="1371600"/>
            <a:ext cx="457200" cy="457200"/>
          </a:xfrm>
          <a:prstGeom prst="ellipse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444752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rial"/>
              </a:defRPr>
            </a:pPr>
            <a: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389888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33333"/>
                </a:solidFill>
                <a:latin typeface="Arial"/>
              </a:defRPr>
            </a:pPr>
            <a:r>
              <a:t>Executive Summary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64592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08080"/>
                </a:solidFill>
                <a:latin typeface="Arial"/>
              </a:defRPr>
            </a:pPr>
            <a:r>
              <a:t>Key findings and recommendations</a:t>
            </a:r>
          </a:p>
        </p:txBody>
      </p:sp>
      <p:sp>
        <p:nvSpPr>
          <p:cNvPr id="10" name="Oval 9"/>
          <p:cNvSpPr/>
          <p:nvPr/>
        </p:nvSpPr>
        <p:spPr>
          <a:xfrm>
            <a:off x="731520" y="2011680"/>
            <a:ext cx="457200" cy="457200"/>
          </a:xfrm>
          <a:prstGeom prst="ellipse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2084832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rial"/>
              </a:defRPr>
            </a:pPr>
            <a: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2029968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33333"/>
                </a:solidFill>
                <a:latin typeface="Arial"/>
              </a:defRPr>
            </a:pPr>
            <a:r>
              <a:t>Look at Trends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22860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08080"/>
                </a:solidFill>
                <a:latin typeface="Arial"/>
              </a:defRPr>
            </a:pPr>
            <a:r>
              <a:t>PEST Framework — macro environment</a:t>
            </a:r>
          </a:p>
        </p:txBody>
      </p:sp>
      <p:sp>
        <p:nvSpPr>
          <p:cNvPr id="14" name="Oval 13"/>
          <p:cNvSpPr/>
          <p:nvPr/>
        </p:nvSpPr>
        <p:spPr>
          <a:xfrm>
            <a:off x="731520" y="2651760"/>
            <a:ext cx="457200" cy="457200"/>
          </a:xfrm>
          <a:prstGeom prst="ellipse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2724912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rial"/>
              </a:defRPr>
            </a:pPr>
            <a: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2670048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33333"/>
                </a:solidFill>
                <a:latin typeface="Arial"/>
              </a:defRPr>
            </a:pPr>
            <a:r>
              <a:t>Look at Market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71600" y="292608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08080"/>
                </a:solidFill>
                <a:latin typeface="Arial"/>
              </a:defRPr>
            </a:pPr>
            <a:r>
              <a:t>$APPEALS — market changes &amp; customer needs</a:t>
            </a:r>
          </a:p>
        </p:txBody>
      </p:sp>
      <p:sp>
        <p:nvSpPr>
          <p:cNvPr id="18" name="Oval 17"/>
          <p:cNvSpPr/>
          <p:nvPr/>
        </p:nvSpPr>
        <p:spPr>
          <a:xfrm>
            <a:off x="731520" y="3291840"/>
            <a:ext cx="457200" cy="457200"/>
          </a:xfrm>
          <a:prstGeom prst="ellipse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1520" y="3364992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rial"/>
              </a:defRPr>
            </a:pPr>
            <a:r>
              <a:t>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3310128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33333"/>
                </a:solidFill>
                <a:latin typeface="Arial"/>
              </a:defRPr>
            </a:pPr>
            <a:r>
              <a:t>Tariff Analysis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71600" y="356616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08080"/>
                </a:solidFill>
                <a:latin typeface="Arial"/>
              </a:defRPr>
            </a:pPr>
            <a:r>
              <a:t>Pricing comparison — mobile, fixed &amp; convergence</a:t>
            </a:r>
          </a:p>
        </p:txBody>
      </p:sp>
      <p:sp>
        <p:nvSpPr>
          <p:cNvPr id="22" name="Oval 21"/>
          <p:cNvSpPr/>
          <p:nvPr/>
        </p:nvSpPr>
        <p:spPr>
          <a:xfrm>
            <a:off x="731520" y="3931920"/>
            <a:ext cx="457200" cy="457200"/>
          </a:xfrm>
          <a:prstGeom prst="ellipse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31520" y="4005072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rial"/>
              </a:defRPr>
            </a:pPr>
            <a:r>
              <a:t>04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71600" y="3950208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33333"/>
                </a:solidFill>
                <a:latin typeface="Arial"/>
              </a:defRPr>
            </a:pPr>
            <a:r>
              <a:t>Look at Competition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71600" y="420624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08080"/>
                </a:solidFill>
                <a:latin typeface="Arial"/>
              </a:defRPr>
            </a:pPr>
            <a:r>
              <a:t>Porter's Five Forces — competitive landscape</a:t>
            </a:r>
          </a:p>
        </p:txBody>
      </p:sp>
      <p:sp>
        <p:nvSpPr>
          <p:cNvPr id="26" name="Oval 25"/>
          <p:cNvSpPr/>
          <p:nvPr/>
        </p:nvSpPr>
        <p:spPr>
          <a:xfrm>
            <a:off x="731520" y="4572000"/>
            <a:ext cx="457200" cy="457200"/>
          </a:xfrm>
          <a:prstGeom prst="ellipse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31520" y="4645152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rial"/>
              </a:defRPr>
            </a:pPr>
            <a:r>
              <a:t>05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71600" y="4590288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33333"/>
                </a:solidFill>
                <a:latin typeface="Arial"/>
              </a:defRPr>
            </a:pPr>
            <a:r>
              <a:t>Look at Self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371600" y="484632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08080"/>
                </a:solidFill>
                <a:latin typeface="Arial"/>
              </a:defRPr>
            </a:pPr>
            <a:r>
              <a:t>BMC + Capability — internal assessment</a:t>
            </a:r>
          </a:p>
        </p:txBody>
      </p:sp>
      <p:sp>
        <p:nvSpPr>
          <p:cNvPr id="30" name="Oval 29"/>
          <p:cNvSpPr/>
          <p:nvPr/>
        </p:nvSpPr>
        <p:spPr>
          <a:xfrm>
            <a:off x="731520" y="5212080"/>
            <a:ext cx="457200" cy="457200"/>
          </a:xfrm>
          <a:prstGeom prst="ellipse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31520" y="5285232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rial"/>
              </a:defRPr>
            </a:pPr>
            <a:r>
              <a:t>06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371600" y="5230368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33333"/>
                </a:solidFill>
                <a:latin typeface="Arial"/>
              </a:defRPr>
            </a:pPr>
            <a:r>
              <a:t>SWOT Synthesis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371600" y="54864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08080"/>
                </a:solidFill>
                <a:latin typeface="Arial"/>
              </a:defRPr>
            </a:pPr>
            <a:r>
              <a:t>Strengths, Weaknesses, Opportunities, Threats</a:t>
            </a:r>
          </a:p>
        </p:txBody>
      </p:sp>
      <p:sp>
        <p:nvSpPr>
          <p:cNvPr id="34" name="Oval 33"/>
          <p:cNvSpPr/>
          <p:nvPr/>
        </p:nvSpPr>
        <p:spPr>
          <a:xfrm>
            <a:off x="731520" y="5852160"/>
            <a:ext cx="457200" cy="457200"/>
          </a:xfrm>
          <a:prstGeom prst="ellipse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31520" y="5925312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rial"/>
              </a:defRPr>
            </a:pPr>
            <a:r>
              <a:t>07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371600" y="5870448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33333"/>
                </a:solidFill>
                <a:latin typeface="Arial"/>
              </a:defRPr>
            </a:pPr>
            <a:r>
              <a:t>Look at Opportunities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371600" y="612648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08080"/>
                </a:solidFill>
                <a:latin typeface="Arial"/>
              </a:defRPr>
            </a:pPr>
            <a:r>
              <a:t>SPAN Matrix — opportunity selection</a:t>
            </a:r>
          </a:p>
        </p:txBody>
      </p:sp>
      <p:sp>
        <p:nvSpPr>
          <p:cNvPr id="38" name="Oval 37"/>
          <p:cNvSpPr/>
          <p:nvPr/>
        </p:nvSpPr>
        <p:spPr>
          <a:xfrm>
            <a:off x="731520" y="6492240"/>
            <a:ext cx="457200" cy="457200"/>
          </a:xfrm>
          <a:prstGeom prst="ellipse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31520" y="6565392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rial"/>
              </a:defRPr>
            </a:pPr>
            <a:r>
              <a:t>08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371600" y="6510528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33333"/>
                </a:solidFill>
                <a:latin typeface="Arial"/>
              </a:defRPr>
            </a:pPr>
            <a:r>
              <a:t>Summary &amp; Provenance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371600" y="676656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08080"/>
                </a:solidFill>
                <a:latin typeface="Arial"/>
              </a:defRPr>
            </a:pPr>
            <a:r>
              <a:t>Conclusions and data sources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Arial"/>
              </a:defRPr>
            </a:pPr>
            <a:r>
              <a:t>Data Quality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  <a:latin typeface="Arial"/>
              </a:defRPr>
            </a:pPr>
            <a:r>
              <a:t>DATA QUALITY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37160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46304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Total Data Points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78308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3366"/>
                </a:solidFill>
                <a:latin typeface="Arial"/>
              </a:defRPr>
            </a:pPr>
            <a:r>
              <a:t>20</a:t>
            </a:r>
          </a:p>
        </p:txBody>
      </p:sp>
      <p:sp>
        <p:nvSpPr>
          <p:cNvPr id="9" name="Rectangle 8"/>
          <p:cNvSpPr/>
          <p:nvPr/>
        </p:nvSpPr>
        <p:spPr>
          <a:xfrm>
            <a:off x="3200400" y="137160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337560" y="146304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High Confidence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37560" y="178308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3366"/>
                </a:solidFill>
                <a:latin typeface="Arial"/>
              </a:defRPr>
            </a:pPr>
            <a:r>
              <a:t>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37560" y="2148840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80000"/>
                </a:solidFill>
                <a:latin typeface="Arial"/>
              </a:defRPr>
            </a:pPr>
            <a:r>
              <a:t>0%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943600" y="137160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080760" y="146304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Medium Confidence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80760" y="178308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3366"/>
                </a:solidFill>
                <a:latin typeface="Arial"/>
              </a:defRPr>
            </a:pPr>
            <a:r>
              <a:t>0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686800" y="137160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823960" y="146304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Low/Estimated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823960" y="178308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3366"/>
                </a:solidFill>
                <a:latin typeface="Arial"/>
              </a:defRPr>
            </a:pPr>
            <a:r>
              <a:t>20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2926080"/>
            <a:ext cx="45720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3333"/>
                </a:solidFill>
                <a:latin typeface="Arial"/>
              </a:defRPr>
            </a:pPr>
            <a:r>
              <a:t>Unique Sources: 0</a:t>
            </a:r>
            <a:br/>
            <a:r>
              <a:t>Data Conflicts: 0</a:t>
            </a:r>
            <a:br/>
            <a:r>
              <a:t>Coverage: Partial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5760720"/>
            <a:ext cx="11277295" cy="6858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94360" y="5852159"/>
            <a:ext cx="110029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Key Message: 20 data points tracked, 0 high-confidence (0%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Arial"/>
              </a:defRPr>
            </a:pPr>
            <a:r>
              <a:t>Executive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  <a:latin typeface="Arial"/>
              </a:defRPr>
            </a:pPr>
            <a:r>
              <a:t>4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80160"/>
            <a:ext cx="2011680" cy="54864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  <a:latin typeface="Arial"/>
              </a:defRPr>
            </a:pPr>
            <a:r>
              <a:t>Trends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51760" y="1371600"/>
            <a:ext cx="8686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Arial"/>
              </a:defRPr>
            </a:pPr>
            <a:r>
              <a:t>Macro environment: Favorable. Key opportunities: Regulatory Environment, National Digital Strategy. Key risks: Regulatory Environment, Fiber Broadband Penetration Industry is mature. (+1.7% YoY (CQ2_2025 -&gt; CQ4_2025)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920240"/>
            <a:ext cx="2011680" cy="54864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201168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  <a:latin typeface="Arial"/>
              </a:defRPr>
            </a:pPr>
            <a:r>
              <a:t>Market/Customer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51760" y="2011680"/>
            <a:ext cx="8686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Arial"/>
              </a:defRPr>
            </a:pPr>
            <a:r>
              <a:t>El Salvador telecom market totals USD 356.0M in quarterly revenue; competitive strengths in Availability; gaps in Assurances; Market outlook is favorable with more opportunities than threats.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2560320"/>
            <a:ext cx="2011680" cy="54864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265176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  <a:latin typeface="Arial"/>
              </a:defRPr>
            </a:pPr>
            <a:r>
              <a:t>Competition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651760" y="2651760"/>
            <a:ext cx="8686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Arial"/>
              </a:defRPr>
            </a:pPr>
            <a:r>
              <a:t>In a 3-player market with medium competition intensity, Claro El Salvador leads with 50% revenue share. Target operator holds 39% share. Strongest competitive force: Existing Competitors.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3200400"/>
            <a:ext cx="2011680" cy="54864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329184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  <a:latin typeface="Arial"/>
              </a:defRPr>
            </a:pPr>
            <a:r>
              <a:t>Self Assessment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651760" y="3291840"/>
            <a:ext cx="8686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Arial"/>
              </a:defRPr>
            </a:pPr>
            <a:r>
              <a:t>Ranked #2 of 3 operators in market; revenue USD 139.0M; EBITDA margin 42.4%; stable but facing challenges; key strength: Brand Strength; key challenge: 5G coverage gap at only 0.0%; Management outlook: El Salvador mobile growth supported by data adoption and fintech integration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3840480"/>
            <a:ext cx="2011680" cy="54864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8640" y="3931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  <a:latin typeface="Arial"/>
              </a:defRPr>
            </a:pPr>
            <a:r>
              <a:t>SWOT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651760" y="3931920"/>
            <a:ext cx="8686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Arial"/>
              </a:defRPr>
            </a:pPr>
            <a:r>
              <a:t>SWOT analysis identifies 12 strengths, 3 weaknesses, 6 opportunities, and 4 threats. The recommended strategic posture is offensive (SO-dominant).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4480560"/>
            <a:ext cx="2011680" cy="54864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8640" y="45720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  <a:latin typeface="Arial"/>
              </a:defRPr>
            </a:pPr>
            <a:r>
              <a:t>Opportunities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651760" y="4572000"/>
            <a:ext cx="8686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Arial"/>
              </a:defRPr>
            </a:pPr>
            <a:r>
              <a:t>SPAN matrix positions 25 opportunities: 15 grow/invest, 3 acquire skills, 4 harvest, 3 avoid/exit. Focus resources on the 15 grow/invest items for maximum strategic impact.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5760720"/>
            <a:ext cx="11277295" cy="6858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94360" y="5852159"/>
            <a:ext cx="110029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Key Message: Five Looks analysis completed — see details in following sections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Arial"/>
              </a:defRPr>
            </a:pPr>
            <a:r>
              <a:t>01 Look at Trends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6576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FFDCDC"/>
                </a:solidFill>
                <a:latin typeface="Arial"/>
              </a:defRPr>
            </a:pPr>
            <a:r>
              <a:t>PEST Framework — Macro Environment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Arial"/>
              </a:defRPr>
            </a:pPr>
            <a:r>
              <a:t>PEST Analysis Dashboard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  <a:latin typeface="Arial"/>
              </a:defRPr>
            </a:pPr>
            <a:r>
              <a:t>MACRO ENVIRONMENT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  <a:latin typeface="Arial"/>
              </a:defRPr>
            </a:pPr>
            <a:r>
              <a:t>6</a:t>
            </a:r>
          </a:p>
        </p:txBody>
      </p:sp>
      <p:pic>
        <p:nvPicPr>
          <p:cNvPr id="6" name="Picture 5" descr="pest_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188720"/>
            <a:ext cx="10972800" cy="438912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457200" y="5760720"/>
            <a:ext cx="11277295" cy="6858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5852159"/>
            <a:ext cx="110029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Key Message: Macro environment: Favorable. Key opportunities: Regulatory Environment, National Digital Strategy. Key risks: Regulatory Environment, Fiber Broadband Penetration.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Arial"/>
              </a:defRPr>
            </a:pPr>
            <a:r>
              <a:t>Industry Environment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  <a:latin typeface="Arial"/>
              </a:defRPr>
            </a:pPr>
            <a:r>
              <a:t>INDUSTRY ANALYSIS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  <a:latin typeface="Arial"/>
              </a:defRPr>
            </a:pPr>
            <a:r>
              <a:t>7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8016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Market Size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6916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3366"/>
                </a:solidFill>
                <a:latin typeface="Arial"/>
              </a:defRPr>
            </a:pPr>
            <a:r>
              <a:t>USD 0.4B (quarterly, CQ4_2025</a:t>
            </a:r>
          </a:p>
        </p:txBody>
      </p:sp>
      <p:sp>
        <p:nvSpPr>
          <p:cNvPr id="9" name="Rectangle 8"/>
          <p:cNvSpPr/>
          <p:nvPr/>
        </p:nvSpPr>
        <p:spPr>
          <a:xfrm>
            <a:off x="3200400" y="128016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33756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Growth Rate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37560" y="16916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3366"/>
                </a:solidFill>
                <a:latin typeface="Arial"/>
              </a:defRPr>
            </a:pPr>
            <a:r>
              <a:t>+1.7% YoY (CQ2_2025 -&gt; CQ4_2025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943600" y="128016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08076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Concentration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80760" y="16916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3366"/>
                </a:solidFill>
                <a:latin typeface="Arial"/>
              </a:defRPr>
            </a:pPr>
            <a:r>
              <a:t>CR4 = 100% (Claro El Salvador: 50.3%, Tigo El Salvador: 39.0%, Digicel El Salvador: 10.7%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686800" y="128016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82396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Lifecycle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823960" y="16916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3366"/>
                </a:solidFill>
                <a:latin typeface="Arial"/>
              </a:defRPr>
            </a:pPr>
            <a:r>
              <a:t>mature</a:t>
            </a:r>
          </a:p>
        </p:txBody>
      </p:sp>
      <p:pic>
        <p:nvPicPr>
          <p:cNvPr id="18" name="Picture 17" descr="pest_factor_di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2651760"/>
            <a:ext cx="5486400" cy="283464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5943600" y="2651760"/>
            <a:ext cx="5486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333333"/>
                </a:solidFill>
                <a:latin typeface="Arial"/>
              </a:defRPr>
            </a:pPr>
            <a:r>
              <a:t>• New Business Models:</a:t>
            </a:r>
          </a:p>
          <a:p>
            <a:pPr>
              <a:spcAft>
                <a:spcPts val="400"/>
              </a:spcAft>
              <a:defRPr sz="1200">
                <a:solidFill>
                  <a:srgbClr val="333333"/>
                </a:solidFill>
                <a:latin typeface="Arial"/>
              </a:defRPr>
            </a:pPr>
            <a:r>
              <a:t>• FWA (Fixed Wireless Access) as fiber alternative</a:t>
            </a:r>
          </a:p>
          <a:p>
            <a:pPr>
              <a:spcAft>
                <a:spcPts val="400"/>
              </a:spcAft>
              <a:defRPr sz="1200">
                <a:solidFill>
                  <a:srgbClr val="333333"/>
                </a:solidFill>
                <a:latin typeface="Arial"/>
              </a:defRPr>
            </a:pPr>
            <a:r>
              <a:t>• Network-as-a-Service for enterprise verticals</a:t>
            </a:r>
          </a:p>
          <a:p>
            <a:pPr>
              <a:spcAft>
                <a:spcPts val="400"/>
              </a:spcAft>
              <a:defRPr sz="1200">
                <a:solidFill>
                  <a:srgbClr val="333333"/>
                </a:solidFill>
                <a:latin typeface="Arial"/>
              </a:defRPr>
            </a:pPr>
            <a:r>
              <a:t>• Wholesale/MVNO partnerships for coverage monetization</a:t>
            </a:r>
          </a:p>
          <a:p>
            <a:pPr>
              <a:spcAft>
                <a:spcPts val="400"/>
              </a:spcAft>
              <a:defRPr sz="1200">
                <a:solidFill>
                  <a:srgbClr val="333333"/>
                </a:solidFill>
                <a:latin typeface="Arial"/>
              </a:defRPr>
            </a:pPr>
            <a:r>
              <a:t>• Technology Revolution:</a:t>
            </a:r>
          </a:p>
          <a:p>
            <a:pPr>
              <a:spcAft>
                <a:spcPts val="400"/>
              </a:spcAft>
              <a:defRPr sz="1200">
                <a:solidFill>
                  <a:srgbClr val="333333"/>
                </a:solidFill>
                <a:latin typeface="Arial"/>
              </a:defRPr>
            </a:pPr>
            <a:r>
              <a:t>• 5G SA enabling network slicing and enterprise services</a:t>
            </a:r>
          </a:p>
          <a:p>
            <a:pPr>
              <a:spcAft>
                <a:spcPts val="400"/>
              </a:spcAft>
              <a:defRPr sz="1200">
                <a:solidFill>
                  <a:srgbClr val="333333"/>
                </a:solidFill>
                <a:latin typeface="Arial"/>
              </a:defRPr>
            </a:pPr>
            <a:r>
              <a:t>• AI/ML for network optimization and customer experience</a:t>
            </a:r>
          </a:p>
          <a:p>
            <a:pPr>
              <a:spcAft>
                <a:spcPts val="400"/>
              </a:spcAft>
              <a:defRPr sz="1200">
                <a:solidFill>
                  <a:srgbClr val="333333"/>
                </a:solidFill>
                <a:latin typeface="Arial"/>
              </a:defRPr>
            </a:pPr>
            <a:r>
              <a:t>• Open RAN for vendor diversification and cost reduction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5760720"/>
            <a:ext cx="11277295" cy="6858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94360" y="5852159"/>
            <a:ext cx="110029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Key Message: Macro environment: Favorable. Key opportunities: Regulatory Environment, National Digital Strategy. Key risks: Regulatory Environment, Fiber Broadband Penetration Industry is mature. (+1.7% YoY (CQ2_2025 -&gt; CQ4_2025)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Arial"/>
              </a:defRPr>
            </a:pPr>
            <a:r>
              <a:t>Value Transfer Trends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  <a:latin typeface="Arial"/>
              </a:defRPr>
            </a:pPr>
            <a:r>
              <a:t>VALUE MIGRATION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  <a:latin typeface="Arial"/>
              </a:defRPr>
            </a:pPr>
            <a:r>
              <a:t>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280160"/>
            <a:ext cx="109728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333333"/>
                </a:solidFill>
                <a:latin typeface="Arial"/>
              </a:defRPr>
            </a:pPr>
            <a:r>
              <a:t>• Value shifting from voice/SMS to data and digital services</a:t>
            </a:r>
          </a:p>
          <a:p>
            <a:pPr>
              <a:spcAft>
                <a:spcPts val="400"/>
              </a:spcAft>
              <a:defRPr sz="1300">
                <a:solidFill>
                  <a:srgbClr val="333333"/>
                </a:solidFill>
                <a:latin typeface="Arial"/>
              </a:defRPr>
            </a:pPr>
            <a:r>
              <a:t>• B2B/ICT growing faster than consumer segment</a:t>
            </a:r>
          </a:p>
          <a:p>
            <a:pPr>
              <a:spcAft>
                <a:spcPts val="400"/>
              </a:spcAft>
              <a:defRPr sz="1300">
                <a:solidFill>
                  <a:srgbClr val="333333"/>
                </a:solidFill>
                <a:latin typeface="Arial"/>
              </a:defRPr>
            </a:pPr>
            <a:r>
              <a:t>• Fiber displacing copper and cable broadband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5760720"/>
            <a:ext cx="11277295" cy="6858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5852159"/>
            <a:ext cx="110029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Key Message: Macro environment: Favorable. Key opportunities: Regulatory Environment, National Digital Strategy. Key risks: Regulatory Environment, Fiber Broadband Penetration Industry is mature. (+1.7% YoY (CQ2_2025 -&gt; CQ4_2025)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Arial"/>
              </a:defRPr>
            </a:pPr>
            <a:r>
              <a:t>02 Look at Market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6576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FFDCDC"/>
                </a:solidFill>
                <a:latin typeface="Arial"/>
              </a:defRPr>
            </a:pPr>
            <a:r>
              <a:t>$APPEALS — Market Changes &amp; Customer Needs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Arial"/>
              </a:defRPr>
            </a:pPr>
            <a:r>
              <a:t>Market Change Panorama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  <a:latin typeface="Arial"/>
              </a:defRPr>
            </a:pPr>
            <a:r>
              <a:t>MARKET 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  <a:latin typeface="Arial"/>
              </a:defRPr>
            </a:pPr>
            <a:r>
              <a:t>10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8016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Total Revenue (€M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6916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3366"/>
                </a:solidFill>
                <a:latin typeface="Arial"/>
              </a:defRPr>
            </a:pPr>
            <a:r>
              <a:t>356.0</a:t>
            </a:r>
          </a:p>
        </p:txBody>
      </p:sp>
      <p:sp>
        <p:nvSpPr>
          <p:cNvPr id="9" name="Rectangle 8"/>
          <p:cNvSpPr/>
          <p:nvPr/>
        </p:nvSpPr>
        <p:spPr>
          <a:xfrm>
            <a:off x="3200400" y="128016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33756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Mobile Subs (K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37560" y="16916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3366"/>
                </a:solidFill>
                <a:latin typeface="Arial"/>
              </a:defRPr>
            </a:pPr>
            <a:r>
              <a:t>8,320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943600" y="128016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08076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Broadband Subs (K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80760" y="16916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3366"/>
                </a:solidFill>
                <a:latin typeface="Arial"/>
              </a:defRPr>
            </a:pPr>
            <a:r>
              <a:t>457.0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686800" y="128016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82396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Operators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823960" y="16916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3366"/>
                </a:solidFill>
                <a:latin typeface="Arial"/>
              </a:defRPr>
            </a:pPr>
            <a:r>
              <a:t>3</a:t>
            </a:r>
          </a:p>
        </p:txBody>
      </p:sp>
      <p:pic>
        <p:nvPicPr>
          <p:cNvPr id="18" name="Picture 17" descr="market_sha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2560320"/>
            <a:ext cx="5486400" cy="292608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457200" y="274320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3366"/>
                </a:solidFill>
                <a:latin typeface="Arial"/>
              </a:defRPr>
            </a:pPr>
            <a:r>
              <a:t>Market Changes: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3017520"/>
            <a:ext cx="5029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Tigo El Salvador revenue growth 6.1% YoY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Digicel El Salvador revenue decline 9.5% YoY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Digicel El Salvador EBITDA margin compression: 15.8% vs 17.9% (-2.1pp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Tigo El Salvador launches Tigo Money Bitcoin integration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5760720"/>
            <a:ext cx="11277295" cy="6858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94360" y="5852159"/>
            <a:ext cx="110029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Key Message: El Salvador telecom market totals USD 356.0M in quarterly revenue; competitive strengths in Availability; gaps in Assurances; Market outlook is favorable with more opportunities than threats.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Arial"/>
              </a:defRPr>
            </a:pPr>
            <a:r>
              <a:t>Customer Segments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  <a:latin typeface="Arial"/>
              </a:defRPr>
            </a:pPr>
            <a:r>
              <a:t>SEGMENTATION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  <a:latin typeface="Arial"/>
              </a:defRPr>
            </a:pPr>
            <a:r>
              <a:t>11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80160"/>
            <a:ext cx="5943600" cy="777240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3366"/>
                </a:solidFill>
                <a:latin typeface="Arial"/>
              </a:defRPr>
            </a:pPr>
            <a:r>
              <a:t>Consumer Prepaid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600200"/>
            <a:ext cx="5303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Arial"/>
              </a:defRPr>
            </a:pPr>
            <a:r>
              <a:t>Trend: stable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783080"/>
            <a:ext cx="5303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Needs: Affordable unlimited social media plans, Better rural coverage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2148840"/>
            <a:ext cx="5943600" cy="777240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219456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3366"/>
                </a:solidFill>
                <a:latin typeface="Arial"/>
              </a:defRPr>
            </a:pPr>
            <a:r>
              <a:t>Consumer Postpaid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2468880"/>
            <a:ext cx="5303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Arial"/>
              </a:defRPr>
            </a:pPr>
            <a:r>
              <a:t>Trend: stable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2651760"/>
            <a:ext cx="5303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Needs: Convergent bundles (mobile + home), Better device financing options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3017520"/>
            <a:ext cx="5943600" cy="777240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306324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3366"/>
                </a:solidFill>
                <a:latin typeface="Arial"/>
              </a:defRPr>
            </a:pPr>
            <a:r>
              <a:t>Enterprise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3337560"/>
            <a:ext cx="5303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Arial"/>
              </a:defRPr>
            </a:pPr>
            <a:r>
              <a:t>Trend: stable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3520440"/>
            <a:ext cx="5303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Needs: Cloud and connectivity solutions, Cybersecurity services</a:t>
            </a:r>
          </a:p>
        </p:txBody>
      </p:sp>
      <p:pic>
        <p:nvPicPr>
          <p:cNvPr id="18" name="Picture 17" descr="appeals_ba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5120" y="1188720"/>
            <a:ext cx="5029200" cy="4389120"/>
          </a:xfrm>
          <a:prstGeom prst="rect">
            <a:avLst/>
          </a:prstGeom>
        </p:spPr>
      </p:pic>
      <p:sp>
        <p:nvSpPr>
          <p:cNvPr id="19" name="Rectangle 18"/>
          <p:cNvSpPr/>
          <p:nvPr/>
        </p:nvSpPr>
        <p:spPr>
          <a:xfrm>
            <a:off x="457200" y="5760720"/>
            <a:ext cx="11277295" cy="6858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94360" y="5852159"/>
            <a:ext cx="110029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Key Message: El Salvador telecom market totals USD 356.0M in quarterly revenue; competitive strengths in Availability; gaps in Assurances; Market outlook is favorable with more opportunities than threats.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Arial"/>
              </a:defRPr>
            </a:pPr>
            <a:r>
              <a:t>$APPEALS Assessment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  <a:latin typeface="Arial"/>
              </a:defRPr>
            </a:pPr>
            <a:r>
              <a:t>CUSTOMER NEEDS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  <a:latin typeface="Arial"/>
              </a:defRPr>
            </a:pPr>
            <a:r>
              <a:t>12</a:t>
            </a:r>
          </a:p>
        </p:txBody>
      </p:sp>
      <p:pic>
        <p:nvPicPr>
          <p:cNvPr id="6" name="Picture 5" descr="appeals_rada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188720"/>
            <a:ext cx="10515600" cy="438912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457200" y="5760720"/>
            <a:ext cx="11277295" cy="6858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5852159"/>
            <a:ext cx="110029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Key Message: El Salvador telecom market totals USD 356.0M in quarterly revenue; competitive strengths in Availability; gaps in Assurances; Market outlook is favorable with more opportunities than threats.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Arial"/>
              </a:defRPr>
            </a:pPr>
            <a:r>
              <a:t>Customer Value Migration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  <a:latin typeface="Arial"/>
              </a:defRPr>
            </a:pPr>
            <a:r>
              <a:t>VALUE MIGRATION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  <a:latin typeface="Arial"/>
              </a:defRPr>
            </a:pPr>
            <a:r>
              <a:t>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280160"/>
            <a:ext cx="109728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Arial"/>
              </a:defRPr>
            </a:pPr>
            <a:r>
              <a:t>Value migration is mixed: some segments trending up while price-sensitive segments face pressure. Differentiated strategy by segment recommended.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20040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8000"/>
                </a:solidFill>
                <a:latin typeface="Arial"/>
              </a:defRPr>
            </a:pPr>
            <a:r>
              <a:t>Opportunities: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474720"/>
            <a:ext cx="5029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000">
                <a:solidFill>
                  <a:srgbClr val="333333"/>
                </a:solidFill>
                <a:latin typeface="Arial"/>
              </a:defRPr>
            </a:pPr>
            <a:r>
              <a:t>• Tigo El Salvador revenue growth 6.1% YoY</a:t>
            </a:r>
          </a:p>
          <a:p>
            <a:pPr>
              <a:spcAft>
                <a:spcPts val="400"/>
              </a:spcAft>
              <a:defRPr sz="1000">
                <a:solidFill>
                  <a:srgbClr val="333333"/>
                </a:solidFill>
                <a:latin typeface="Arial"/>
              </a:defRPr>
            </a:pPr>
            <a:r>
              <a:t>• Digicel El Salvador revenue decline 9.5% YoY</a:t>
            </a:r>
          </a:p>
          <a:p>
            <a:pPr>
              <a:spcAft>
                <a:spcPts val="400"/>
              </a:spcAft>
              <a:defRPr sz="1000">
                <a:solidFill>
                  <a:srgbClr val="333333"/>
                </a:solidFill>
                <a:latin typeface="Arial"/>
              </a:defRPr>
            </a:pPr>
            <a:r>
              <a:t>• Digicel El Salvador EBITDA margin compression: 15.8% vs 17.9% (-2.1pp</a:t>
            </a:r>
          </a:p>
          <a:p>
            <a:pPr>
              <a:spcAft>
                <a:spcPts val="400"/>
              </a:spcAft>
              <a:defRPr sz="1000">
                <a:solidFill>
                  <a:srgbClr val="333333"/>
                </a:solidFill>
                <a:latin typeface="Arial"/>
              </a:defRPr>
            </a:pPr>
            <a:r>
              <a:t>• Tigo El Salvador launches Tigo Money Bitcoin integration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5760720"/>
            <a:ext cx="11277295" cy="6858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5852159"/>
            <a:ext cx="110029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Key Message: El Salvador telecom market totals USD 356.0M in quarterly revenue; competitive strengths in Availability; gaps in Assurances; Market outlook is favorable with more opportunities than threats.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Arial"/>
              </a:defRPr>
            </a:pPr>
            <a:r>
              <a:t>Tariff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6576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FFDCDC"/>
                </a:solidFill>
                <a:latin typeface="Arial"/>
              </a:defRPr>
            </a:pPr>
            <a:r>
              <a:t>Mobile, Fixed &amp; Convergence Pricing Landscape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Arial"/>
              </a:defRPr>
            </a:pPr>
            <a:r>
              <a:t>Fixed &amp; Convergence Pricing Landscape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  <a:latin typeface="Arial"/>
              </a:defRPr>
            </a:pPr>
            <a:r>
              <a:t>DSL / CABLE / FIBER / FMC BUNDLES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  <a:latin typeface="Arial"/>
              </a:defRPr>
            </a:pPr>
            <a:r>
              <a:t>15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5760720"/>
            <a:ext cx="11277295" cy="6858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5852159"/>
            <a:ext cx="110029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Key Message: Fixed and convergence pricing overview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Arial"/>
              </a:defRPr>
            </a:pPr>
            <a:r>
              <a:t>03 Look at Competition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6576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FFDCDC"/>
                </a:solidFill>
                <a:latin typeface="Arial"/>
              </a:defRPr>
            </a:pPr>
            <a:r>
              <a:t>Porter's Five Forces — Competitive Landscape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Arial"/>
              </a:defRPr>
            </a:pPr>
            <a:r>
              <a:t>Porter's Five Forces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  <a:latin typeface="Arial"/>
              </a:defRPr>
            </a:pPr>
            <a:r>
              <a:t>COMPETITIVE FORCES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  <a:latin typeface="Arial"/>
              </a:defRPr>
            </a:pPr>
            <a:r>
              <a:t>17</a:t>
            </a:r>
          </a:p>
        </p:txBody>
      </p:sp>
      <p:pic>
        <p:nvPicPr>
          <p:cNvPr id="6" name="Picture 5" descr="porter_forc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0" y="1097280"/>
            <a:ext cx="6400800" cy="4572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137160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3366"/>
                </a:solidFill>
                <a:latin typeface="Arial"/>
              </a:defRPr>
            </a:pPr>
            <a:r>
              <a:t>Overall Intensity: MEDIUM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5760720"/>
            <a:ext cx="11277295" cy="6858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5852159"/>
            <a:ext cx="110029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Key Message: In a 3-player market with medium competition intensity, Claro El Salvador leads with 50% revenue share. Target operator holds 39% share. Strongest competitive force: Existing Competitors.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Arial"/>
              </a:defRPr>
            </a:pPr>
            <a:r>
              <a:t>Competitor Analysis: Digicel Sv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  <a:latin typeface="Arial"/>
              </a:defRPr>
            </a:pPr>
            <a:r>
              <a:t>COMPETITOR DEEP DIVE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  <a:latin typeface="Arial"/>
              </a:defRPr>
            </a:pPr>
            <a:r>
              <a:t>18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8016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Revenue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6916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3366"/>
                </a:solidFill>
                <a:latin typeface="Arial"/>
              </a:defRPr>
            </a:pPr>
            <a:r>
              <a:t>€38M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057400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80000"/>
                </a:solidFill>
                <a:latin typeface="Arial"/>
              </a:defRPr>
            </a:pPr>
            <a:r>
              <a:t>-10.3% YoY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0" y="128016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33756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EBITDA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37560" y="16916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3366"/>
                </a:solidFill>
                <a:latin typeface="Arial"/>
              </a:defRPr>
            </a:pPr>
            <a:r>
              <a:t>€6M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943600" y="128016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08076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Margin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80760" y="16916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3366"/>
                </a:solidFill>
                <a:latin typeface="Arial"/>
              </a:defRPr>
            </a:pPr>
            <a:r>
              <a:t>15.8%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256032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8000"/>
                </a:solidFill>
                <a:latin typeface="Arial"/>
              </a:defRPr>
            </a:pPr>
            <a:r>
              <a:t>Strengths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2834640"/>
            <a:ext cx="5029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5943600" y="256032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C80000"/>
                </a:solidFill>
                <a:latin typeface="Arial"/>
              </a:defRPr>
            </a:pPr>
            <a:r>
              <a:t>Weaknesses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43600" y="2834640"/>
            <a:ext cx="5029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Brand Strength: score 40 (market avg 65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Customer Service: score 38 (market avg 60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Digital Experience: score 32 (market avg 57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Distribution: score 42 (market avg 67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50292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Arial"/>
              </a:defRPr>
            </a:pPr>
            <a:r>
              <a:t>Strategy: Defensive cost restructuring; ARPU-led value strategy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5760720"/>
            <a:ext cx="11277295" cy="6858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94360" y="5852159"/>
            <a:ext cx="110029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Key Message: Competitor analysis: Digicel Sv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Arial"/>
              </a:defRPr>
            </a:pPr>
            <a:r>
              <a:t>Competitor Analysis: Claro Sv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  <a:latin typeface="Arial"/>
              </a:defRPr>
            </a:pPr>
            <a:r>
              <a:t>COMPETITOR DEEP DIVE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  <a:latin typeface="Arial"/>
              </a:defRPr>
            </a:pPr>
            <a:r>
              <a:t>19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8016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Revenue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6916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3366"/>
                </a:solidFill>
                <a:latin typeface="Arial"/>
              </a:defRPr>
            </a:pPr>
            <a:r>
              <a:t>€179M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057400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8000"/>
                </a:solidFill>
                <a:latin typeface="Arial"/>
              </a:defRPr>
            </a:pPr>
            <a:r>
              <a:t>+5.0% YoY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0" y="128016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33756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EBITDA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37560" y="16916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3366"/>
                </a:solidFill>
                <a:latin typeface="Arial"/>
              </a:defRPr>
            </a:pPr>
            <a:r>
              <a:t>€63M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943600" y="128016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08076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Margin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80760" y="16916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3366"/>
                </a:solidFill>
                <a:latin typeface="Arial"/>
              </a:defRPr>
            </a:pPr>
            <a:r>
              <a:t>35.2%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686800" y="128016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82396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Capex/Rev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823960" y="16916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3366"/>
                </a:solidFill>
                <a:latin typeface="Arial"/>
              </a:defRPr>
            </a:pPr>
            <a:r>
              <a:t>16.8%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256032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8000"/>
                </a:solidFill>
                <a:latin typeface="Arial"/>
              </a:defRPr>
            </a:pPr>
            <a:r>
              <a:t>Strengths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2834640"/>
            <a:ext cx="5029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Brand Strength: score 80 (market avg 65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Customer Service: score 72 (market avg 60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Digital Experience: score 70 (market avg 57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Distribution: score 82 (market avg 67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0" y="256032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C80000"/>
                </a:solidFill>
                <a:latin typeface="Arial"/>
              </a:defRPr>
            </a:pPr>
            <a:r>
              <a:t>Weaknesses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43600" y="2834640"/>
            <a:ext cx="5029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457200" y="50292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Arial"/>
              </a:defRPr>
            </a:pPr>
            <a:r>
              <a:t>Strategy: Steady growth trajectory; subscriber acquisition focus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" y="5760720"/>
            <a:ext cx="11277295" cy="6858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94360" y="5852159"/>
            <a:ext cx="110029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Key Message: Competitor analysis: Claro Sv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Arial"/>
              </a:defRPr>
            </a:pPr>
            <a:r>
              <a:t>Competitive Landscape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  <a:latin typeface="Arial"/>
              </a:defRPr>
            </a:pPr>
            <a:r>
              <a:t>COMPETITION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  <a:latin typeface="Arial"/>
              </a:defRPr>
            </a:pPr>
            <a:r>
              <a:t>20</a:t>
            </a:r>
          </a:p>
        </p:txBody>
      </p:sp>
      <p:pic>
        <p:nvPicPr>
          <p:cNvPr id="6" name="Picture 5" descr="comp_tab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188720"/>
            <a:ext cx="10972800" cy="41148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457200" y="5760720"/>
            <a:ext cx="11277295" cy="6858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5852159"/>
            <a:ext cx="110029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Key Message: In a 3-player market with medium competition intensity, Claro El Salvador leads with 50% revenue share. Target operator holds 39% share. Strongest competitive force: Existing Competitors.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Arial"/>
              </a:defRPr>
            </a:pPr>
            <a:r>
              <a:t>New Entrants Threat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  <a:latin typeface="Arial"/>
              </a:defRPr>
            </a:pPr>
            <a:r>
              <a:t>MARKET ENTRY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  <a:latin typeface="Arial"/>
              </a:defRPr>
            </a:pPr>
            <a:r>
              <a:t>21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280160"/>
            <a:ext cx="109728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333333"/>
                </a:solidFill>
                <a:latin typeface="Arial"/>
              </a:defRPr>
            </a:pPr>
            <a:r>
              <a:t>• Entry barriers: High barriers: spectrum licensing, massive capex for network build, regulatory approvals, established brand loyalty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5760720"/>
            <a:ext cx="11277295" cy="6858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5852159"/>
            <a:ext cx="110029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Key Message: New entrants threat level: low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Arial"/>
              </a:defRPr>
            </a:pPr>
            <a:r>
              <a:t>04 Look at Self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6576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FFDCDC"/>
                </a:solidFill>
                <a:latin typeface="Arial"/>
              </a:defRPr>
            </a:pPr>
            <a:r>
              <a:t>BMC + Capability Assessment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Arial"/>
              </a:defRPr>
            </a:pPr>
            <a:r>
              <a:t>Operating Health Check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  <a:latin typeface="Arial"/>
              </a:defRPr>
            </a:pPr>
            <a:r>
              <a:t>FINANCIAL HEALTH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  <a:latin typeface="Arial"/>
              </a:defRPr>
            </a:pPr>
            <a:r>
              <a:t>23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8016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Revenue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6916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3366"/>
                </a:solidFill>
                <a:latin typeface="Arial"/>
              </a:defRPr>
            </a:pPr>
            <a:r>
              <a:t>€139M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057400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8000"/>
                </a:solidFill>
                <a:latin typeface="Arial"/>
              </a:defRPr>
            </a:pPr>
            <a:r>
              <a:t>+6.11% YoY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0" y="128016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33756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EBITDA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37560" y="16916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3366"/>
                </a:solidFill>
                <a:latin typeface="Arial"/>
              </a:defRPr>
            </a:pPr>
            <a:r>
              <a:t>€59M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37560" y="2057400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8000"/>
                </a:solidFill>
                <a:latin typeface="Arial"/>
              </a:defRPr>
            </a:pPr>
            <a:r>
              <a:t>+7.3% YoY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943600" y="128016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08076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EBITDA Margin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80760" y="16916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3366"/>
                </a:solidFill>
                <a:latin typeface="Arial"/>
              </a:defRPr>
            </a:pPr>
            <a:r>
              <a:t>42.4%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686800" y="128016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82396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Capex/Rev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823960" y="16916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3366"/>
                </a:solidFill>
                <a:latin typeface="Arial"/>
              </a:defRPr>
            </a:pPr>
            <a:r>
              <a:t>15.8%</a:t>
            </a:r>
          </a:p>
        </p:txBody>
      </p:sp>
      <p:pic>
        <p:nvPicPr>
          <p:cNvPr id="20" name="Picture 19" descr="revenue_tre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2651760"/>
            <a:ext cx="5486400" cy="2834640"/>
          </a:xfrm>
          <a:prstGeom prst="rect">
            <a:avLst/>
          </a:prstGeom>
        </p:spPr>
      </p:pic>
      <p:pic>
        <p:nvPicPr>
          <p:cNvPr id="21" name="Picture 20" descr="revenue_breakdow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0" y="2651760"/>
            <a:ext cx="5760720" cy="2834640"/>
          </a:xfrm>
          <a:prstGeom prst="rect">
            <a:avLst/>
          </a:prstGeom>
        </p:spPr>
      </p:pic>
      <p:sp>
        <p:nvSpPr>
          <p:cNvPr id="22" name="Rectangle 21"/>
          <p:cNvSpPr/>
          <p:nvPr/>
        </p:nvSpPr>
        <p:spPr>
          <a:xfrm>
            <a:off x="457200" y="5760720"/>
            <a:ext cx="11277295" cy="6858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94360" y="5852159"/>
            <a:ext cx="110029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Key Message: Ranked #2 of 3 operators in market; revenue USD 139.0M; EBITDA margin 42.4%; stable but facing challenges; key strength: Brand Strength; key challenge: 5G coverage gap at only 0.0%; Management outlook: El Salvador mobile growth supported by data adoption and fintech integration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Arial"/>
              </a:defRPr>
            </a:pPr>
            <a:r>
              <a:t>Revenue Composition Trend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  <a:latin typeface="Arial"/>
              </a:defRPr>
            </a:pPr>
            <a:r>
              <a:t>SEGMENT REVENUE MIX OVER TIME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  <a:latin typeface="Arial"/>
              </a:defRPr>
            </a:pPr>
            <a:r>
              <a:t>24</a:t>
            </a:r>
          </a:p>
        </p:txBody>
      </p:sp>
      <p:pic>
        <p:nvPicPr>
          <p:cNvPr id="6" name="Picture 5" descr="revenue_composition_tre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10972800" cy="41148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457200" y="5760720"/>
            <a:ext cx="11277295" cy="6858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5852159"/>
            <a:ext cx="110029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Key Message: Growing: Mobile, Fixed Broadband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Arial"/>
              </a:defRPr>
            </a:pPr>
            <a:r>
              <a:t>Revenue Comparison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  <a:latin typeface="Arial"/>
              </a:defRPr>
            </a:pPr>
            <a:r>
              <a:t>COMPETITIVE BENCHMARKING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  <a:latin typeface="Arial"/>
              </a:defRPr>
            </a:pPr>
            <a:r>
              <a:t>25</a:t>
            </a:r>
          </a:p>
        </p:txBody>
      </p:sp>
      <p:pic>
        <p:nvPicPr>
          <p:cNvPr id="6" name="Picture 5" descr="revenue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188720"/>
            <a:ext cx="5760720" cy="4389120"/>
          </a:xfrm>
          <a:prstGeom prst="rect">
            <a:avLst/>
          </a:prstGeom>
        </p:spPr>
      </p:pic>
      <p:pic>
        <p:nvPicPr>
          <p:cNvPr id="7" name="Picture 6" descr="margin_comparis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1188720"/>
            <a:ext cx="5486400" cy="438912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457200" y="5760720"/>
            <a:ext cx="11277295" cy="6858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5852159"/>
            <a:ext cx="110029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Key Message: Revenue and margin benchmarking across operators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Arial"/>
              </a:defRPr>
            </a:pPr>
            <a:r>
              <a:t>Segment Analysis: Mobile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  <a:latin typeface="Arial"/>
              </a:defRPr>
            </a:pPr>
            <a:r>
              <a:t>SEGMENT PERFORMANCE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  <a:latin typeface="Arial"/>
              </a:defRPr>
            </a:pPr>
            <a:r>
              <a:t>26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8016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Service Revenue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6916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3366"/>
                </a:solidFill>
                <a:latin typeface="Arial"/>
              </a:defRPr>
            </a:pPr>
            <a:r>
              <a:t>€87M</a:t>
            </a:r>
          </a:p>
        </p:txBody>
      </p:sp>
      <p:sp>
        <p:nvSpPr>
          <p:cNvPr id="9" name="Rectangle 8"/>
          <p:cNvSpPr/>
          <p:nvPr/>
        </p:nvSpPr>
        <p:spPr>
          <a:xfrm>
            <a:off x="3200400" y="128016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33756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Service Growth Pct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37560" y="16916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3366"/>
                </a:solidFill>
                <a:latin typeface="Arial"/>
              </a:defRPr>
            </a:pPr>
            <a:r>
              <a:t>6.1%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943600" y="128016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08076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Total 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80760" y="16916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3366"/>
                </a:solidFill>
                <a:latin typeface="Arial"/>
              </a:defRPr>
            </a:pPr>
            <a:r>
              <a:t>€3,480M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686800" y="128016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82396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Postpaid 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823960" y="16916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3366"/>
                </a:solidFill>
                <a:latin typeface="Arial"/>
              </a:defRPr>
            </a:pPr>
            <a:r>
              <a:t>€520M</a:t>
            </a:r>
          </a:p>
        </p:txBody>
      </p:sp>
      <p:pic>
        <p:nvPicPr>
          <p:cNvPr id="18" name="Picture 17" descr="segment_0_metric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2560320"/>
            <a:ext cx="5486400" cy="292608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457200" y="256032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  <a:latin typeface="Arial"/>
              </a:defRPr>
            </a:pPr>
            <a:r>
              <a:t>Health: STABLE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2926080"/>
            <a:ext cx="5029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revenue: improving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subscribers: improving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arpu: improving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El Salvador mobile growth supported by data adoption and fintech integration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arpu increased 3.2% QoQ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5760720"/>
            <a:ext cx="11277295" cy="6858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94360" y="5852159"/>
            <a:ext cx="110029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Key Message: Mobile service revenue at 87.0M; up 6.1% YoY; ARPU 3.2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Arial"/>
              </a:defRPr>
            </a:pPr>
            <a:r>
              <a:t>Segment Analysis: Fixed Broadband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  <a:latin typeface="Arial"/>
              </a:defRPr>
            </a:pPr>
            <a:r>
              <a:t>SEGMENT PERFORMANCE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  <a:latin typeface="Arial"/>
              </a:defRPr>
            </a:pPr>
            <a:r>
              <a:t>27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8016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Service Revenue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6916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3366"/>
                </a:solidFill>
                <a:latin typeface="Arial"/>
              </a:defRPr>
            </a:pPr>
            <a:r>
              <a:t>€37M</a:t>
            </a:r>
          </a:p>
        </p:txBody>
      </p:sp>
      <p:sp>
        <p:nvSpPr>
          <p:cNvPr id="9" name="Rectangle 8"/>
          <p:cNvSpPr/>
          <p:nvPr/>
        </p:nvSpPr>
        <p:spPr>
          <a:xfrm>
            <a:off x="3200400" y="128016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33756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Service Growth Pct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37560" y="16916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3366"/>
                </a:solidFill>
                <a:latin typeface="Arial"/>
              </a:defRPr>
            </a:pPr>
            <a:r>
              <a:t>8.8%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943600" y="128016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08076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Total 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80760" y="16916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3366"/>
                </a:solidFill>
                <a:latin typeface="Arial"/>
              </a:defRPr>
            </a:pPr>
            <a:r>
              <a:t>€256M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686800" y="128016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82396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Net Adds 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823960" y="16916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3366"/>
                </a:solidFill>
                <a:latin typeface="Arial"/>
              </a:defRPr>
            </a:pPr>
            <a:r>
              <a:t>8</a:t>
            </a:r>
          </a:p>
        </p:txBody>
      </p:sp>
      <p:pic>
        <p:nvPicPr>
          <p:cNvPr id="18" name="Picture 17" descr="segment_1_metric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2560320"/>
            <a:ext cx="5486400" cy="292608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457200" y="256032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  <a:latin typeface="Arial"/>
              </a:defRPr>
            </a:pPr>
            <a:r>
              <a:t>Health: STRONG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2926080"/>
            <a:ext cx="5029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revenue: improving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subscribers: improving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arpu: stable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revenue increased 2.8% QoQ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subscribers increased 3.2% QoQ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5760720"/>
            <a:ext cx="11277295" cy="6858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94360" y="5852159"/>
            <a:ext cx="110029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Key Message: Fixed service revenue 37.0M; growth +8.8% YoY; Fiber subs 34K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Arial"/>
              </a:defRPr>
            </a:pPr>
            <a:r>
              <a:t>Segment Analysis: B2B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  <a:latin typeface="Arial"/>
              </a:defRPr>
            </a:pPr>
            <a:r>
              <a:t>SEGMENT PERFORMANCE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  <a:latin typeface="Arial"/>
              </a:defRPr>
            </a:pPr>
            <a:r>
              <a:t>28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8016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Revenue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6916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3366"/>
                </a:solidFill>
                <a:latin typeface="Arial"/>
              </a:defRPr>
            </a:pPr>
            <a:r>
              <a:t>€8M</a:t>
            </a:r>
          </a:p>
        </p:txBody>
      </p:sp>
      <p:sp>
        <p:nvSpPr>
          <p:cNvPr id="9" name="Rectangle 8"/>
          <p:cNvSpPr/>
          <p:nvPr/>
        </p:nvSpPr>
        <p:spPr>
          <a:xfrm>
            <a:off x="3200400" y="128016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33756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Growth Pct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37560" y="16916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3366"/>
                </a:solidFill>
                <a:latin typeface="Arial"/>
              </a:defRPr>
            </a:pPr>
            <a:r>
              <a:t>None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943600" y="128016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08076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Customers 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80760" y="16916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3366"/>
                </a:solidFill>
                <a:latin typeface="Arial"/>
              </a:defRPr>
            </a:pPr>
            <a:r>
              <a:t>14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686800" y="128016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82396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Share Of Revenue Pct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823960" y="16916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3366"/>
                </a:solidFill>
                <a:latin typeface="Arial"/>
              </a:defRPr>
            </a:pPr>
            <a:r>
              <a:t>5.8%</a:t>
            </a:r>
          </a:p>
        </p:txBody>
      </p:sp>
      <p:pic>
        <p:nvPicPr>
          <p:cNvPr id="18" name="Picture 17" descr="segment_2_metric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2560320"/>
            <a:ext cx="5486400" cy="292608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457200" y="256032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  <a:latin typeface="Arial"/>
              </a:defRPr>
            </a:pPr>
            <a:r>
              <a:t>Health: STABLE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2926080"/>
            <a:ext cx="5029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revenue: stable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customers: stable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5760720"/>
            <a:ext cx="11277295" cy="6858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94360" y="5852159"/>
            <a:ext cx="110029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Key Message: B2B revenue 8.0M; 5.8% of total revenue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Arial"/>
              </a:defRPr>
            </a:pPr>
            <a:r>
              <a:t>Segment Analysis: TV/Convergence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  <a:latin typeface="Arial"/>
              </a:defRPr>
            </a:pPr>
            <a:r>
              <a:t>SEGMENT PERFORMANCE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  <a:latin typeface="Arial"/>
              </a:defRPr>
            </a:pPr>
            <a:r>
              <a:t>29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8016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Revenue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6916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3366"/>
                </a:solidFill>
                <a:latin typeface="Arial"/>
              </a:defRPr>
            </a:pPr>
            <a:r>
              <a:t>None</a:t>
            </a:r>
          </a:p>
        </p:txBody>
      </p:sp>
      <p:sp>
        <p:nvSpPr>
          <p:cNvPr id="9" name="Rectangle 8"/>
          <p:cNvSpPr/>
          <p:nvPr/>
        </p:nvSpPr>
        <p:spPr>
          <a:xfrm>
            <a:off x="3200400" y="128016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33756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Total 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37560" y="16916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3366"/>
                </a:solidFill>
                <a:latin typeface="Arial"/>
              </a:defRPr>
            </a:pPr>
            <a:r>
              <a:t>€185M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943600" y="128016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08076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Net Adds 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80760" y="16916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3366"/>
                </a:solidFill>
                <a:latin typeface="Arial"/>
              </a:defRPr>
            </a:pPr>
            <a:r>
              <a:t>None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686800" y="128016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82396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Fmc Total 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823960" y="16916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3366"/>
                </a:solidFill>
                <a:latin typeface="Arial"/>
              </a:defRPr>
            </a:pPr>
            <a:r>
              <a:t>None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256032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  <a:latin typeface="Arial"/>
              </a:defRPr>
            </a:pPr>
            <a:r>
              <a:t>Health: STABLE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2926080"/>
            <a:ext cx="5029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revenue: stable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subscribers: improving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fmc_subscribers: stable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subscribers increased 2.8% QoQ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5760720"/>
            <a:ext cx="11277295" cy="6858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94360" y="5852159"/>
            <a:ext cx="110029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Key Message: TV subscribers 185K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Arial"/>
              </a:defRPr>
            </a:pPr>
            <a:r>
              <a:t>Network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  <a:latin typeface="Arial"/>
              </a:defRPr>
            </a:pPr>
            <a:r>
              <a:t>INFRASTRUCTURE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  <a:latin typeface="Arial"/>
              </a:defRPr>
            </a:pPr>
            <a:r>
              <a:t>30</a:t>
            </a:r>
          </a:p>
        </p:txBody>
      </p:sp>
      <p:pic>
        <p:nvPicPr>
          <p:cNvPr id="6" name="Picture 5" descr="coverage_gaug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188720"/>
            <a:ext cx="10972800" cy="2286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365760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  <a:latin typeface="Arial"/>
              </a:defRPr>
            </a:pPr>
            <a:r>
              <a:t>Technology Mix: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931920"/>
            <a:ext cx="4572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Mobile Vendor: Ericsson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Spectrum Mhz: 100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Core Vendor: Ericsson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0" y="3657600"/>
            <a:ext cx="5029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Arial"/>
              </a:defRPr>
            </a:pPr>
            <a:r>
              <a:t>Investment Direction: stable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5760720"/>
            <a:ext cx="11277295" cy="6858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" y="5852159"/>
            <a:ext cx="110029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Key Message: Network infrastructure and coverage assessment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Arial"/>
              </a:defRPr>
            </a:pPr>
            <a:r>
              <a:t>Business Model Canvas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  <a:latin typeface="Arial"/>
              </a:defRPr>
            </a:pPr>
            <a:r>
              <a:t>BMC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  <a:latin typeface="Arial"/>
              </a:defRPr>
            </a:pPr>
            <a:r>
              <a:t>31</a:t>
            </a:r>
          </a:p>
        </p:txBody>
      </p:sp>
      <p:pic>
        <p:nvPicPr>
          <p:cNvPr id="6" name="Picture 5" descr="bmc_canva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097280"/>
            <a:ext cx="11430000" cy="448056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457200" y="5760720"/>
            <a:ext cx="11277295" cy="6858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5852159"/>
            <a:ext cx="110029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Key Message: Business model canvas overview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Arial"/>
              </a:defRPr>
            </a:pPr>
            <a:r>
              <a:t>Organization &amp; Talent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  <a:latin typeface="Arial"/>
              </a:defRPr>
            </a:pPr>
            <a:r>
              <a:t>PEOPLE &amp; CULTURE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  <a:latin typeface="Arial"/>
              </a:defRPr>
            </a:pPr>
            <a:r>
              <a:t>32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8016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Employees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6916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3366"/>
                </a:solidFill>
                <a:latin typeface="Arial"/>
              </a:defRPr>
            </a:pPr>
            <a:r>
              <a:t>1,260</a:t>
            </a:r>
          </a:p>
        </p:txBody>
      </p:sp>
      <p:sp>
        <p:nvSpPr>
          <p:cNvPr id="9" name="Rectangle 8"/>
          <p:cNvSpPr/>
          <p:nvPr/>
        </p:nvSpPr>
        <p:spPr>
          <a:xfrm>
            <a:off x="3200400" y="128016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33756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C Suite Count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37560" y="16916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3366"/>
                </a:solidFill>
                <a:latin typeface="Arial"/>
              </a:defRPr>
            </a:pPr>
            <a:r>
              <a:t>2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943600" y="128016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08076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Avg Tenure Years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80760" y="16916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3366"/>
                </a:solidFill>
                <a:latin typeface="Arial"/>
              </a:defRPr>
            </a:pPr>
            <a:r>
              <a:t>4.4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686800" y="128016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82396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Key Leaders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823960" y="16916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3366"/>
                </a:solidFill>
                <a:latin typeface="Arial"/>
              </a:defRPr>
            </a:pPr>
            <a:r>
              <a:t>['Carlos Enrique Lopez (CEO)', 'Ana Maria Alvarez (CFO)']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265176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  <a:latin typeface="Arial"/>
              </a:defRPr>
            </a:pPr>
            <a:r>
              <a:t>Organization Culture: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2971800"/>
            <a:ext cx="5029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Arial"/>
              </a:defRPr>
            </a:pPr>
            <a:r>
              <a:t>Stable leadership team (avg tenure &gt;3 years); Growth-oriented strategic posture; Innovative (fintech/Bitcoin); Millicom standards; agile in compact market; digital-first approach.</a:t>
            </a:r>
          </a:p>
        </p:txBody>
      </p:sp>
      <p:pic>
        <p:nvPicPr>
          <p:cNvPr id="20" name="Picture 19" descr="talent_scor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2651760"/>
            <a:ext cx="5486400" cy="2743200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457200" y="457200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  <a:latin typeface="Arial"/>
              </a:defRPr>
            </a:pPr>
            <a:r>
              <a:t>Leadership Changes: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484632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Carlos Enrique Lopez: (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Ana Maria Alvarez: (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5760720"/>
            <a:ext cx="11277295" cy="6858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94360" y="5852159"/>
            <a:ext cx="110029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Key Message: Organization and talent assessment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Arial"/>
              </a:defRPr>
            </a:pPr>
            <a:r>
              <a:t>Strengths, Weaknesses &amp; Exposure Points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  <a:latin typeface="Arial"/>
              </a:defRPr>
            </a:pPr>
            <a:r>
              <a:t>SELF ASSESSMENT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  <a:latin typeface="Arial"/>
              </a:defRPr>
            </a:pPr>
            <a:r>
              <a:t>33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280160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8000"/>
                </a:solidFill>
                <a:latin typeface="Arial"/>
              </a:defRPr>
            </a:pPr>
            <a:r>
              <a:t>Strengths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645920"/>
            <a:ext cx="34747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Brand Strength: score 75 (market avg 65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Customer Service: score 70 (market avg 60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Digital Experience: score 68 (market avg 57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Distribution: score 78 (market avg 67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Enterprise Solutions: score 58 (market avg 48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Innovation: score 65 (market avg 52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0" y="1280160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C80000"/>
                </a:solidFill>
                <a:latin typeface="Arial"/>
              </a:defRPr>
            </a:pPr>
            <a:r>
              <a:t>Weaknesses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0" y="1645920"/>
            <a:ext cx="34747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5G coverage gap at only 0.0%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0" y="1280160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A500"/>
                </a:solidFill>
                <a:latin typeface="Arial"/>
              </a:defRPr>
            </a:pPr>
            <a:r>
              <a:t>Exposure Points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0" y="1645920"/>
            <a:ext cx="34747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Bitcoin legal tender creates operational complexity: Currency volatility risk on Bitcoin-denominated transactions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Claro leads in mobile market share and coverage: Tigo positioned as #2 in mobile, relies on fixed for differentiation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5760720"/>
            <a:ext cx="11277295" cy="6858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94360" y="5852159"/>
            <a:ext cx="110029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Key Message: Ranked #2 of 3 operators in market; revenue USD 139.0M; EBITDA margin 42.4%; stable but facing challenges; key strength: Brand Strength; key challenge: 5G coverage gap at only 0.0%; Management outlook: El Salvador mobile growth supported by data adoption and fintech integration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Arial"/>
              </a:defRPr>
            </a:pPr>
            <a:r>
              <a:t>SWOT Synthesis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6576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FFDCDC"/>
                </a:solidFill>
                <a:latin typeface="Arial"/>
              </a:defRPr>
            </a:pPr>
            <a:r>
              <a:t>Strengths, Weaknesses, Opportunities &amp; Threats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Arial"/>
              </a:defRPr>
            </a:pPr>
            <a:r>
              <a:t>SWOT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  <a:latin typeface="Arial"/>
              </a:defRPr>
            </a:pPr>
            <a:r>
              <a:t>STRATEGIC SYNTHESIS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  <a:latin typeface="Arial"/>
              </a:defRPr>
            </a:pPr>
            <a:r>
              <a:t>35</a:t>
            </a:r>
          </a:p>
        </p:txBody>
      </p:sp>
      <p:pic>
        <p:nvPicPr>
          <p:cNvPr id="6" name="Picture 5" descr="swot_matri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97280"/>
            <a:ext cx="6858000" cy="44805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772400" y="1280160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8000"/>
                </a:solidFill>
                <a:latin typeface="Arial"/>
              </a:defRPr>
            </a:pPr>
            <a:r>
              <a:t>SO: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03920" y="128016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33333"/>
                </a:solidFill>
                <a:latin typeface="Arial"/>
              </a:defRPr>
            </a:pPr>
            <a:r>
              <a:t>Leverage 'Brand Strength: score 75 (market avg 65)' to ca...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0" y="1920240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4682B4"/>
                </a:solidFill>
                <a:latin typeface="Arial"/>
              </a:defRPr>
            </a:pPr>
            <a:r>
              <a:t>WO: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03920" y="192024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33333"/>
                </a:solidFill>
                <a:latin typeface="Arial"/>
              </a:defRPr>
            </a:pPr>
            <a:r>
              <a:t>Address weakness '5G coverage gap at only 0.0%' to unlock...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0" y="2560320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A500"/>
                </a:solidFill>
                <a:latin typeface="Arial"/>
              </a:defRPr>
            </a:pPr>
            <a:r>
              <a:t>ST: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03920" y="256032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33333"/>
                </a:solidFill>
                <a:latin typeface="Arial"/>
              </a:defRPr>
            </a:pPr>
            <a:r>
              <a:t>Use strength 'Brand Strength: score 75 (market avg 65)' t...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0" y="3200400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C80000"/>
                </a:solidFill>
                <a:latin typeface="Arial"/>
              </a:defRPr>
            </a:pPr>
            <a:r>
              <a:t>WT: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03920" y="320040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33333"/>
                </a:solidFill>
                <a:latin typeface="Arial"/>
              </a:defRPr>
            </a:pPr>
            <a:r>
              <a:t>Mitigate weakness '5G coverage gap at only 0.0%' and defe...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5760720"/>
            <a:ext cx="11277295" cy="6858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94360" y="5852159"/>
            <a:ext cx="110029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Key Message: SWOT analysis identifies 12 strengths, 3 weaknesses, 6 opportunities, and 4 threats. The recommended strategic posture is offensive (SO-dominant).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Arial"/>
              </a:defRPr>
            </a:pPr>
            <a:r>
              <a:t>05 Look at Opportunities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6576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FFDCDC"/>
                </a:solidFill>
                <a:latin typeface="Arial"/>
              </a:defRPr>
            </a:pPr>
            <a:r>
              <a:t>SPAN Matrix — Opportunity Selection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Arial"/>
              </a:defRPr>
            </a:pPr>
            <a:r>
              <a:t>SPAN Matrix — Opportunity Positioning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  <a:latin typeface="Arial"/>
              </a:defRPr>
            </a:pPr>
            <a:r>
              <a:t>OPPORTUNITY MAP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  <a:latin typeface="Arial"/>
              </a:defRPr>
            </a:pPr>
            <a:r>
              <a:t>37</a:t>
            </a:r>
          </a:p>
        </p:txBody>
      </p:sp>
      <p:pic>
        <p:nvPicPr>
          <p:cNvPr id="6" name="Picture 5" descr="span_bubb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97280"/>
            <a:ext cx="10515600" cy="438912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457200" y="5760720"/>
            <a:ext cx="11277295" cy="6858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5852159"/>
            <a:ext cx="110029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Key Message: SPAN matrix positions 25 opportunities: 15 grow/invest, 3 acquire skills, 4 harvest, 3 avoid/exit. Focus resources on the 15 grow/invest items for maximum strategic impact.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Arial"/>
              </a:defRPr>
            </a:pPr>
            <a:r>
              <a:t>Opportunity Priority Ranking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  <a:latin typeface="Arial"/>
              </a:defRPr>
            </a:pPr>
            <a:r>
              <a:t>PRIORITIES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  <a:latin typeface="Arial"/>
              </a:defRPr>
            </a:pPr>
            <a:r>
              <a:t>38</a:t>
            </a:r>
          </a:p>
        </p:txBody>
      </p:sp>
      <p:pic>
        <p:nvPicPr>
          <p:cNvPr id="6" name="Picture 5" descr="priority_tab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188720"/>
            <a:ext cx="10972800" cy="41148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457200" y="5760720"/>
            <a:ext cx="11277295" cy="6858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5852159"/>
            <a:ext cx="110029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Key Message: SPAN matrix positions 25 opportunities: 15 grow/invest, 3 acquire skills, 4 harvest, 3 avoid/exit. Focus resources on the 15 grow/invest items for maximum strategic impact.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Arial"/>
              </a:defRPr>
            </a:pPr>
            <a:r>
              <a:t>Opportunity Details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  <a:latin typeface="Arial"/>
              </a:defRPr>
            </a:pPr>
            <a:r>
              <a:t>DEEP DIVE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  <a:latin typeface="Arial"/>
              </a:defRPr>
            </a:pPr>
            <a:r>
              <a:t>39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80160"/>
            <a:ext cx="10972800" cy="914400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371600"/>
            <a:ext cx="457200" cy="32004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389888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rial"/>
              </a:defRPr>
            </a:pPr>
            <a:r>
              <a:t>P0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0" y="132588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3366"/>
                </a:solidFill>
                <a:latin typeface="Arial"/>
              </a:defRPr>
            </a:pPr>
            <a:r>
              <a:t>SO-1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20" y="1600200"/>
            <a:ext cx="9144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Market: N/A | Window: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88720" y="182880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  <a:latin typeface="Arial"/>
              </a:defRPr>
            </a:pPr>
            <a:r>
              <a:t>Leverage 'Brand Strength: score 75 (market avg 65)' to capture the opportunity of 'Regulatory Environment: Compliance requirements and spectrum policies directly affect tigo_el_salvador'.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2331720"/>
            <a:ext cx="10972800" cy="914400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48640" y="2423160"/>
            <a:ext cx="457200" cy="32004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2441448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rial"/>
              </a:defRPr>
            </a:pPr>
            <a:r>
              <a:t>P0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88720" y="237744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3366"/>
                </a:solidFill>
                <a:latin typeface="Arial"/>
              </a:defRPr>
            </a:pPr>
            <a:r>
              <a:t>SO-2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88720" y="2651760"/>
            <a:ext cx="9144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Market: N/A | Window: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88720" y="288036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  <a:latin typeface="Arial"/>
              </a:defRPr>
            </a:pPr>
            <a:r>
              <a:t>Leverage 'Customer Service: score 70 (market avg 60)' to capture the opportunity of 'National Digital Strategy: Fiber/5G coverage mandates may require tigo_el_salvador investment but also enable subsidy access'.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3383280"/>
            <a:ext cx="10972800" cy="914400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48640" y="3474720"/>
            <a:ext cx="457200" cy="32004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8640" y="3493008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rial"/>
              </a:defRPr>
            </a:pPr>
            <a:r>
              <a:t>P0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88720" y="342900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3366"/>
                </a:solidFill>
                <a:latin typeface="Arial"/>
              </a:defRPr>
            </a:pPr>
            <a:r>
              <a:t>SO-3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88720" y="3703320"/>
            <a:ext cx="9144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Market: N/A | Window: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88720" y="393192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  <a:latin typeface="Arial"/>
              </a:defRPr>
            </a:pPr>
            <a:r>
              <a:t>Leverage 'Digital Experience: score 68 (market avg 57)' to capture the opportunity of 'Tigo El Salvador revenue growth 6.1% YoY'.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" y="4434840"/>
            <a:ext cx="10972800" cy="914400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48640" y="4526280"/>
            <a:ext cx="457200" cy="32004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48640" y="4544568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rial"/>
              </a:defRPr>
            </a:pPr>
            <a:r>
              <a:t>P0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88720" y="448056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3366"/>
                </a:solidFill>
                <a:latin typeface="Arial"/>
              </a:defRPr>
            </a:pPr>
            <a:r>
              <a:t>SO-4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88720" y="4754880"/>
            <a:ext cx="9144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Market: N/A | Window: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88720" y="498348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  <a:latin typeface="Arial"/>
              </a:defRPr>
            </a:pPr>
            <a:r>
              <a:t>Leverage 'Distribution: score 78 (market avg 67)' to capture the opportunity of 'Digicel El Salvador revenue decline 9.5% YoY'.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57200" y="5760720"/>
            <a:ext cx="11277295" cy="6858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94360" y="5852159"/>
            <a:ext cx="110029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Key Message: SPAN matrix positions 25 opportunities: 15 grow/invest, 3 acquire skills, 4 harvest, 3 avoid/exit. Focus resources on the 15 grow/invest items for maximum strategic impact.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Arial"/>
              </a:defRPr>
            </a:pPr>
            <a:r>
              <a:t>Three Decisions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6576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FFDCDC"/>
                </a:solidFill>
                <a:latin typeface="Arial"/>
              </a:defRPr>
            </a:pPr>
            <a:r>
              <a:t>Strategy — Key Tasks — Execution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Arial"/>
              </a:defRPr>
            </a:pPr>
            <a:r>
              <a:t>Decision 1: Define Strategy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  <a:latin typeface="Arial"/>
              </a:defRPr>
            </a:pPr>
            <a:r>
              <a:t>OFFENSIVE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  <a:latin typeface="Arial"/>
              </a:defRPr>
            </a:pPr>
            <a:r>
              <a:t>41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887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4682B4"/>
                </a:solidFill>
                <a:latin typeface="Arial"/>
              </a:defRPr>
            </a:pPr>
            <a:r>
              <a:t>As The Squeezed Middle: close the leadership gap with aggressive growth in high-momentum segments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1920240"/>
            <a:ext cx="2743200" cy="32004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93192" y="1993392"/>
            <a:ext cx="411480" cy="256032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29768" y="2002536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FFFFFF"/>
                </a:solidFill>
                <a:latin typeface="Arial"/>
              </a:defRPr>
            </a:pPr>
            <a:r>
              <a:t>P0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233172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333333"/>
                </a:solidFill>
                <a:latin typeface="Arial"/>
              </a:defRPr>
            </a:pPr>
            <a:r>
              <a:t>Growth Strategy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" y="2697480"/>
            <a:ext cx="25603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C3E50"/>
                </a:solidFill>
                <a:latin typeface="Arial"/>
              </a:defRPr>
            </a:pPr>
            <a:r>
              <a:t>Close the gap to market leader — accelerate Mobile, Fixed Broadband, TV/Convergence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" y="4023360"/>
            <a:ext cx="2560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7F8C8D"/>
                </a:solidFill>
                <a:latin typeface="Arial"/>
              </a:defRPr>
            </a:pPr>
            <a:r>
              <a:t>- Gain 1-2pp revenue share</a:t>
            </a:r>
            <a:br/>
            <a:r>
              <a:t>- Grow Mobile, Fixed Broadband, TV/Convergence double-digit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00400" y="1920240"/>
            <a:ext cx="2743200" cy="3200400"/>
          </a:xfrm>
          <a:prstGeom prst="rect">
            <a:avLst/>
          </a:prstGeom>
          <a:solidFill>
            <a:srgbClr val="EB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273552" y="1993392"/>
            <a:ext cx="411480" cy="256032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310128" y="2002536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FFFFFF"/>
                </a:solidFill>
                <a:latin typeface="Arial"/>
              </a:defRPr>
            </a:pPr>
            <a:r>
              <a:t>P0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91840" y="233172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333333"/>
                </a:solidFill>
                <a:latin typeface="Arial"/>
              </a:defRPr>
            </a:pPr>
            <a:r>
              <a:t>Competitive Strategy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91840" y="2697480"/>
            <a:ext cx="25603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C3E50"/>
                </a:solidFill>
                <a:latin typeface="Arial"/>
              </a:defRPr>
            </a:pPr>
            <a:r>
              <a:t>Capitalize on competitive strengths to gain market share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91840" y="4023360"/>
            <a:ext cx="2560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7F8C8D"/>
                </a:solidFill>
                <a:latin typeface="Arial"/>
              </a:defRPr>
            </a:pPr>
            <a:r>
              <a:t>- Outgrow competitors in key segments</a:t>
            </a:r>
            <a:br/>
            <a:r>
              <a:t>- Increase service differentiation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080760" y="1920240"/>
            <a:ext cx="2743200" cy="32004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153912" y="1993392"/>
            <a:ext cx="411480" cy="256032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190488" y="2002536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FFFFFF"/>
                </a:solidFill>
                <a:latin typeface="Arial"/>
              </a:defRPr>
            </a:pPr>
            <a:r>
              <a:t>P1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172200" y="233172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333333"/>
                </a:solidFill>
                <a:latin typeface="Arial"/>
              </a:defRPr>
            </a:pPr>
            <a:r>
              <a:t>Transformation Strategy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172200" y="2697480"/>
            <a:ext cx="25603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C3E50"/>
                </a:solidFill>
                <a:latin typeface="Arial"/>
              </a:defRPr>
            </a:pPr>
            <a:r>
              <a:t>Accelerate fiber transition — converged network as competitive moat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172200" y="4023360"/>
            <a:ext cx="2560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7F8C8D"/>
                </a:solidFill>
                <a:latin typeface="Arial"/>
              </a:defRPr>
            </a:pPr>
            <a:r>
              <a:t>- Fiber homepass coverage +20%</a:t>
            </a:r>
            <a:br/>
            <a:r>
              <a:t>- FMC bundle attach rate 50%+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961120" y="1920240"/>
            <a:ext cx="2743200" cy="3200400"/>
          </a:xfrm>
          <a:prstGeom prst="rect">
            <a:avLst/>
          </a:prstGeom>
          <a:solidFill>
            <a:srgbClr val="EB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9034272" y="1993392"/>
            <a:ext cx="411480" cy="256032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070848" y="2002536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FFFFFF"/>
                </a:solidFill>
                <a:latin typeface="Arial"/>
              </a:defRPr>
            </a:pPr>
            <a:r>
              <a:t>P1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052560" y="233172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333333"/>
                </a:solidFill>
                <a:latin typeface="Arial"/>
              </a:defRPr>
            </a:pPr>
            <a:r>
              <a:t>Customer Strategy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052560" y="2697480"/>
            <a:ext cx="25603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C3E50"/>
                </a:solidFill>
                <a:latin typeface="Arial"/>
              </a:defRPr>
            </a:pPr>
            <a:r>
              <a:t>Optimize value extraction in stable segments: B2B, Wholesale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052560" y="4023360"/>
            <a:ext cx="2560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7F8C8D"/>
                </a:solidFill>
                <a:latin typeface="Arial"/>
              </a:defRPr>
            </a:pPr>
            <a:r>
              <a:t>- Upsell rate +10% in B2B, Wholesale</a:t>
            </a:r>
            <a:br/>
            <a:r>
              <a:t>- Cross-sell convergence bundles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57200" y="5760720"/>
            <a:ext cx="11277295" cy="6858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94360" y="5852159"/>
            <a:ext cx="110029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Key Message: As The Squeezed Middle, the strategic posture is Offensive. As The Squeezed Middle: close the leadership gap with aggres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Arial"/>
              </a:defRPr>
            </a:pPr>
            <a:r>
              <a:t>Decision 2: Define Key Tasks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  <a:latin typeface="Arial"/>
              </a:defRPr>
            </a:pPr>
            <a:r>
              <a:t>3 P0 (IMMEDIATE), 2 P1 (1-2 YEARS), 1 P2 (3-5 YEARS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  <a:latin typeface="Arial"/>
              </a:defRPr>
            </a:pPr>
            <a:r>
              <a:t>42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371600"/>
            <a:ext cx="11338560" cy="548640"/>
          </a:xfrm>
          <a:prstGeom prst="rect">
            <a:avLst/>
          </a:prstGeom>
          <a:solidFill>
            <a:srgbClr val="FDED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508760"/>
            <a:ext cx="411480" cy="27432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84048" y="1517904"/>
            <a:ext cx="38404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FFFFFF"/>
                </a:solidFill>
                <a:latin typeface="Arial"/>
              </a:defRPr>
            </a:pPr>
            <a:r>
              <a:t>P0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1517904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2980B9"/>
                </a:solidFill>
                <a:latin typeface="Arial"/>
              </a:defRPr>
            </a:pPr>
            <a:r>
              <a:t>Network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103120" y="1444752"/>
            <a:ext cx="5029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2C3E50"/>
                </a:solidFill>
                <a:latin typeface="Arial"/>
              </a:defRPr>
            </a:pPr>
            <a:r>
              <a:t>Accelerate Fixed Network Upgrade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03120" y="1691640"/>
            <a:ext cx="5029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7F8C8D"/>
                </a:solidFill>
                <a:latin typeface="Arial"/>
              </a:defRPr>
            </a:pPr>
            <a:r>
              <a:t>Drive DOCSIS/Fiber rollout to increase homepass and improve quality scores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0" y="150876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566C73"/>
                </a:solidFill>
                <a:latin typeface="Arial"/>
              </a:defRPr>
            </a:pPr>
            <a:r>
              <a:t>Homepass coverage +15% | Speed tier upgrades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4320" y="1965960"/>
            <a:ext cx="11338560" cy="548640"/>
          </a:xfrm>
          <a:prstGeom prst="rect">
            <a:avLst/>
          </a:prstGeom>
          <a:solidFill>
            <a:srgbClr val="FDED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65760" y="2103120"/>
            <a:ext cx="411480" cy="27432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84048" y="2112264"/>
            <a:ext cx="38404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FFFFFF"/>
                </a:solidFill>
                <a:latin typeface="Arial"/>
              </a:defRPr>
            </a:pPr>
            <a:r>
              <a:t>P0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2112264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27AE60"/>
                </a:solidFill>
                <a:latin typeface="Arial"/>
              </a:defRPr>
            </a:pPr>
            <a:r>
              <a:t>Business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103120" y="2039112"/>
            <a:ext cx="5029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2C3E50"/>
                </a:solidFill>
                <a:latin typeface="Arial"/>
              </a:defRPr>
            </a:pPr>
            <a:r>
              <a:t>Accelerate Mobile Growth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103120" y="2286000"/>
            <a:ext cx="5029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7F8C8D"/>
                </a:solidFill>
                <a:latin typeface="Arial"/>
              </a:defRPr>
            </a:pPr>
            <a:r>
              <a:t>Mobile at €87M showing strong momentum — invest to scale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0" y="210312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566C73"/>
                </a:solidFill>
                <a:latin typeface="Arial"/>
              </a:defRPr>
            </a:pPr>
            <a:r>
              <a:t>Mobile revenue +10% YoY | Market share gain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74320" y="2560320"/>
            <a:ext cx="11338560" cy="548640"/>
          </a:xfrm>
          <a:prstGeom prst="rect">
            <a:avLst/>
          </a:prstGeom>
          <a:solidFill>
            <a:srgbClr val="FDED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65760" y="2697480"/>
            <a:ext cx="411480" cy="27432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84048" y="2706624"/>
            <a:ext cx="38404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FFFFFF"/>
                </a:solidFill>
                <a:latin typeface="Arial"/>
              </a:defRPr>
            </a:pPr>
            <a:r>
              <a:t>P0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" y="2706624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27AE60"/>
                </a:solidFill>
                <a:latin typeface="Arial"/>
              </a:defRPr>
            </a:pPr>
            <a:r>
              <a:t>Business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103120" y="2633472"/>
            <a:ext cx="5029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2C3E50"/>
                </a:solidFill>
                <a:latin typeface="Arial"/>
              </a:defRPr>
            </a:pPr>
            <a:r>
              <a:t>Accelerate Fixed Broadband Growth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103120" y="2880360"/>
            <a:ext cx="5029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7F8C8D"/>
                </a:solidFill>
                <a:latin typeface="Arial"/>
              </a:defRPr>
            </a:pPr>
            <a:r>
              <a:t>Fixed Broadband at €37M showing strong momentum — invest to scale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15200" y="269748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566C73"/>
                </a:solidFill>
                <a:latin typeface="Arial"/>
              </a:defRPr>
            </a:pPr>
            <a:r>
              <a:t>Fixed Broadband revenue +10% YoY | Market share gain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74320" y="3154680"/>
            <a:ext cx="11338560" cy="548640"/>
          </a:xfrm>
          <a:prstGeom prst="rect">
            <a:avLst/>
          </a:prstGeom>
          <a:solidFill>
            <a:srgbClr val="FEF5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365760" y="3291840"/>
            <a:ext cx="411480" cy="27432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84048" y="3300984"/>
            <a:ext cx="38404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FFFFFF"/>
                </a:solidFill>
                <a:latin typeface="Arial"/>
              </a:defRPr>
            </a:pPr>
            <a:r>
              <a:t>P1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4400" y="3300984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27AE60"/>
                </a:solidFill>
                <a:latin typeface="Arial"/>
              </a:defRPr>
            </a:pPr>
            <a:r>
              <a:t>Business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103120" y="3227832"/>
            <a:ext cx="5029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2C3E50"/>
                </a:solidFill>
                <a:latin typeface="Arial"/>
              </a:defRPr>
            </a:pPr>
            <a:r>
              <a:t>Opportunity Portfolio Execution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103120" y="3474720"/>
            <a:ext cx="5029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7F8C8D"/>
                </a:solidFill>
                <a:latin typeface="Arial"/>
              </a:defRPr>
            </a:pPr>
            <a:r>
              <a:t>15 grow/invest opportunities identified — establish execution office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315200" y="329184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566C73"/>
                </a:solidFill>
                <a:latin typeface="Arial"/>
              </a:defRPr>
            </a:pPr>
            <a:r>
              <a:t>Launch 3+ priority initiatives | Pipeline contribution tracking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74320" y="3749040"/>
            <a:ext cx="11338560" cy="548640"/>
          </a:xfrm>
          <a:prstGeom prst="rect">
            <a:avLst/>
          </a:prstGeom>
          <a:solidFill>
            <a:srgbClr val="FEF5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365760" y="3886200"/>
            <a:ext cx="411480" cy="27432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84048" y="3895344"/>
            <a:ext cx="38404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FFFFFF"/>
                </a:solidFill>
                <a:latin typeface="Arial"/>
              </a:defRPr>
            </a:pPr>
            <a:r>
              <a:t>P1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14400" y="3895344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8E44AD"/>
                </a:solidFill>
                <a:latin typeface="Arial"/>
              </a:defRPr>
            </a:pPr>
            <a:r>
              <a:t>Customer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103120" y="3822192"/>
            <a:ext cx="5029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2C3E50"/>
                </a:solidFill>
                <a:latin typeface="Arial"/>
              </a:defRPr>
            </a:pPr>
            <a:r>
              <a:t>Customer Experience Enhancement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103120" y="4069080"/>
            <a:ext cx="5029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7F8C8D"/>
                </a:solidFill>
                <a:latin typeface="Arial"/>
              </a:defRPr>
            </a:pPr>
            <a:r>
              <a:t>Improve digital touchpoints and service resolution to boost NPS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315200" y="388620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566C73"/>
                </a:solidFill>
                <a:latin typeface="Arial"/>
              </a:defRPr>
            </a:pPr>
            <a:r>
              <a:t>NPS +5 points | First-call resolution rate 80%+</a:t>
            </a:r>
          </a:p>
        </p:txBody>
      </p:sp>
      <p:sp>
        <p:nvSpPr>
          <p:cNvPr id="41" name="Rectangle 40"/>
          <p:cNvSpPr/>
          <p:nvPr/>
        </p:nvSpPr>
        <p:spPr>
          <a:xfrm>
            <a:off x="274320" y="4343400"/>
            <a:ext cx="11338560" cy="548640"/>
          </a:xfrm>
          <a:prstGeom prst="rect">
            <a:avLst/>
          </a:prstGeom>
          <a:solidFill>
            <a:srgbClr val="EAFB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365760" y="4480560"/>
            <a:ext cx="411480" cy="27432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384048" y="4489704"/>
            <a:ext cx="38404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FFFFFF"/>
                </a:solidFill>
                <a:latin typeface="Arial"/>
              </a:defRPr>
            </a:pPr>
            <a:r>
              <a:t>P2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14400" y="4489704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E67E22"/>
                </a:solidFill>
                <a:latin typeface="Arial"/>
              </a:defRPr>
            </a:pPr>
            <a:r>
              <a:t>Efficiency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2103120" y="4416552"/>
            <a:ext cx="5029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2C3E50"/>
                </a:solidFill>
                <a:latin typeface="Arial"/>
              </a:defRPr>
            </a:pPr>
            <a:r>
              <a:t>Operational Efficiency &amp; Automation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2103120" y="4663440"/>
            <a:ext cx="5029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7F8C8D"/>
                </a:solidFill>
                <a:latin typeface="Arial"/>
              </a:defRPr>
            </a:pPr>
            <a:r>
              <a:t>EBITDA margin 42.4% — maintain through smart automation and resource reallocatio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315200" y="448056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566C73"/>
                </a:solidFill>
                <a:latin typeface="Arial"/>
              </a:defRPr>
            </a:pPr>
            <a:r>
              <a:t>Process automation 30%+ | Cost-to-serve reduction</a:t>
            </a:r>
          </a:p>
        </p:txBody>
      </p:sp>
      <p:sp>
        <p:nvSpPr>
          <p:cNvPr id="48" name="Rectangle 47"/>
          <p:cNvSpPr/>
          <p:nvPr/>
        </p:nvSpPr>
        <p:spPr>
          <a:xfrm>
            <a:off x="457200" y="5760720"/>
            <a:ext cx="11277295" cy="6858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594360" y="5852159"/>
            <a:ext cx="110029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Key Message: 6 critical tasks: 3 P0 (immediate), 2 P1 (1-2 years), 1 P2 (3-5 years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Arial"/>
              </a:defRPr>
            </a:pPr>
            <a:r>
              <a:t>Decision 3: Define Execution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  <a:latin typeface="Arial"/>
              </a:defRPr>
            </a:pPr>
            <a:r>
              <a:t>QUARTERLY ROADMAP &amp; GOVERNANCE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  <a:latin typeface="Arial"/>
              </a:defRPr>
            </a:pPr>
            <a:r>
              <a:t>43</a:t>
            </a:r>
          </a:p>
        </p:txBody>
      </p:sp>
      <p:pic>
        <p:nvPicPr>
          <p:cNvPr id="6" name="Picture 5" descr="execution_time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188720"/>
            <a:ext cx="11430000" cy="256032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402336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333333"/>
                </a:solidFill>
                <a:latin typeface="Arial"/>
              </a:defRPr>
            </a:pPr>
            <a:r>
              <a:t>Governance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38912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C3E50"/>
                </a:solidFill>
                <a:latin typeface="Arial"/>
              </a:defRPr>
            </a:pPr>
            <a:r>
              <a:t>- Monthly Progress Review (Monthly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75488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C3E50"/>
                </a:solidFill>
                <a:latin typeface="Arial"/>
              </a:defRPr>
            </a:pPr>
            <a:r>
              <a:t>- Quarterly Strategic Checkpoint (Quarterly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512064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C3E50"/>
                </a:solidFill>
                <a:latin typeface="Arial"/>
              </a:defRPr>
            </a:pPr>
            <a:r>
              <a:t>- Mid-Year Strategic Adjustment (Semi-annual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402336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C0392B"/>
                </a:solidFill>
                <a:latin typeface="Arial"/>
              </a:defRPr>
            </a:pPr>
            <a:r>
              <a:t>Strategic Traps to Avoid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438912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0392B"/>
                </a:solidFill>
                <a:latin typeface="Arial"/>
              </a:defRPr>
            </a:pPr>
            <a:r>
              <a:t>x Enter a price war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475488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0392B"/>
                </a:solidFill>
                <a:latin typeface="Arial"/>
              </a:defRPr>
            </a:pPr>
            <a:r>
              <a:t>x Attempt premium repositioning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512064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0392B"/>
                </a:solidFill>
                <a:latin typeface="Arial"/>
              </a:defRPr>
            </a:pPr>
            <a:r>
              <a:t>x Delay core transformation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530352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333333"/>
                </a:solidFill>
                <a:latin typeface="Arial"/>
              </a:defRPr>
            </a:pPr>
            <a:r>
              <a:t>Key Risks &amp; Mitigation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5623560"/>
            <a:ext cx="10972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566C73"/>
                </a:solidFill>
                <a:latin typeface="Arial"/>
              </a:defRPr>
            </a:pPr>
            <a:r>
              <a:t>! Resource constraints delay P0 initiatives -- Ring-fence P0 budgets; establish escalation path for blockers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5897880"/>
            <a:ext cx="10972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566C73"/>
                </a:solidFill>
                <a:latin typeface="Arial"/>
              </a:defRPr>
            </a:pPr>
            <a:r>
              <a:t>! Macro-economic slowdown reduces consumer spending -- Prepare value-tier offerings; shift mix toward B2B resilience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5760720"/>
            <a:ext cx="11277295" cy="6858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94360" y="5852159"/>
            <a:ext cx="110029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Key Message: Execute with discipline: monthly reviews, quarterly checkpoints, annual refresh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Arial"/>
              </a:defRPr>
            </a:pPr>
            <a:r>
              <a:t>Analysis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  <a:latin typeface="Arial"/>
              </a:defRPr>
            </a:pPr>
            <a:r>
              <a:t>KEY TAKEAWAYS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  <a:latin typeface="Arial"/>
              </a:defRPr>
            </a:pPr>
            <a:r>
              <a:t>44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80160"/>
            <a:ext cx="73152" cy="54864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298448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  <a:latin typeface="Arial"/>
              </a:defRPr>
            </a:pPr>
            <a:r>
              <a:t>01 Trends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26080" y="1298448"/>
            <a:ext cx="8686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Arial"/>
              </a:defRPr>
            </a:pPr>
            <a:r>
              <a:t>Macro environment: Favorable. Key opportunities: Regulatory Environment, National Digital Strategy. Key risks: Regulatory Environment, Fiber Broadband Penetration Industry is mature. (+1.7% YoY (CQ2_2025 -&gt; CQ4_2025)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920240"/>
            <a:ext cx="73152" cy="54864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1938528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  <a:latin typeface="Arial"/>
              </a:defRPr>
            </a:pPr>
            <a:r>
              <a:t>02 Market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26080" y="1938528"/>
            <a:ext cx="8686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Arial"/>
              </a:defRPr>
            </a:pPr>
            <a:r>
              <a:t>El Salvador telecom market totals USD 356.0M in quarterly revenue; competitive strengths in Availability; gaps in Assurances; Market outlook is favorable with more opportunities than threats.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2560320"/>
            <a:ext cx="73152" cy="54864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2578608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  <a:latin typeface="Arial"/>
              </a:defRPr>
            </a:pPr>
            <a:r>
              <a:t>03 Competition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26080" y="2578608"/>
            <a:ext cx="8686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Arial"/>
              </a:defRPr>
            </a:pPr>
            <a:r>
              <a:t>In a 3-player market with medium competition intensity, Claro El Salvador leads with 50% revenue share. Target operator holds 39% share. Strongest competitive force: Existing Competitors.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3200400"/>
            <a:ext cx="73152" cy="54864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3218688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  <a:latin typeface="Arial"/>
              </a:defRPr>
            </a:pPr>
            <a:r>
              <a:t>04 Self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926080" y="3218688"/>
            <a:ext cx="8686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Arial"/>
              </a:defRPr>
            </a:pPr>
            <a:r>
              <a:t>Ranked #2 of 3 operators in market; revenue USD 139.0M; EBITDA margin 42.4%; stable but facing challenges; key strength: Brand Strength; key challenge: 5G coverage gap at only 0.0%; Management outlook: El Salvador mobile growth supported by data adoption and fintech integration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3840480"/>
            <a:ext cx="73152" cy="54864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1520" y="3858768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  <a:latin typeface="Arial"/>
              </a:defRPr>
            </a:pPr>
            <a:r>
              <a:t>SWOT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26080" y="3858768"/>
            <a:ext cx="8686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Arial"/>
              </a:defRPr>
            </a:pPr>
            <a:r>
              <a:t>SWOT analysis identifies 12 strengths, 3 weaknesses, 6 opportunities, and 4 threats. The recommended strategic posture is offensive (SO-dominant).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4480560"/>
            <a:ext cx="73152" cy="54864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1520" y="4498848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  <a:latin typeface="Arial"/>
              </a:defRPr>
            </a:pPr>
            <a:r>
              <a:t>05 Opportunities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926080" y="4498848"/>
            <a:ext cx="8686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Arial"/>
              </a:defRPr>
            </a:pPr>
            <a:r>
              <a:t>SPAN matrix positions 25 opportunities: 15 grow/invest, 3 acquire skills, 4 harvest, 3 avoid/exit. Focus resources on the 15 grow/invest items for maximum strategic impact.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" y="5760720"/>
            <a:ext cx="11277295" cy="6858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94360" y="5852159"/>
            <a:ext cx="110029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Key Message: Complete Five Looks analysis — see opportunity priorities for next steps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Arial"/>
              </a:defRPr>
            </a:pPr>
            <a:r>
              <a:t>Data Provenance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  <a:latin typeface="Arial"/>
              </a:defRPr>
            </a:pPr>
            <a:r>
              <a:t>SOURCES &amp; METHODOLOGY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  <a:latin typeface="Arial"/>
              </a:defRPr>
            </a:pPr>
            <a:r>
              <a:t>45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82880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08080"/>
                </a:solidFill>
                <a:latin typeface="Arial"/>
              </a:defRPr>
            </a:pPr>
            <a:r>
              <a:t>No provenance data recorded for this analysis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5760720"/>
            <a:ext cx="11277295" cy="6858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5852159"/>
            <a:ext cx="110029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Key Message: All data points are traceable to original sources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828800" y="22860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  <a:latin typeface="Arial"/>
              </a:defRPr>
            </a:pPr>
            <a:r>
              <a:t>Thank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36576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FFDCDC"/>
                </a:solidFill>
                <a:latin typeface="Arial"/>
              </a:defRPr>
            </a:pPr>
            <a:r>
              <a:t>BLM Five Looks Strategic Analysis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