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Free Fr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France telecom market totals EUR 10.7B in quarterly revenue; competitive strengths in Availability, Performance;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Orange France leads with 43% revenue share. Target operator holds 16%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#4 of 4 operators in market; revenue EUR 1,740M; EBITDA margin 42.0%; stable but facing challenges; key strength: Brand Strength; key challenge: Customer Service; Management outlook: FY2024: France revenue EUR 6,530M (+8.2%), EBITDAaL EUR 2,600M (39.9% margin). Iliad Group crossed EUR 10B revenue milestone. Europe's 5th largest telco by subscribers (50.5M). 2025 OpFCF target EUR 2.0B.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7 weaknesses, 5 opportunities, and 4 threats. The recommended strategic posture is improvement-focused (WO-dominant).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28 opportunities: 16 grow/invest, 4 acquire skills, 4 harvest, 4 avoid/exit. Focus resources on the 16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10.7B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+1.9%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(Orange France: 42.9%, SFR (Altice France): 21.6%, Bouygues Telecom: 19.2%, Free (Iliad): 16.3%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10,670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76,120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31,190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SFR (Altice France) revenue decline 9.4%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Orange, Bouygues, Free bid EUR 17B for SFR assets — rejected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Iliad announces EUR 3B AI investment — Scaleway, OpCore, Kyutai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Altice France restructures EUR 24B debt — creditors take 45% stake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France telecom market totals EUR 10.7B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Seamless multi-screen entertainment experience (TV, mobile, home), Ultra-fast symmetric fiber for remote work and gaming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Value-Seeking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Transparent low-cost unlimited mobile plans, Affordable fiber broadband without long contracts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SIM-Only / MVNO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Ultra-low-cost mobile-only connectivity, Flexible prepaid/no-contract options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Public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Private 5G networks for Industry 4.0, Multi-cloud connectivity and SD-WAN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France telecom market totals EUR 10.7B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France telecom market totals EUR 10.7B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downward: price competition intensifying. Defend high-value customers and optimize cost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SFR (Altice France) revenue decline 9.4%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Iliad announces EUR 3B AI investment — Scaleway, OpCore, Kyutai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Altice France restructures EUR 24B debt — creditors take 45% stake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France telecom market totals EUR 10.7B in quarterly revenue; competitive strengths in Availability, Performance;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Orange France leads with 43% revenue share. Target operator holds 16%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Bouygues Telecom 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€540M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26.3%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88 (market avg 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Bouygues Telecom Fr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Sfr 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€2,300M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-9.1%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55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68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72 (market avg 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Sfr Fr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Orange 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€4,580M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€1,625M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80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92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95 (market avg 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55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Orange Fr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Orange France leads with 43% revenue share. Target operator holds 16% share. Strongest competitive force: Existing Competitors.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Free Fr vs Orange 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Orange Fr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+2.17%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+2.1%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19.5%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+5.4% | Decelerating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#4 of 4 operators in market; revenue EUR 1,740M; EBITDA margin 42.0%; stable but facing challenges; key strength: Brand Strength; key challenge: Customer Service; Management outlook: FY2024: France revenue EUR 6,530M (+8.2%), EBITDAaL EUR 2,600M (39.9% margin). Iliad Group crossed EUR 10B revenue milestone. Europe's 5th largest telco by subscribers (50.5M). 2025 OpFCF target EUR 2.0B.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Orange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42.9%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+1.2pp gaining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SFR (Altice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21.6%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-3.3pp 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Bouygues Telecom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19.2%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+0.9pp gaining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Free (Iliad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16.3%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+1.2pp gaining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2,942 (Highly Concentrated) | CR3: 83.7% | Trend: Stable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20.8% (+0.2pp) | Broadband: 24.8% (+0.1pp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16.3% (#4); gaining (+1.2pp); market is highly concentrated (HHI 2,942).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+5.4%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(41/100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+12.4%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(26/100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+6.7%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(37/100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Decelerating Growth — based on 3 KPI trend analyses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Broadband, B2B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€680M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€15,820M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€12,650M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subs 15.5M (+668K net adds in 2024). 5G SA launched nationwide Sep 2024. Mobile ARPU EUR 12.3 (+1.8% YoY). Convergent discount driving improved retention but slight ARPU dilution.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680.0M; up 3.3% YoY; ARPU 12.6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€955M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-1.7%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€7,730M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Freebox subs 7.6M. Fiber take-up 81.7% (6.4M FTTH active). Fixed ARPU EUR 37.0 (+4.5% YoY). Freebox Ultra driving ARPU uplift. 37M+ premises connectable across group.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955.0M; growth -1.7% YoY; Fiber subs 7000K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3.6%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3.3%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7.1%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62.0M; 3.6%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€7,090M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7090K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310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5G SA launched Sep 2024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Technology: GPON/XGS-PON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10,300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['Nicolas Thomas (CEO, Free (France OpCo))', 'Thomas Reynaud (CEO, Iliad Group)', 'Thomas Robin (CFO, Free (France OpCo))']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Entrepreneurial and engineering-driven. Xavier Niel's disruptive DNA. Innovation-focused (hardware R&amp;D in-house). Lean organization. Startup mentality at scale.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Nicolas Thomas: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Thomas Reynaud: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Thomas Robin: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90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92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95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42.0%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72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35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Ranked #4 in revenue among competitors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Aggressive pricing model constrains ARPU growth: Revenue per user significantly below Orange and Bouygues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Limited B2B/enterprise presence despite Free Pro launch: Missing large and growing revenue pool in enterprise ICT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Reliance on price disruption in mature market with decreasing headroom: Limited ability to raise prices without losing brand positioning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#4 of 4 operators in market; revenue EUR 1,740M; EBITDA margin 42.0%; stable but facing challenges; key strength: Brand Strength; key challenge: Customer Service; Management outlook: FY2024: France revenue EUR 6,530M (+8.2%), EBITDAaL EUR 2,600M (39.9% margin). Iliad Group crossed EUR 10B revenue milestone. Europe's 5th largest telco by subscribers (50.5M). 2025 OpFCF target EUR 2.0B.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7 weaknesses, 5 opportunities, and 4 threats. The recommended strategic posture is improvement-focused (WO-dominant).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16 grow/invest, 4 acquire skills, 4 harvest, 4 avoid/exit. Focus resources on the 16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16 grow/invest, 4 acquire skills, 4 harvest, 4 avoid/exit. Focus resources on the 16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free_fr'.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90 (market avg 80)' to capture the opportunity of 'National Digital Strategy: Fiber/5G coverage mandates may require free_fr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92 (market avg 78)' to capture the opportunity of 'SFR (Altice France) revenue decline 9.4%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95 (market avg 76)' to capture the opportunity of 'Iliad announces EUR 3B AI investment — Scaleway, OpCore, Kyutai'.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16 grow/invest, 4 acquire skills, 4 harvest, 4 avoid/exit. Focus resources on the 16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differentiate and grow through focused investment in competitive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Mobile, Fixed Broadband, B2B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TV/Convergence,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TV/Convergence,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Offensive. As The Squeezed Middle: differentiate and grow through focus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€680M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€955M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16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42.0%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(+1.9%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France telecom market totals EUR 10.7B in quarterly revenue; competitive strengths in Availability, Performance;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Orange France leads with 43% revenue share. Target operator holds 16%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#4 of 4 operators in market; revenue EUR 1,740M; EBITDA margin 42.0%; stable but facing challenges; key strength: Brand Strength; key challenge: Customer Service; Management outlook: FY2024: France revenue EUR 6,530M (+8.2%), EBITDAaL EUR 2,600M (39.9% margin). Iliad Group crossed EUR 10B revenue milestone. Europe's 5th largest telco by subscribers (50.5M). 2025 OpFCF target EUR 2.0B.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7 weaknesses, 5 opportunities, and 4 threats. The recommended strategic posture is improvement-focused (WO-dominant).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28 opportunities: 16 grow/invest, 4 acquire skills, 4 harvest, 4 avoid/exit. Focus resources on the 16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