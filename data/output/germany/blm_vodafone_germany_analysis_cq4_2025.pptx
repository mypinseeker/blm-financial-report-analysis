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Default BLM Strategic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BLM (Business Leadership Model) Five Looks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200400"/>
            <a:ext cx="265176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2918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Target Operator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5661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  <a:latin typeface="Arial"/>
              </a:defRPr>
            </a:pPr>
            <a:r>
              <a:t>Vodafone Germany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3200400"/>
            <a:ext cx="265176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29000" y="32918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35661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  <a:latin typeface="Arial"/>
              </a:defRPr>
            </a:pPr>
            <a:r>
              <a:t>Germany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3200400"/>
            <a:ext cx="265176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32918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Analysis Period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35661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  <a:latin typeface="Arial"/>
              </a:defRPr>
            </a:pPr>
            <a:r>
              <a:t>CQ4_2025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0" y="3200400"/>
            <a:ext cx="265176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98280" y="32918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Report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35661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  <a:latin typeface="Arial"/>
              </a:defRPr>
            </a:pPr>
            <a:r>
              <a:t>2026-02-15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846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  <a:latin typeface="Arial"/>
              </a:defRPr>
            </a:pPr>
            <a:r>
              <a:t>01 Trends (PEST) | 02 Market/Customer ($APPEALS) | 03 Competition (Porter) | 04 Self (BMC) | SWOT Synthesis | 05 Opportunities (SPAN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Report 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TABLE OF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137160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447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38988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Executive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6459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Key findings and recommendations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201168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08483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02996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Look at Trends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2860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PEST Framework — macro environment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265176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72491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267004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Look at Market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2926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$APPEALS — market changes &amp; customer needs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329184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36499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3101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Tariff Analysis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5661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Pricing comparison — mobile, fixed &amp; convergence</a:t>
            </a:r>
          </a:p>
        </p:txBody>
      </p:sp>
      <p:sp>
        <p:nvSpPr>
          <p:cNvPr id="22" name="Oval 21"/>
          <p:cNvSpPr/>
          <p:nvPr/>
        </p:nvSpPr>
        <p:spPr>
          <a:xfrm>
            <a:off x="731520" y="393192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00507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395020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Look at Competition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206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Porter's Five Forces — competitive landscape</a:t>
            </a:r>
          </a:p>
        </p:txBody>
      </p:sp>
      <p:sp>
        <p:nvSpPr>
          <p:cNvPr id="26" name="Oval 25"/>
          <p:cNvSpPr/>
          <p:nvPr/>
        </p:nvSpPr>
        <p:spPr>
          <a:xfrm>
            <a:off x="731520" y="457200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46451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459028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Look at Self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48463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BMC + Capability — internal assessment</a:t>
            </a:r>
          </a:p>
        </p:txBody>
      </p:sp>
      <p:sp>
        <p:nvSpPr>
          <p:cNvPr id="30" name="Oval 29"/>
          <p:cNvSpPr/>
          <p:nvPr/>
        </p:nvSpPr>
        <p:spPr>
          <a:xfrm>
            <a:off x="731520" y="521208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28523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523036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SWOT Synthesis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1600" y="54864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Strengths, Weaknesses, Opportunities, Threats</a:t>
            </a:r>
          </a:p>
        </p:txBody>
      </p:sp>
      <p:sp>
        <p:nvSpPr>
          <p:cNvPr id="34" name="Oval 33"/>
          <p:cNvSpPr/>
          <p:nvPr/>
        </p:nvSpPr>
        <p:spPr>
          <a:xfrm>
            <a:off x="731520" y="585216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592531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71600" y="587044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Look at Opportunities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71600" y="61264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SPAN Matrix — opportunity selection</a:t>
            </a:r>
          </a:p>
        </p:txBody>
      </p:sp>
      <p:sp>
        <p:nvSpPr>
          <p:cNvPr id="38" name="Oval 37"/>
          <p:cNvSpPr/>
          <p:nvPr/>
        </p:nvSpPr>
        <p:spPr>
          <a:xfrm>
            <a:off x="731520" y="649224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656539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71600" y="65105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Summary &amp; Provenance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71600" y="67665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Conclusions and data sources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Data Quality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DATA QUALITY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63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Total Data Points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83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20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37160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463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High Confidence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783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21488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0000"/>
                </a:solidFill>
                <a:latin typeface="Arial"/>
              </a:defRPr>
            </a:pPr>
            <a:r>
              <a:t>0%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37160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60" y="1463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Medium Confidence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1783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19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0" y="137160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23960" y="1463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Low/Estimated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1783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92608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Arial"/>
              </a:defRPr>
            </a:pPr>
            <a:r>
              <a:t>Unique Sources: 14</a:t>
            </a:r>
            <a:br/>
            <a:r>
              <a:t>Data Conflicts: 0</a:t>
            </a:r>
            <a:br/>
            <a:r>
              <a:t>Coverage: Partial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20 data points tracked, 0 high-confidence (0%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Trends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137160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Macro environment: Favorable. Key opportunities: Regulatory Environment, National Digital Strategy. Key risks: Regulatory Environment, Nebenkostenprivileg (MDU cable TV bundling) abolished Industry is mature. (+0.3% YoY (CQ2_2025 -&gt; CQ4_2025)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92024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011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Market/Customer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201168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Germany telecom market totals EUR 12.3B in quarterly revenue; competitive strengths in Availability, Assurances; Market outlook is favorable with more opportunities than threats.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56032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651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Competition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265176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In a 4-player market with medium competition intensity, Deutsche Telekom leads with 50% revenue share. Target operator holds 25% share. Strongest competitive force: Existing Competitors.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20040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291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Self Assessment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329184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Ranked #2 of 4 operators in market; revenue EUR 3,092M; EBITDA margin 36.2%; stable but facing challenges; key strength: Brand Strength; key challenge: Customer Service; Management outlook: Germany EBITDA: H2 performing better than H1, but FY26 will not return to positive growth. Key tailwinds: (1) MDU YoY base effect starting to fade from Q3; (2) 1&amp;1 wholesale revenue reaching full run-rate by Q4; (3) MVNO base effects.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84048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931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SWOT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393192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SWOT analysis identifies 7 strengths, 5 weaknesses, 10 opportunities, and 4 threats. The recommended strategic posture is offensive (SO-dominant).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48056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572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Opportunities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51760" y="457200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SPAN matrix positions 35 opportunities: 23 grow/invest, 4 acquire skills, 4 harvest, 4 avoid/exit. Focus resources on the 23 grow/invest items for maximum strategic impact.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Five Looks analysis completed — see details in following sections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01 Look at Trends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PEST Framework — Macro Environment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PEST Analysis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MACRO ENVIRONMENT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6</a:t>
            </a:r>
          </a:p>
        </p:txBody>
      </p:sp>
      <p:pic>
        <p:nvPicPr>
          <p:cNvPr id="6" name="Picture 5" descr="pest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972800" cy="43891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Macro environment: Favorable. Key opportunities: Regulatory Environment, National Digital Strategy. Key risks: Regulatory Environment, Nebenkostenprivileg (MDU cable TV bundling) abolished.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Industry Environment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INDUSTRY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 Size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EUR 12.3B (quarterly, CQ4_2025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Growth 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+0.3% YoY (CQ2_2025 -&gt; CQ4_2025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Concentration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CR4 = 100% (Deutsche Telekom: 50.3%, Vodafone Germany: 25.1%, Telefonica O2 Germany: 16.2%, 1&amp;1 AG: 8.4%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Lifecycle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mature</a:t>
            </a:r>
          </a:p>
        </p:txBody>
      </p:sp>
      <p:pic>
        <p:nvPicPr>
          <p:cNvPr id="18" name="Picture 17" descr="pest_factor_d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651760"/>
            <a:ext cx="5486400" cy="283464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943600" y="265176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New Business Models: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FWA (Fixed Wireless Access) as fiber alternative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Network-as-a-Service for enterprise verticals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Wholesale/MVNO partnerships for coverage monetization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Technology Revolution: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5G SA enabling network slicing and enterprise services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AI/ML for network optimization and customer experience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Open RAN for vendor diversification and cost reduction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Macro environment: Favorable. Key opportunities: Regulatory Environment, National Digital Strategy. Key risks: Regulatory Environment, Nebenkostenprivileg (MDU cable TV bundling) abolished Industry is mature. (+0.3% YoY (CQ2_2025 -&gt; CQ4_2025)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Value Transfer Trends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VALUE MIGRATION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Value shifting from voice/SMS to data and digital services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B2B/ICT growing faster than consumer segment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Fiber displacing copper and cable broadband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Macro environment: Favorable. Key opportunities: Regulatory Environment, National Digital Strategy. Key risks: Regulatory Environment, Nebenkostenprivileg (MDU cable TV bundling) abolished Industry is mature. (+0.3% YoY (CQ2_2025 -&gt; CQ4_2025)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02 Look at 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$APPEALS — Market Changes &amp; Customer Needs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Market Change Panorama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MARKET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Total Revenue (€M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12,327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Mobile Subs (K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143,100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Broadband Subs (K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31,420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Operators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4</a:t>
            </a:r>
          </a:p>
        </p:txBody>
      </p:sp>
      <p:pic>
        <p:nvPicPr>
          <p:cNvPr id="18" name="Picture 17" descr="market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560320"/>
            <a:ext cx="5486400" cy="29260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7200" y="27432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Market Changes: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01752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Vodafone completes 1&amp;1 customer migration: 12M users on network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1&amp;1 completes OpenRAN migration, reaches 25% own network coverage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Vodafone completes Skaylink acquisition for €175M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Deutsche Telekom Q3 2025: revenue +1.5%, net profit +14.3%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Germany telecom market totals EUR 12.3B in quarterly revenue; competitive strengths in Availability, Assurances; Market outlook is favorable with more opportunities than threats.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Customer Segments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SEGMENTATION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5943600" cy="77724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Consumer High-End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0020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Size: ~13.9M subscribers | Trend: growing | Our Share: ~25% of postpaid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8308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Needs: Premium 5G standalone experiences, Ultra-low latency gaming and VR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148840"/>
            <a:ext cx="5943600" cy="77724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1945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Consumer Mainstream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46888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Size: ~51.2M subscribers | Trend: stable | Our Share: ~25% of postpaid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65176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Needs: Better value convergent bundles, Transparent pricing without hidden fees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017520"/>
            <a:ext cx="5943600" cy="77724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063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Consumer Price-Sensitive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33756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Size: ~35.1M subscribers | Trend: shrinking | Our Share: ~19% of prepaid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52044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Needs: Affordable unlimited data plans, No-contract flexibility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886200"/>
            <a:ext cx="5943600" cy="77724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9319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Consumer Youth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20624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Size: ~17.2M subscribers | Trend: growing | Our Share: ~23% overall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38912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Needs: Social media and streaming-optimized plans, eSIM and digital-first experience</a:t>
            </a:r>
          </a:p>
        </p:txBody>
      </p:sp>
      <p:pic>
        <p:nvPicPr>
          <p:cNvPr id="22" name="Picture 21" descr="appeals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188720"/>
            <a:ext cx="5029200" cy="4389120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Germany telecom market totals EUR 12.3B in quarterly revenue; competitive strengths in Availability, Assurances; Market outlook is favorable with more opportunities than threats.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$APPEALS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CUSTOMER NEEDS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12</a:t>
            </a:r>
          </a:p>
        </p:txBody>
      </p:sp>
      <p:pic>
        <p:nvPicPr>
          <p:cNvPr id="6" name="Picture 5" descr="appeals_ra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515600" cy="43891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Germany telecom market totals EUR 12.3B in quarterly revenue; competitive strengths in Availability, Assurances; Market outlook is favorable with more opportunities than threats.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Customer Value Migration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VALUE MIGRATION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Arial"/>
              </a:defRPr>
            </a:pPr>
            <a:r>
              <a:t>Value migration is mixed: some segments trending up while price-sensitive segments face pressure. Differentiated strategy by segment recommended.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8000"/>
                </a:solidFill>
                <a:latin typeface="Arial"/>
              </a:defRPr>
            </a:pPr>
            <a:r>
              <a:t>Opportunities: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47472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Vodafone completes 1&amp;1 customer migration: 12M users on network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Vodafone completes Skaylink acquisition for €175M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Deutsche Telekom Q3 2025: revenue +1.5%, net profit +14.3%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Vodafone restructures cable TV frequencies nationwide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Germany telecom market totals EUR 12.3B in quarterly revenue; competitive strengths in Availability, Assurances; Market outlook is favorable with more opportunities than threats.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Tariff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Mobile, Fixed &amp; Convergence Pricing Landscape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Mobile Postpaid Price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CROSS-OPERATOR TIER BENCHMARKING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15</a:t>
            </a:r>
          </a:p>
        </p:txBody>
      </p:sp>
      <p:pic>
        <p:nvPicPr>
          <p:cNvPr id="6" name="Picture 5" descr="tariff_mobile_postpa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7772400" cy="4389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0" y="12801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Price Gaps: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1645920"/>
            <a:ext cx="34747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Tier S: EUR 25 gap — cheapest Telefonica O2 Germany, most expensive Deutsche Telekom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Tier M: EUR 30 gap — cheapest Telefonica O2 Germany, most expensive Deutsche Telekom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Tier L: EUR 35 gap — cheapest Telefonica O2 Germany, most expensive Deutsche Telekom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Tier XL: EUR 45 gap — cheapest 1&amp;1 AG, most expensive Deutsche Telekom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Mobile postpaid tier comparison across all operators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EUR/GB Value Analysis &amp; 5G Premium Erosion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PRICING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16</a:t>
            </a:r>
          </a:p>
        </p:txBody>
      </p:sp>
      <p:pic>
        <p:nvPicPr>
          <p:cNvPr id="6" name="Picture 5" descr="tariff_eur_per_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188720"/>
            <a:ext cx="5760720" cy="4389120"/>
          </a:xfrm>
          <a:prstGeom prst="rect">
            <a:avLst/>
          </a:prstGeom>
        </p:spPr>
      </p:pic>
      <p:pic>
        <p:nvPicPr>
          <p:cNvPr id="7" name="Picture 6" descr="tariff_5g_ero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188720"/>
            <a:ext cx="5486400" cy="43891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Best value: Telefonica O2 Germany at EUR 0.17/GB | 5G premium fully eroded: all plans now include 5G as of H2_2025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Price Evolution — Mobile Postpaid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H1_2023 TO H1_2026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17</a:t>
            </a:r>
          </a:p>
        </p:txBody>
      </p:sp>
      <p:pic>
        <p:nvPicPr>
          <p:cNvPr id="6" name="Picture 5" descr="tariff_evolution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430000" cy="4572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Price evolution across 7 snapshots — H1_2023 to H1_2026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Fixed &amp; Convergence Pricing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DSL / CABLE / FIBER / FMC BUNDLES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66"/>
                </a:solidFill>
                <a:latin typeface="Arial"/>
              </a:defRPr>
            </a:pPr>
            <a:r>
              <a:t>DSL: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11887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>
                <a:solidFill>
                  <a:srgbClr val="333333"/>
                </a:solidFill>
                <a:latin typeface="Arial"/>
              </a:defRPr>
            </a:pPr>
            <a:r>
              <a:t>• Telefonica O2 Germany O2 my Home L: EUR 35/mo 100.0Mbps</a:t>
            </a:r>
          </a:p>
          <a:p>
            <a:pPr>
              <a:spcAft>
                <a:spcPts val="400"/>
              </a:spcAft>
              <a:defRPr sz="900">
                <a:solidFill>
                  <a:srgbClr val="333333"/>
                </a:solidFill>
                <a:latin typeface="Arial"/>
              </a:defRPr>
            </a:pPr>
            <a:r>
              <a:t>• 1&amp;1 AG 1&amp;1 DSL 250: EUR 40/mo 250.0Mbps</a:t>
            </a:r>
          </a:p>
          <a:p>
            <a:pPr>
              <a:spcAft>
                <a:spcPts val="400"/>
              </a:spcAft>
              <a:defRPr sz="900">
                <a:solidFill>
                  <a:srgbClr val="333333"/>
                </a:solidFill>
                <a:latin typeface="Arial"/>
              </a:defRPr>
            </a:pPr>
            <a:r>
              <a:t>• Deutsche Telekom MagentaZuhause L: EUR 45/mo 100.0Mbps</a:t>
            </a:r>
          </a:p>
          <a:p>
            <a:pPr>
              <a:spcAft>
                <a:spcPts val="400"/>
              </a:spcAft>
              <a:defRPr sz="900">
                <a:solidFill>
                  <a:srgbClr val="333333"/>
                </a:solidFill>
                <a:latin typeface="Arial"/>
              </a:defRPr>
            </a:pPr>
            <a:r>
              <a:t>• Telefonica O2 Germany O2 my Home M: EUR 30/mo 50.0Mbps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68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66"/>
                </a:solidFill>
                <a:latin typeface="Arial"/>
              </a:defRPr>
            </a:pPr>
            <a:r>
              <a:t>Cable: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246888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>
                <a:solidFill>
                  <a:srgbClr val="333333"/>
                </a:solidFill>
                <a:latin typeface="Arial"/>
              </a:defRPr>
            </a:pPr>
            <a:r>
              <a:t>• Vodafone Germany GigaZuhause 500 Kabel: EUR 40/mo 500.0Mbps</a:t>
            </a:r>
          </a:p>
          <a:p>
            <a:pPr>
              <a:spcAft>
                <a:spcPts val="400"/>
              </a:spcAft>
              <a:defRPr sz="900">
                <a:solidFill>
                  <a:srgbClr val="333333"/>
                </a:solidFill>
                <a:latin typeface="Arial"/>
              </a:defRPr>
            </a:pPr>
            <a:r>
              <a:t>• Deutsche Telekom MagentaZuhause XL Cable: EUR 50/mo 250.0Mbps</a:t>
            </a:r>
          </a:p>
          <a:p>
            <a:pPr>
              <a:spcAft>
                <a:spcPts val="400"/>
              </a:spcAft>
              <a:defRPr sz="900">
                <a:solidFill>
                  <a:srgbClr val="333333"/>
                </a:solidFill>
                <a:latin typeface="Arial"/>
              </a:defRPr>
            </a:pPr>
            <a:r>
              <a:t>• Vodafone Germany GigaZuhause 250 Kabel: EUR 35/mo 250.0Mbps</a:t>
            </a:r>
          </a:p>
          <a:p>
            <a:pPr>
              <a:spcAft>
                <a:spcPts val="400"/>
              </a:spcAft>
              <a:defRPr sz="900">
                <a:solidFill>
                  <a:srgbClr val="333333"/>
                </a:solidFill>
                <a:latin typeface="Arial"/>
              </a:defRPr>
            </a:pPr>
            <a:r>
              <a:t>• Vodafone Germany GigaZuhause 1000 Kabel: EUR 50/mo 1000.0Mbps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7490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66"/>
                </a:solidFill>
                <a:latin typeface="Arial"/>
              </a:defRPr>
            </a:pPr>
            <a:r>
              <a:t>Fiber: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374904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>
                <a:solidFill>
                  <a:srgbClr val="333333"/>
                </a:solidFill>
                <a:latin typeface="Arial"/>
              </a:defRPr>
            </a:pPr>
            <a:r>
              <a:t>• Vodafone Germany GigaZuhause 500 Glasfaser: EUR 45/mo 500.0Mbps</a:t>
            </a:r>
          </a:p>
          <a:p>
            <a:pPr>
              <a:spcAft>
                <a:spcPts val="400"/>
              </a:spcAft>
              <a:defRPr sz="900">
                <a:solidFill>
                  <a:srgbClr val="333333"/>
                </a:solidFill>
                <a:latin typeface="Arial"/>
              </a:defRPr>
            </a:pPr>
            <a:r>
              <a:t>• Telefonica O2 Germany O2 my Home Glasfaser L: EUR 45/mo 600.0Mbps</a:t>
            </a:r>
          </a:p>
          <a:p>
            <a:pPr>
              <a:spcAft>
                <a:spcPts val="400"/>
              </a:spcAft>
              <a:defRPr sz="900">
                <a:solidFill>
                  <a:srgbClr val="333333"/>
                </a:solidFill>
                <a:latin typeface="Arial"/>
              </a:defRPr>
            </a:pPr>
            <a:r>
              <a:t>• Deutsche Telekom MagentaZuhause L Glasfaser: EUR 55/mo 500.0Mbps</a:t>
            </a:r>
          </a:p>
          <a:p>
            <a:pPr>
              <a:spcAft>
                <a:spcPts val="400"/>
              </a:spcAft>
              <a:defRPr sz="900">
                <a:solidFill>
                  <a:srgbClr val="333333"/>
                </a:solidFill>
                <a:latin typeface="Arial"/>
              </a:defRPr>
            </a:pPr>
            <a:r>
              <a:t>• Telefonica O2 Germany O2 my Home Glasfaser M: EUR 35/mo 300.0Mbps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118872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FMC Bundles: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1554480"/>
            <a:ext cx="4389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Telefonica O2 Germany O2 All-in-One L: EUR 60/mo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1&amp;1 AG 1&amp;1 Kombi XL: EUR 60/mo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Vodafone Germany GigaKombi Premium: EUR 80/mo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Deutsche Telekom MagentaEINS Premium: EUR 120/mo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Telefonica O2 Germany O2 All-in-One S: EUR 35/mo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1&amp;1 AG 1&amp;1 Kombi S: EUR 35/mo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Vodafone Germany GigaKombi Basic: EUR 50/mo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Deutsche Telekom MagentaEINS S: EUR 65/mo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Cheapest FMC bundle: Telefonica O2 Germany O2 All-in-One S at EUR 35/mo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03 Look at Competition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Porter's Five Forces — Competitive Landscape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Porter's Five Forces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COMPETITIVE FORCES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20</a:t>
            </a:r>
          </a:p>
        </p:txBody>
      </p:sp>
      <p:pic>
        <p:nvPicPr>
          <p:cNvPr id="6" name="Picture 5" descr="porter_for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097280"/>
            <a:ext cx="6400800" cy="457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71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Overall Intensity: MEDIUM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In a 4-player market with medium competition intensity, Deutsche Telekom leads with 50% revenue share. Target operator holds 25% share. Strongest competitive force: Existing Competitors.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Competitor Analysis: Telefonica 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COMPETITOR 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21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€2,000M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574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0000"/>
                </a:solidFill>
                <a:latin typeface="Arial"/>
              </a:defRPr>
            </a:pPr>
            <a:r>
              <a:t>-3.4% YoY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EBITDA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€650M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Margin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32.5%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Capex/Rev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25.0%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560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8000"/>
                </a:solidFill>
                <a:latin typeface="Arial"/>
              </a:defRPr>
            </a:pPr>
            <a:r>
              <a:t>Strengths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8346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5G Deployment: score 88 (market avg 75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Network Coverage: score 85 (market avg 76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Pricing Competitiveness: score 85 (market avg 78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2560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80000"/>
                </a:solidFill>
                <a:latin typeface="Arial"/>
              </a:defRPr>
            </a:pPr>
            <a:r>
              <a:t>Weaknesses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28346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Enterprise Solutions: score 68 (market avg 74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Product Innovation: score 70 (market avg 76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Strategy: Margin optimization / cost transformation; subscriber acquisition focus; 5G network leadership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Competitor analysis: Telefonica O2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Competitor Analysis: Deutsche Telekom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COMPETITOR 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22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€6,200M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574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8000"/>
                </a:solidFill>
                <a:latin typeface="Arial"/>
              </a:defRPr>
            </a:pPr>
            <a:r>
              <a:t>+1.1% YoY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EBITDA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€2,610M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Margin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42.1%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Capex/Rev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19.4%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560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8000"/>
                </a:solidFill>
                <a:latin typeface="Arial"/>
              </a:defRPr>
            </a:pPr>
            <a:r>
              <a:t>Strengths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8346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5G Deployment: score 95 (market avg 75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Brand Strength: score 90 (market avg 78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Customer Service: score 82 (market avg 74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Digital Services: score 85 (market avg 74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2560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80000"/>
                </a:solidFill>
                <a:latin typeface="Arial"/>
              </a:defRPr>
            </a:pPr>
            <a:r>
              <a:t>Weaknesses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28346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Pricing Competitiveness: score 65 (market avg 78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Strategy: Revenue-led profitable growth; subscriber acquisition focus; strong B2B/enterprise push; 5G network leadership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Competitor analysis: Deutsche Telekom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Competitor Analysis: One And 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COMPETITOR 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23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€1,035M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574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8000"/>
                </a:solidFill>
                <a:latin typeface="Arial"/>
              </a:defRPr>
            </a:pPr>
            <a:r>
              <a:t>+0.1% YoY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EBITDA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€126M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Margin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12.2%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Capex/Rev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38.6%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560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8000"/>
                </a:solidFill>
                <a:latin typeface="Arial"/>
              </a:defRPr>
            </a:pPr>
            <a:r>
              <a:t>Strengths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8346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Pricing Competitiveness: score 90 (market avg 78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2560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80000"/>
                </a:solidFill>
                <a:latin typeface="Arial"/>
              </a:defRPr>
            </a:pPr>
            <a:r>
              <a:t>Weaknesses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28346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5G Deployment: score 40 (market avg 75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Brand Strength: score 65 (market avg 78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Digital Services: score 68 (market avg 74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Enterprise Solutions: score 55 (market avg 74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Strategy: Market share expansion (investing for growth); subscriber acquisition focus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Competitor analysis: One And One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Competitive Landscape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COMPETITION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24</a:t>
            </a:r>
          </a:p>
        </p:txBody>
      </p:sp>
      <p:pic>
        <p:nvPicPr>
          <p:cNvPr id="6" name="Picture 5" descr="comp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972800" cy="411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In a 4-player market with medium competition intensity, Deutsche Telekom leads with 50% revenue share. Target operator holds 25% share. Strongest competitive force: Existing Competitors.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Gap Analysis: Vodafone Germany vs Deutsche Telekom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COMPETITIVE 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25</a:t>
            </a:r>
          </a:p>
        </p:txBody>
      </p:sp>
      <p:pic>
        <p:nvPicPr>
          <p:cNvPr id="6" name="Picture 5" descr="gap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972800" cy="43891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Gap analysis vs market leader Deutsche Telekom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New Entrants Threat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MARKET ENTRY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Active new entrant: 1&amp;1 AG: 1&amp;1 AG is currently building/expanding its network presence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1&amp;1 completes OpenRAN migration, reaches 25% own network coverage: All 1&amp;1 mobile subscribers have migrated to its own OpenRAN 5G network (first in Europe). Approximately 1,500 own base stations operational, ~4,500 under construction. Achieved the 25% population coverage regulatory deadline target. Q3 2025 mobile net adds +40K (H1 roughly flat due to migration impact). 9-month CAPEX €228.7M primarily for network build-out.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Entry barriers: High barriers: spectrum licensing, massive capex for network build, regulatory approvals, established brand loyalty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New entrants threat level: medium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04 Look at Self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BMC + Capability Assessment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Operating Health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FINANCIAL HEALTH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28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€3,092M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574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8000"/>
                </a:solidFill>
                <a:latin typeface="Arial"/>
              </a:defRPr>
            </a:pPr>
            <a:r>
              <a:t>+0.72% YoY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EBITDA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€1,120M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20574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8000"/>
                </a:solidFill>
                <a:latin typeface="Arial"/>
              </a:defRPr>
            </a:pPr>
            <a:r>
              <a:t>+1.5% YoY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EBITDA Margin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36.2%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Capex/Rev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25.9%</a:t>
            </a:r>
          </a:p>
        </p:txBody>
      </p:sp>
      <p:pic>
        <p:nvPicPr>
          <p:cNvPr id="20" name="Picture 19" descr="revenue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651760"/>
            <a:ext cx="5486400" cy="283464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365760" y="22860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CAGR: +0.8% | Decelerating Growth</a:t>
            </a:r>
          </a:p>
        </p:txBody>
      </p:sp>
      <p:pic>
        <p:nvPicPr>
          <p:cNvPr id="22" name="Picture 21" descr="revenue_breakdow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2651760"/>
            <a:ext cx="5760720" cy="2834640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Ranked #2 of 4 operators in market; revenue EUR 3,092M; EBITDA margin 36.2%; stable but facing challenges; key strength: Brand Strength; key challenge: Customer Service; Management outlook: Germany EBITDA: H2 performing better than H1, but FY26 will not return to positive growth. Key tailwinds: (1) MDU YoY base effect starting to fade from Q3; (2) 1&amp;1 wholesale revenue reaching full run-rate by Q4; (3) MVNO base effects.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Market Share Evolution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REVENUE SHARE TREND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29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74320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630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Deutsche Telekom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830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50.3% #1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488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8000"/>
                </a:solidFill>
                <a:latin typeface="Arial"/>
              </a:defRPr>
            </a:pPr>
            <a:r>
              <a:t>+1.1pp gaining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1371600"/>
            <a:ext cx="274320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14630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Vodafone Germany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17830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25.1% #2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1488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8000"/>
                </a:solidFill>
                <a:latin typeface="Arial"/>
              </a:defRPr>
            </a:pPr>
            <a:r>
              <a:t>+0.0pp stable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371600"/>
            <a:ext cx="274320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4630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Telefonica O2 Germany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17830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16.2% #3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1488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0000"/>
                </a:solidFill>
                <a:latin typeface="Arial"/>
              </a:defRPr>
            </a:pPr>
            <a:r>
              <a:t>-1.2pp losing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35440" y="1371600"/>
            <a:ext cx="274320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72600" y="14630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1&amp;1 AG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72600" y="17830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8.4% #4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72600" y="21488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8000"/>
                </a:solidFill>
                <a:latin typeface="Arial"/>
              </a:defRPr>
            </a:pPr>
            <a:r>
              <a:t>+0.1pp stable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2926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 Concentration: HHI 3,493 (Highly Concentrated) | CR3: 91.6% | Trend: Concentrating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474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Subscriber share: Mobile: 22.7% (+0.2pp) | Broadband: 31.6% (-1.6pp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Revenue share: 25.1% (#2); stable (+0.0pp); market is highly concentrated (HHI 3,493); concentrating.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Momentum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MULTI-QUARTER TREND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30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743200" cy="12801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630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830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+0.8% CAGR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488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0000"/>
                </a:solidFill>
                <a:latin typeface="Arial"/>
              </a:defRPr>
            </a:pPr>
            <a:r>
              <a:t>Decelerating Growth (49/100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1371600"/>
            <a:ext cx="2743200" cy="12801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14630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EBITDA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17830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+2.1% CAGR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1488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0000"/>
                </a:solidFill>
                <a:latin typeface="Arial"/>
              </a:defRPr>
            </a:pPr>
            <a:r>
              <a:t>Decelerating Growth (50/100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371600"/>
            <a:ext cx="2743200" cy="12801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4630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Margin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17830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+1.3% CAGR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1488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0000"/>
                </a:solidFill>
                <a:latin typeface="Arial"/>
              </a:defRPr>
            </a:pPr>
            <a:r>
              <a:t>Stabilizing (49/100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Dominant momentum: Decelerating Growth — based on 3 KPI trend analyses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Revenue Composition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SEGMENT REVENUE MIX OVER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31</a:t>
            </a:r>
          </a:p>
        </p:txBody>
      </p:sp>
      <p:pic>
        <p:nvPicPr>
          <p:cNvPr id="6" name="Picture 5" descr="revenue_composition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0972800" cy="411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Growing: Mobile, B2B, Wholesale | Declining: Fixed Broadband, TV/Convergence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Revenue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COMPETITIVE BENCHMARKING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32</a:t>
            </a:r>
          </a:p>
        </p:txBody>
      </p:sp>
      <p:pic>
        <p:nvPicPr>
          <p:cNvPr id="6" name="Picture 5" descr="revenu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5760720" cy="4389120"/>
          </a:xfrm>
          <a:prstGeom prst="rect">
            <a:avLst/>
          </a:prstGeom>
        </p:spPr>
      </p:pic>
      <p:pic>
        <p:nvPicPr>
          <p:cNvPr id="7" name="Picture 6" descr="margin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188720"/>
            <a:ext cx="5486400" cy="43891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Revenue and margin benchmarking across operators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Segment Analysis: Mobile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SEGMENT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33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Service 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€1,520M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Service Growth Pct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2.8%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Total 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€32,500M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Postpaid 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€23,200M</a:t>
            </a:r>
          </a:p>
        </p:txBody>
      </p:sp>
      <p:pic>
        <p:nvPicPr>
          <p:cNvPr id="18" name="Picture 17" descr="segment_0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560320"/>
            <a:ext cx="5486400" cy="29260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7200" y="2560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Health: STABLE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9260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revenue: improving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subscribers: stable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arpu: improving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Vodafone Business Germany service revenue declined 1.8% in Q3 (Q2: -1.6%), widening decline. Reason: ARPU pressure on mobile contract renewals + core connectivity business under sustained pressure. Hi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Mobile service revenue grew 2.8% in Q3 (Q2: 3.8%), growth decelerating. Reason: wholesale revenue growth partially offset by ARPU pressure and service provider payment timing. Post-1&amp;1 migration, netw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Vodafone completes 1&amp;1 customer migration: 12M users on network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Mobile service revenue at 1,520M; up 2.8% YoY; ARPU 12.8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Segment Analysis: Fixed Broadband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SEGMENT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34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Service 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€795M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Service Growth Pct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-1.1%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Total 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€9,940M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Net Adds 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-63</a:t>
            </a:r>
          </a:p>
        </p:txBody>
      </p:sp>
      <p:pic>
        <p:nvPicPr>
          <p:cNvPr id="18" name="Picture 17" descr="segment_1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560320"/>
            <a:ext cx="5486400" cy="29260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7200" y="2560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Health: STABLE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9260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revenue: stable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subscribers: stable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arpu: stable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Broadband pricing strategy: another price increase in January 2026, adopting a 'more-for-more' approach. Fixed-line consumer revenue has stabilized. New customer broadband ARPU at a 3-year high (+21%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Vodafone restructures cable TV frequencies nationwide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Fixed service revenue 795.0M; growth -1.1% YoY; Fiber subs 1480K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Segment Analysis: B2B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SEGMENT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35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€520M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Growth Pct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8.5%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Customers 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€215M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Share Of Revenue Pct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16.8%</a:t>
            </a:r>
          </a:p>
        </p:txBody>
      </p:sp>
      <p:pic>
        <p:nvPicPr>
          <p:cNvPr id="18" name="Picture 17" descr="segment_2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560320"/>
            <a:ext cx="5486400" cy="29260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7200" y="2560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Health: STRONG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9260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revenue: improving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customers: improving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Vodafone Business Germany service revenue declined 1.8% in Q3 (Q2: -1.6%), widening decline. Reason: ARPU pressure on mobile contract renewals + core connectivity business under sustained pressure. Hi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Vodafone completes Skaylink acquisition for €175M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revenue increased 4.0% QoQ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B2B revenue 520.0M; growth +8.5% YoY; 16.8% of total revenue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Segment Analysis: TV/Convergence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SEGMENT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€268M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Total 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€7,740M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Net Adds 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-6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Fmc Total 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€4,900M</a:t>
            </a:r>
          </a:p>
        </p:txBody>
      </p:sp>
      <p:pic>
        <p:nvPicPr>
          <p:cNvPr id="18" name="Picture 17" descr="segment_3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560320"/>
            <a:ext cx="5486400" cy="29260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7200" y="2560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Health: STABLE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9260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revenue: stable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subscribers: stable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fmc_subscribers: improving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Vodafone restructures cable TV frequencies nationwide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fmc_subscribers increased 2.1% QoQ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TV subscribers 7740K; FMC 4900K; FMC penetration 49.3%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Network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37</a:t>
            </a:r>
          </a:p>
        </p:txBody>
      </p:sp>
      <p:pic>
        <p:nvPicPr>
          <p:cNvPr id="6" name="Picture 5" descr="coverage_gau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9728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3657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Technology Mix: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93192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Mobile Vendor: Ericsson + Nokia (non-standalone 5G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5G Sa Status: Testing, planned 2026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Spectrum Mhz: 700: 20, 1800: 50, 2100: 40, 2600: 20, 3600: 90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5G Base Stations: 18500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Core Vendor: Ericsson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Virtualization Pct: 45%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Edge Nodes: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365760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Arial"/>
              </a:defRPr>
            </a:pPr>
            <a:r>
              <a:t>Investment Direction: stable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Network infrastructure and coverage assessment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Business Model Canvas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BMC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38</a:t>
            </a:r>
          </a:p>
        </p:txBody>
      </p:sp>
      <p:pic>
        <p:nvPicPr>
          <p:cNvPr id="6" name="Picture 5" descr="bmc_canv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430000" cy="44805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Business model canvas overview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Organization &amp; Talent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PEOPLE &amp; CULTURE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39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Employees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14,500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 Suite Count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Avg Tenure Years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None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Key Leaders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['Marcel de Groot (CEO)', 'Anna Googel (CFO)', 'Gerhard Mack (CTO)']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6517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Organization Culture: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97180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Growth-oriented strategic posture; High-investment posture; Transformation-oriented culture under Vodafone Group direction; customer-centricity push via NPS programs; agile transformation in digital operations; German engineering tradition meets UK group culture.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26517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Talent Assessment: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297180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c_suite_count: 3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avg_tenure_years: None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key_leaders: ['Marcel de Groot (CEO)', 'Anna Googel (CFO)', 'Gerhard Mack (CTO)']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capability_alignment: ['Customer Service: strong', 'Enterprise Solutions: strong', 'Digital Services: strong']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assessment: Adequate leadership coverage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572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Leadership Changes: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846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Marcel de Groot: (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Anna Googel: (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Gerhard Mack: (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Organization and talent assessment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Strengths, Weaknesses &amp; Exposure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SELF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8000"/>
                </a:solidFill>
                <a:latin typeface="Arial"/>
              </a:defRPr>
            </a:pPr>
            <a:r>
              <a:t>Strengths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Brand Strength: score 82 (market avg 78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Enterprise Solutions: score 82 (market avg 74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Network Coverage: score 80 (market avg 76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Strong EBITDA margin at 36.2%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Revenue on growth trajectory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Top 2 in revenue market ranking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2801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80000"/>
                </a:solidFill>
                <a:latin typeface="Arial"/>
              </a:defRPr>
            </a:pPr>
            <a:r>
              <a:t>Weaknesses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164592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Customer Service: score 70 (market avg 74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Pricing Competitiveness: score 72 (market avg 78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12801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A500"/>
                </a:solidFill>
                <a:latin typeface="Arial"/>
              </a:defRPr>
            </a:pPr>
            <a:r>
              <a:t>Exposure 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164592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1&amp;1 building own mobile network and migrating users off Vodafone wholesale: Loss of wholesale revenue as 1&amp;1 users migrate to own network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Heavy reliance on cable (DOCSIS) technology while market shifts to fiber: Technology perception gap as competitors lead fiber deployment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Low fiber penetration compared to Deutsche Telekom: Competitive disadvantage in future-proof broadband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Ranked #2 of 4 operators in market; revenue EUR 3,092M; EBITDA margin 36.2%; stable but facing challenges; key strength: Brand Strength; key challenge: Customer Service; Management outlook: Germany EBITDA: H2 performing better than H1, but FY26 will not return to positive growth. Key tailwinds: (1) MDU YoY base effect starting to fade from Q3; (2) 1&amp;1 wholesale revenue reaching full run-rate by Q4; (3) MVNO base effects.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SWOT Synthesis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Strengths, Weaknesses, Opportunities &amp; Threats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SWOT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STRATEGIC SYNTHESIS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42</a:t>
            </a:r>
          </a:p>
        </p:txBody>
      </p:sp>
      <p:pic>
        <p:nvPicPr>
          <p:cNvPr id="6" name="Picture 5" descr="swot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6858000" cy="4480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0" y="128016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8000"/>
                </a:solidFill>
                <a:latin typeface="Arial"/>
              </a:defRPr>
            </a:pPr>
            <a:r>
              <a:t>SO: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12801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Leverage 'Brand Strength: score 82 (market avg 78)' to ca...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1920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682B4"/>
                </a:solidFill>
                <a:latin typeface="Arial"/>
              </a:defRPr>
            </a:pPr>
            <a:r>
              <a:t>WO: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19202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Address weakness 'Customer Service: score 70 (market avg ...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25603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A500"/>
                </a:solidFill>
                <a:latin typeface="Arial"/>
              </a:defRPr>
            </a:pPr>
            <a:r>
              <a:t>ST: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5603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Use strength 'Brand Strength: score 82 (market avg 78)' t...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32004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80000"/>
                </a:solidFill>
                <a:latin typeface="Arial"/>
              </a:defRPr>
            </a:pPr>
            <a:r>
              <a:t>WT: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32004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Mitigate weakness 'Customer Service: score 70 (market avg...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SWOT analysis identifies 7 strengths, 5 weaknesses, 10 opportunities, and 4 threats. The recommended strategic posture is offensive (SO-dominant).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05 Look at Opportunities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SPAN Matrix — Opportunity Selection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SPAN Matrix — Opportunity Positioning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OPPORTUNITY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44</a:t>
            </a:r>
          </a:p>
        </p:txBody>
      </p:sp>
      <p:pic>
        <p:nvPicPr>
          <p:cNvPr id="6" name="Picture 5" descr="span_bub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0515600" cy="43891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SPAN matrix positions 35 opportunities: 23 grow/invest, 4 acquire skills, 4 harvest, 4 avoid/exit. Focus resources on the 23 grow/invest items for maximum strategic impact.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Opportunity Priority Ranking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PRIORITIES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45</a:t>
            </a:r>
          </a:p>
        </p:txBody>
      </p:sp>
      <p:pic>
        <p:nvPicPr>
          <p:cNvPr id="6" name="Picture 5" descr="priority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972800" cy="411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SPAN matrix positions 35 opportunities: 23 grow/invest, 4 acquire skills, 4 harvest, 4 avoid/exit. Focus resources on the 23 grow/invest items for maximum strategic impact.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Opportunity Details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10972800" cy="9144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457200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8988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325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SO-1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60020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Market: N/A | Window: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1828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Leverage 'Brand Strength: score 82 (market avg 78)' to capture the opportunity of 'Regulatory Environment: Compliance requirements and spectrum policies directly affect vodafone_germany'.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331720"/>
            <a:ext cx="10972800" cy="9144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423160"/>
            <a:ext cx="457200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44144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2377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SO-2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26517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Market: N/A | Window: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2880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Leverage 'Enterprise Solutions: score 82 (market avg 74)' to capture the opportunity of 'National Digital Strategy: Fiber/5G coverage mandates may require vodafone_germany investment but also enable subsidy access'.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383280"/>
            <a:ext cx="10972800" cy="9144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474720"/>
            <a:ext cx="457200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49300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34290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SO-3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370332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Market: N/A | Window: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3931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Leverage 'Network Coverage: score 80 (market avg 76)' to capture the opportunity of 'BNetzA extends 800/1800/2600 MHz spectrum by 5 years: BNetzA extends 800/1800/2600 MHz spectrum by 5 years: may create new market access or subsidy opportunities for vodafone_germany'.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434840"/>
            <a:ext cx="10972800" cy="9144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4526280"/>
            <a:ext cx="457200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454456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44805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SO-4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475488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Market: N/A | Window: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4983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Leverage 'Strong EBITDA margin at 36.2%' to capture the opportunity of 'German government launches €1.2B Gigabit Funding Programme 2025: German government launches €1.2B Gigabit Funding Programme 2025: may create new market access or subsidy opportunities for vodafone_germany'.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SPAN matrix positions 35 opportunities: 23 grow/invest, 4 acquire skills, 4 harvest, 4 avoid/exit. Focus resources on the 23 grow/invest items for maximum strategic impact.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Three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Strategy — Key Tasks — Execution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Decision 1: Define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OFFENSIVE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682B4"/>
                </a:solidFill>
                <a:latin typeface="Arial"/>
              </a:defRPr>
            </a:pPr>
            <a:r>
              <a:t>As The Squeezed Middle: close the leadership gap with aggressive growth in high-momentum segments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920240"/>
            <a:ext cx="2743200" cy="32004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93192" y="1993392"/>
            <a:ext cx="411480" cy="2560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200253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3317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Growth Strategy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69748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Arial"/>
              </a:defRPr>
            </a:pPr>
            <a:r>
              <a:t>Close the gap to market leader — accelerate Mobile, B2B, TV/Convergence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402336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8D"/>
                </a:solidFill>
                <a:latin typeface="Arial"/>
              </a:defRPr>
            </a:pPr>
            <a:r>
              <a:t>- Gain 1-2pp revenue share</a:t>
            </a:r>
            <a:br/>
            <a:r>
              <a:t>- Grow Mobile, B2B, TV/Convergence double-digit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1920240"/>
            <a:ext cx="2743200" cy="32004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73552" y="1993392"/>
            <a:ext cx="411480" cy="2560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10128" y="200253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23317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Competitive Strategy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269748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Arial"/>
              </a:defRPr>
            </a:pPr>
            <a:r>
              <a:t>Capitalize on competitive strengths to gain market share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402336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8D"/>
                </a:solidFill>
                <a:latin typeface="Arial"/>
              </a:defRPr>
            </a:pPr>
            <a:r>
              <a:t>- Outgrow competitors in key segments</a:t>
            </a:r>
            <a:br/>
            <a:r>
              <a:t>- Increase service differentiation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80760" y="1920240"/>
            <a:ext cx="2743200" cy="32004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53912" y="1993392"/>
            <a:ext cx="411480" cy="25603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90488" y="200253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200" y="23317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Transformation Strategy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269748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Arial"/>
              </a:defRPr>
            </a:pPr>
            <a:r>
              <a:t>Accelerate fiber transition — converged network as competitive moat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402336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8D"/>
                </a:solidFill>
                <a:latin typeface="Arial"/>
              </a:defRPr>
            </a:pPr>
            <a:r>
              <a:t>- Fiber homepass coverage +20%</a:t>
            </a:r>
            <a:br/>
            <a:r>
              <a:t>- FMC bundle attach rate 50%+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61120" y="1920240"/>
            <a:ext cx="2743200" cy="32004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34272" y="1993392"/>
            <a:ext cx="411480" cy="25603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70848" y="200253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0" y="23317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Customer Strategy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269748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Arial"/>
              </a:defRPr>
            </a:pPr>
            <a:r>
              <a:t>Optimize value extraction in stable segments: Fixed Broadband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402336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8D"/>
                </a:solidFill>
                <a:latin typeface="Arial"/>
              </a:defRPr>
            </a:pPr>
            <a:r>
              <a:t>- Upsell rate +10% in Fixed Broadband</a:t>
            </a:r>
            <a:br/>
            <a:r>
              <a:t>- Cross-sell convergence bundles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As The Squeezed Middle, the strategic posture is Offensive. As The Squeezed Middle: close the leadership gap with aggres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Decision 2: Define Key Tasks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3 P0 (IMMEDIATE), 3 P1 (1-2 YEARS), 1 P2 (3-5 YEARS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49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11338560" cy="54864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508760"/>
            <a:ext cx="411480" cy="274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517904"/>
            <a:ext cx="384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51790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980B9"/>
                </a:solidFill>
                <a:latin typeface="Arial"/>
              </a:defRPr>
            </a:pPr>
            <a:r>
              <a:t>Network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144475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C3E50"/>
                </a:solidFill>
                <a:latin typeface="Arial"/>
              </a:defRPr>
            </a:pPr>
            <a:r>
              <a:t>Accelerate Fixed Network Upgrade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169164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8C8D"/>
                </a:solidFill>
                <a:latin typeface="Arial"/>
              </a:defRPr>
            </a:pPr>
            <a:r>
              <a:t>Drive DOCSIS/Fiber rollout to increase homepass and improve quality scores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15087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6C73"/>
                </a:solidFill>
                <a:latin typeface="Arial"/>
              </a:defRPr>
            </a:pPr>
            <a:r>
              <a:t>Homepass coverage +15% | Speed tier upgrades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965960"/>
            <a:ext cx="11338560" cy="54864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2103120"/>
            <a:ext cx="411480" cy="274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" y="2112264"/>
            <a:ext cx="384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11226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7AE60"/>
                </a:solidFill>
                <a:latin typeface="Arial"/>
              </a:defRPr>
            </a:pPr>
            <a:r>
              <a:t>Business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203911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C3E50"/>
                </a:solidFill>
                <a:latin typeface="Arial"/>
              </a:defRPr>
            </a:pPr>
            <a:r>
              <a:t>Accelerate Mobile Growth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228600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8C8D"/>
                </a:solidFill>
                <a:latin typeface="Arial"/>
              </a:defRPr>
            </a:pPr>
            <a:r>
              <a:t>Mobile at €1,520M showing strong momentum — invest to scale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21031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6C73"/>
                </a:solidFill>
                <a:latin typeface="Arial"/>
              </a:defRPr>
            </a:pPr>
            <a:r>
              <a:t>Mobile revenue +10% YoY | Market share gain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560320"/>
            <a:ext cx="11338560" cy="54864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2697480"/>
            <a:ext cx="411480" cy="274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2706624"/>
            <a:ext cx="384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270662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7AE60"/>
                </a:solidFill>
                <a:latin typeface="Arial"/>
              </a:defRPr>
            </a:pPr>
            <a:r>
              <a:t>Business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20" y="263347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C3E50"/>
                </a:solidFill>
                <a:latin typeface="Arial"/>
              </a:defRPr>
            </a:pPr>
            <a:r>
              <a:t>Accelerate B2B Growth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20" y="288036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8C8D"/>
                </a:solidFill>
                <a:latin typeface="Arial"/>
              </a:defRPr>
            </a:pPr>
            <a:r>
              <a:t>B2B at €520M showing strong momentum — invest to scale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26974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6C73"/>
                </a:solidFill>
                <a:latin typeface="Arial"/>
              </a:defRPr>
            </a:pPr>
            <a:r>
              <a:t>B2B revenue +10% YoY | Market share gain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3154680"/>
            <a:ext cx="11338560" cy="548640"/>
          </a:xfrm>
          <a:prstGeom prst="rect">
            <a:avLst/>
          </a:prstGeom>
          <a:solidFill>
            <a:srgbClr val="FEF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5760" y="3291840"/>
            <a:ext cx="411480" cy="2743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4048" y="3300984"/>
            <a:ext cx="384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330098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980B9"/>
                </a:solidFill>
                <a:latin typeface="Arial"/>
              </a:defRPr>
            </a:pPr>
            <a:r>
              <a:t>Network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20" y="322783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C3E50"/>
                </a:solidFill>
                <a:latin typeface="Arial"/>
              </a:defRPr>
            </a:pPr>
            <a:r>
              <a:t>5G Coverage Expansion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03120" y="347472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8C8D"/>
                </a:solidFill>
                <a:latin typeface="Arial"/>
              </a:defRPr>
            </a:pPr>
            <a:r>
              <a:t>Expand 5G population coverage to strengthen mobile competitive position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0" y="32918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6C73"/>
                </a:solidFill>
                <a:latin typeface="Arial"/>
              </a:defRPr>
            </a:pPr>
            <a:r>
              <a:t>5G pop coverage target | 5G attach rate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3749040"/>
            <a:ext cx="11338560" cy="548640"/>
          </a:xfrm>
          <a:prstGeom prst="rect">
            <a:avLst/>
          </a:prstGeom>
          <a:solidFill>
            <a:srgbClr val="FEF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3886200"/>
            <a:ext cx="411480" cy="2743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84048" y="3895344"/>
            <a:ext cx="384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389534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7AE60"/>
                </a:solidFill>
                <a:latin typeface="Arial"/>
              </a:defRPr>
            </a:pPr>
            <a:r>
              <a:t>Business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103120" y="382219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C3E50"/>
                </a:solidFill>
                <a:latin typeface="Arial"/>
              </a:defRPr>
            </a:pPr>
            <a:r>
              <a:t>Opportunity Portfolio Execution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103120" y="406908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8C8D"/>
                </a:solidFill>
                <a:latin typeface="Arial"/>
              </a:defRPr>
            </a:pPr>
            <a:r>
              <a:t>23 grow/invest opportunities identified — establish execution office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0" y="38862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6C73"/>
                </a:solidFill>
                <a:latin typeface="Arial"/>
              </a:defRPr>
            </a:pPr>
            <a:r>
              <a:t>Launch 3+ priority initiatives | Pipeline contribution tracking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4343400"/>
            <a:ext cx="11338560" cy="548640"/>
          </a:xfrm>
          <a:prstGeom prst="rect">
            <a:avLst/>
          </a:prstGeom>
          <a:solidFill>
            <a:srgbClr val="FEF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65760" y="4480560"/>
            <a:ext cx="411480" cy="2743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84048" y="4489704"/>
            <a:ext cx="384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448970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E44AD"/>
                </a:solidFill>
                <a:latin typeface="Arial"/>
              </a:defRPr>
            </a:pPr>
            <a:r>
              <a:t>Customer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103120" y="441655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C3E50"/>
                </a:solidFill>
                <a:latin typeface="Arial"/>
              </a:defRPr>
            </a:pPr>
            <a:r>
              <a:t>Customer Experience Enhancement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103120" y="466344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8C8D"/>
                </a:solidFill>
                <a:latin typeface="Arial"/>
              </a:defRPr>
            </a:pPr>
            <a:r>
              <a:t>Improve digital touchpoints and service resolution to boost NPS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0" y="44805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6C73"/>
                </a:solidFill>
                <a:latin typeface="Arial"/>
              </a:defRPr>
            </a:pPr>
            <a:r>
              <a:t>NPS +5 points | First-call resolution rate 80%+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4320" y="4937760"/>
            <a:ext cx="11338560" cy="548640"/>
          </a:xfrm>
          <a:prstGeom prst="rect">
            <a:avLst/>
          </a:prstGeom>
          <a:solidFill>
            <a:srgbClr val="EAF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65760" y="5074920"/>
            <a:ext cx="411480" cy="2743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84048" y="5084064"/>
            <a:ext cx="384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4400" y="508406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67E22"/>
                </a:solidFill>
                <a:latin typeface="Arial"/>
              </a:defRPr>
            </a:pPr>
            <a:r>
              <a:t>Efficiency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103120" y="501091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C3E50"/>
                </a:solidFill>
                <a:latin typeface="Arial"/>
              </a:defRPr>
            </a:pPr>
            <a:r>
              <a:t>Operational Efficiency &amp; Automation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103120" y="525780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8C8D"/>
                </a:solidFill>
                <a:latin typeface="Arial"/>
              </a:defRPr>
            </a:pPr>
            <a:r>
              <a:t>EBITDA margin 36.2% — maintain through smart automation and resource reallocatio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15200" y="50749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6C73"/>
                </a:solidFill>
                <a:latin typeface="Arial"/>
              </a:defRPr>
            </a:pPr>
            <a:r>
              <a:t>Process automation 30%+ | Cost-to-serve reduction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7 critical tasks: 3 P0 (immediate), 3 P1 (1-2 years), 1 P2 (3-5 years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Decision 3: Define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QUARTERLY ROADMAP &amp;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50</a:t>
            </a:r>
          </a:p>
        </p:txBody>
      </p:sp>
      <p:pic>
        <p:nvPicPr>
          <p:cNvPr id="6" name="Picture 5" descr="execution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11430000" cy="2560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023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Governance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891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C3E50"/>
                </a:solidFill>
                <a:latin typeface="Arial"/>
              </a:defRPr>
            </a:pPr>
            <a:r>
              <a:t>- Monthly Progress Review (Monthly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C3E50"/>
                </a:solidFill>
                <a:latin typeface="Arial"/>
              </a:defRPr>
            </a:pPr>
            <a:r>
              <a:t>- Quarterly Strategic Checkpoint (Quarterly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1206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C3E50"/>
                </a:solidFill>
                <a:latin typeface="Arial"/>
              </a:defRPr>
            </a:pPr>
            <a:r>
              <a:t>- Mid-Year Strategic Adjustment (Semi-annual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40233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392B"/>
                </a:solidFill>
                <a:latin typeface="Arial"/>
              </a:defRPr>
            </a:pPr>
            <a:r>
              <a:t>Strategic Traps to Avoid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3891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0392B"/>
                </a:solidFill>
                <a:latin typeface="Arial"/>
              </a:defRPr>
            </a:pPr>
            <a:r>
              <a:t>x Enter a price war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7548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0392B"/>
                </a:solidFill>
                <a:latin typeface="Arial"/>
              </a:defRPr>
            </a:pPr>
            <a:r>
              <a:t>x Attempt premium repositioning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51206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0392B"/>
                </a:solidFill>
                <a:latin typeface="Arial"/>
              </a:defRPr>
            </a:pPr>
            <a:r>
              <a:t>x Delay core transformation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303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  <a:latin typeface="Arial"/>
              </a:defRPr>
            </a:pPr>
            <a:r>
              <a:t>Key Risks &amp; Mitigation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62356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6C73"/>
                </a:solidFill>
                <a:latin typeface="Arial"/>
              </a:defRPr>
            </a:pPr>
            <a:r>
              <a:t>! Resource constraints delay P0 initiatives -- Ring-fence P0 budgets; establish escalation path for blockers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89788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6C73"/>
                </a:solidFill>
                <a:latin typeface="Arial"/>
              </a:defRPr>
            </a:pPr>
            <a:r>
              <a:t>! Macro-economic slowdown reduces consumer spending -- Prepare value-tier offerings; shift mix toward B2B resilience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Execute with discipline: monthly reviews, quarterly checkpoints, annual refresh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Analysis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51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73152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9844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01 Trends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129844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Macro environment: Favorable. Key opportunities: Regulatory Environment, National Digital Strategy. Key risks: Regulatory Environment, Nebenkostenprivileg (MDU cable TV bundling) abolished Industry is mature. (+0.3% YoY (CQ2_2025 -&gt; CQ4_2025)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920240"/>
            <a:ext cx="73152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3852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02 Market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193852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Germany telecom market totals EUR 12.3B in quarterly revenue; competitive strengths in Availability, Assurances; Market outlook is favorable with more opportunities than threats.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560320"/>
            <a:ext cx="73152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57860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03 Competition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57860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In a 4-player market with medium competition intensity, Deutsche Telekom leads with 50% revenue share. Target operator holds 25% share. Strongest competitive force: Existing Competitors.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200400"/>
            <a:ext cx="73152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21868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04 Self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21868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Ranked #2 of 4 operators in market; revenue EUR 3,092M; EBITDA margin 36.2%; stable but facing challenges; key strength: Brand Strength; key challenge: Customer Service; Management outlook: Germany EBITDA: H2 performing better than H1, but FY26 will not return to positive growth. Key tailwinds: (1) MDU YoY base effect starting to fade from Q3; (2) 1&amp;1 wholesale revenue reaching full run-rate by Q4; (3) MVNO base effects.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840480"/>
            <a:ext cx="73152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85876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SWOT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85876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SWOT analysis identifies 7 strengths, 5 weaknesses, 10 opportunities, and 4 threats. The recommended strategic posture is offensive (SO-dominant).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480560"/>
            <a:ext cx="73152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49884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05 Opportunities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449884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SPAN matrix positions 35 opportunities: 23 grow/invest, 4 acquire skills, 4 harvest, 4 avoid/exit. Focus resources on the 23 grow/invest items for maximum strategic impact.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Complete Five Looks analysis — see opportunity priorities for next steps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Data Provenance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SOURCES &amp;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telecom.db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telecom.db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telecom.db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telecom.db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telecom.db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telecom.db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telecom.db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telecom.db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All data points are traceable to original sources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Arial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657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DCDC"/>
                </a:solidFill>
                <a:latin typeface="Arial"/>
              </a:defRPr>
            </a:pPr>
            <a:r>
              <a:t>BLM Five Looks Strategic Analysis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