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Germany — BLM Strategic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Deep Analysis | Five Looks + SWOT + SPAN | CQ4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 Telecom (4-Op Oligopoly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 2025 / Q3 FY26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 ($APPEALS) | Tariff | 03 Competition (Porter) | 04 Self (BMC) | SWOT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8016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findings, position, priorities (5 slides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82880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PEST macro environment analysis (5 slides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37744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06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$APPEALS, segments, events (5 slides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92608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0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54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Mobile, fixed, FMC pricing (5 slides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47472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38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03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Porter, 3 competitor deep dives (6 slides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02336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873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51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Health, revenue, network, BMC (6 slides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57200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36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00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Matrix, strategies, priorities (5 slides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12064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84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49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SPAN, priorities, financials (5 slides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66928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733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897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Risk/reward, KPI dashboard (3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Data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~2,700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Tariff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Time Span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 Quarters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CQ4_2025 Market Snapshot (4 operators, all KPIs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466 Tariff Records (H1_2023 - H1_2026, 7 snapshots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8-Quarter Financial Trend (CQ1 2024 – CQ4 2025 by segment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10 Market Events (ranked by strategic impact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$APPEALS Assessment (8 dimensions x 4 operators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Porter Five Forces + SWOT + SPAN Matrix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Management Commentary (Q3 FY26 Earnings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traceable to original sources; 8 deep analysis documents totaling ~2,700 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Vodafone Germany BLM Strategic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Situation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~EUR 49B ann.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Near-zero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~3,500+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Highly concentrated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Zero-sum game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3,092M 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 YoY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+0.8pp over 8Q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32,500K #3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+80K/q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1.05%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Worst in market</a:t>
            </a:r>
          </a:p>
        </p:txBody>
      </p:sp>
      <p:pic>
        <p:nvPicPr>
          <p:cNvPr id="38" name="Picture 37" descr="deep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6160"/>
            <a:ext cx="5029200" cy="2103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60720" y="36576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alone &gt; other 3 combined (EUR 6,200M vs EUR 6,127M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growing +0.7% vs DT +1.1% — gap widening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O2 winning subs but losing revenue (-3.4%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at 8.4% share, still in MVNO-to-MNO build phase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EUR 12.3B market growing at near-zero real — every euro must come from competitors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Vodafone Germany —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3,092M/q (+0.7%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3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Growing, barely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1,120M/q (36.2%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Healthy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14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14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+80K/q net adds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4140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Weakest in market (DT +340K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71216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4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Broadband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-63K/q net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ONLY operator losing BB subs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520M/q (+8.5% YoY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74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Strongest growth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05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Wholesale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380M/q (+90%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005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Temporary 1&amp;1 windfall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2272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354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FMC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535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4,900K subs (49.3% pen.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354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retention metric</a:t>
            </a:r>
          </a:p>
        </p:txBody>
      </p:sp>
      <p:pic>
        <p:nvPicPr>
          <p:cNvPr id="34" name="Picture 33" descr="deep_donut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10972800" cy="10972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#2 but growth engines (B2B, wholesale) mask flat consumer and declining broadband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The "Squeezed Middle" — Central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6" name="Picture 5" descr="deep_squeeze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Escape Routes: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846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Convergence moat: Cable+mobile FMC unique — neither O2 nor 1&amp;1 can match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B2B pivot: Enterprise less price-sensitive; Skaylink adds cloud/security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Infrastructure: FibreCo JV + DOCSIS 4.0 to defend fixed broadband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Customers wanting premium choose DT; wanting value choose O2/1&amp;1 — VF must differentiate via FMC, B2B, infra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 Strategic Priorities — Consolidated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6" name="Picture 5" descr="deep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priorities across all analyses — P1 (BB defense) is existential, P3 (service) is highest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6" name="Picture 5" descr="deep_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 favorable (9 opps vs 3 threats) — but fiber displacement and 5G SA gap are existential risks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Factor Priority Ranking — VF-Specific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6" name="Picture 5" descr="deep_pest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Fiber displacement is #1 threat; Gigabit Fund and spectrum extension are #1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Landscape &amp; Key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49B/yr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4th globally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Penetration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Mobile 170% / BB 37%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Pure oligopoly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~36.6%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Healthy</a:t>
            </a:r>
          </a:p>
        </p:txBody>
      </p:sp>
      <p:pic>
        <p:nvPicPr>
          <p:cNvPr id="21" name="Picture 20" descr="deep_ksf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5029200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Mature Market Implications: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0175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Volume growth exhausted — mobile pen. &gt;130%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Competition shifts to retention and upsell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 defense &gt; subscriber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and B2B are remaining growth pockets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Regulatory and tech shifts are primary disruptors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Mature market — growth only from stealing share; FMC and B2B are the growth pockets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&amp; New 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Voice/SMS -&gt; Data/OTT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Linear TV -&gt;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Accelerating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Consumer -&gt; B2B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DSL/Copper -&gt; Fiber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Accelerating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Cable BB -&gt; Fiber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Beginning — VF main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4340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Traditional capex -&gt; NaaS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Emerging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685800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Mobile-only -&gt; FMC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Mature — proven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Emerging Models: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FWA (5G as BB substitute) — moderate for VF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Network-as-a-Service (slicing) — high, needs 5G SA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Wholesale/MVNO — EUR 380M/q, structural decline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IoT platform — 3M connections, B2B synergy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Cable-to-fiber migration is VF's #1 value risk; FMC convergence is proven value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Snapshot — CQ4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12,327M/q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~EUR 49B/yr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170% pen.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BB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37% pen.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CR4=100%</a:t>
            </a:r>
          </a:p>
        </p:txBody>
      </p:sp>
      <p:pic>
        <p:nvPicPr>
          <p:cNvPr id="22" name="Picture 21" descr="deep_mk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926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Monetization Insight: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17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monetizes best: 36.5% mobile subs -&gt; 50.3%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O2 monetizes worst: 32.1% subs -&gt; 16.2%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in between: revenue share (25.1%) &gt; mobile sub share (22.7%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share tells the real competitive 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EUR 12.3B market — DT captures more revenue than the other 3 combined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7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2920" cy="384048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89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89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~13.9M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02920" cy="384048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299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29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0299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~51.2M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29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502920" cy="384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700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6700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70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~35.1M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70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Shrinking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291840"/>
            <a:ext cx="5029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101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310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310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~17.2M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10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931920"/>
            <a:ext cx="502920" cy="384048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502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950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Enterprise 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50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~47K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950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572000"/>
            <a:ext cx="5029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5902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590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Enterprise SME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90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~896K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590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1124712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212080"/>
            <a:ext cx="5029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303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2303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Wholesale/MVNO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~17.2M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230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Focus on High-End + Mainstream + Enterprise; deprioritize price-sensitive (35M subs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 — Customer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deep_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Performance: VF 3.8 vs DT 4.7 (gap -0.9pt)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Price: VF 3.6 vs 1&amp;1 4.5 (gap -0.9pt)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Availability: VF 4.0 vs DT 4.8 (gap -0.8pt)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beats DT on: NOTHING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best score: Assurances (4.1) — trust/reliability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Triple weakness: Price, Ease of Use, Lifecycle Cost (all 3.6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 beats DT on nothing — squeezed middle confirmed in customer perception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Top Market Events — CQ4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350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3502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DT reboots fiber, targets VF cable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35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810512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653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VF completes 1&amp;1 migration: 12M users on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865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340864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95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95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1&amp;1 completes OpenRAN, reaches 25%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395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871216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VF-Altice FibreCo JV: 7M FTTH homes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401568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564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56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VF acquires Skaylink for EUR 175M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867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867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BNetzA extends spectrum by 5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986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462272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171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51713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DT Q3: revenue +1.5%, profit +14.3%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517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4992624"/>
            <a:ext cx="41148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474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474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VF restructures cable TV frequencies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Three Battles: 1) Fixed BB Infrastructure | 2) Wholesale Economics | 3) B2B Transformation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10 market events — DT fiber overbuild (#1) and 1&amp;1 network build (#3) are the strategic threats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 —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deep_tariff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DT premium 167% vs O2/1&amp;1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DT premium 150%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DT premium 140%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DT premium 112%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sits 65-75% above O2/1&amp;1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sits 20-35% below DT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= Classic 'squeezed middle'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commands 112-167% premium; VF caught in the middle — too expensive for value, not premium enough for DT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— Mobile Postpaid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deep_eu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GigaMobil S at EUR 3.57/GB is worst in market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That's 21x worse than O2 Mobile L (EUR 0.17/GB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 best value: 1/5 of VF at L tier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consistently 2nd-best value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Options: increase data to 15-20GB at same price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or cut price to EUR 20 to close O2/1&amp;1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 GigaMobil S worst value in market (EUR 3.57/GB) — 21x worse than O2; repricing or data rebalance needed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Evolution — H1 2023 to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3-YEAR PRICING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6" name="Picture 5" descr="deep_tarif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DT: Never discounts — doubled data instead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VF: One major reset H2_2024 (-17-20%), then frozen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O2: Most aggressive — two disruptions in 18mo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1&amp;1: MVNO-to-MNO price increase justified by own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5G premium eroded from +123% to 0% in 18 months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Differentiation must come from FMC, SA, B2B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never discounts; O2 most aggressive; VF reactive — 5G premium fully eroded to 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Broadband &amp; FMC Bundle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CABLE, DSL, FIBER, FMC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pic>
        <p:nvPicPr>
          <p:cNvPr id="6" name="Picture 5" descr="deep_cab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286000"/>
          </a:xfrm>
          <a:prstGeom prst="rect">
            <a:avLst/>
          </a:prstGeom>
        </p:spPr>
      </p:pic>
      <p:pic>
        <p:nvPicPr>
          <p:cNvPr id="7" name="Picture 6" descr="deep_fmc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4864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is VF's crown jewel: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1000 Mbps at EUR 50 vs DT 250 Mbps at EUR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= 4x speed at same price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narrows the price gap: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Basic EUR 50 is 43% above O2/1&amp;1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(vs 65-167% gap in mobile alone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should be the lead product 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speed advantage = sustainable moat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 is VF's only clear pricing win (4x speed at same price); FMC narrows the competitive gap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deep_po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64008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Overall: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Price competition fierce at value end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DT insulated in premium bubble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OpenRAN is structural change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OTT substitution 90% complete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VF has highest churn (1.05%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Medium overall intensity — but masks fierce price competition at value end while DT operates in premium bubble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Deutsche Telekom — The Unassailable Incumbent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6,200M/q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2.0x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+5.9pp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Most efficient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52,200K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1.6x VF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Strategy: "Premium fortress with fiber moat"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Never discount — doubles data instead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Fiber-first: 8,500K homepass (4x VF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Commands 112-167% premium across all tiers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Only operator growing revenue + margin +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Actively targeting VF cable footprint with fiber</a:t>
            </a:r>
          </a:p>
        </p:txBody>
      </p:sp>
      <p:pic>
        <p:nvPicPr>
          <p:cNvPr id="24" name="Picture 23" descr="deep_d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5943600" cy="32004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is 2x VF on revenue with 6pp higher margins — gap widening; fiber overbuild is existential threat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Telefonica O2 — The Value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2,000M/q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0.65x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-3.7pp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Declining!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45,900K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1.4x VF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Strategy: "More for less — volume at any cost"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Most aggressive pricing: two major restructures in 18mo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5G democratization — first to make 5G standard on all plans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"Grow" innovation: auto-increasing data at same price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98% 5G but only 2,400K BB subs — no convergence play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Revenue paradox: winning subs (+170K/q) but losing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Threat &amp; Opportunity: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THREAT: O2 EUR 20/60GB vs VF EUR 33/25GB — stark value gap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O2 'Grow' feature is a retention innovation VF lacks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OPPORTUNITY: O2 has no fixed BB (2,400K vs VF 9,940K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FMC bundling is VF's counter to O2 price aggression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O2 winning subs but destroying value (-3.4% revenue); FMC is VF's counter — O2 has no fixed broadband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1&amp;1 AG — The Insurgent Network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1,035M/q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0.33x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-24pp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Building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vs VF 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Strategy: "From MVNO underdog to OpenRAN pioneer"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MVNO to MNO transformation — Europe's first OpenRAN 5G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Successfully raised prices 14-50% at network launch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Cheapest unlimited in Germany: EUR 40 (VF EUR 55, DT EUR 85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12.2% EBITDA reflects 'invest now, monetize later'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Coverage gap (55%) is critical weakness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Wholesale Risk: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THREAT (short-term): competes on price at bottom tier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THREAT (long-term): 12M hosted subs will migrate off VF network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At 50% coverage (est. 2027), migration accelerates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 revenue EUR 380M/q at risk over 3-5 years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OPPORTUNITY: OpenRAN quality untested — may drive subs 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1&amp;1 at 25% coverage with cheapest unlimited (EUR 40) — wholesale revenue (EUR 380M/q) is VF's main risk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Strength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deep_comp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outscores VF on 8 of 9 dimensions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VF's only relative advantage: Pricing (72 vs DT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O2 (85) and 1&amp;1 (90) outscore VF on Pricing too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= Squeezed middle quantified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wins on: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broadband (~24M homepass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Convergence/FMC (4,900K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TV leadership (7,740K — 1.8x DT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outscores VF on 8/9 dimensions; VF's advantages are cable, FMC, and TV — must defend and extend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3,092M/q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1,120M/q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36.2% 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800M/q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25.9% intensity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pic>
        <p:nvPicPr>
          <p:cNvPr id="21" name="Picture 20" descr="deep_re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6400800" cy="2926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flat: EUR 3,050M -&gt; EUR 3,092M over 8Q (+1.4%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Margin expanding: 35.4% -&gt; 36.2% (+0.8pp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Cost optimization doing the heavy lifting, not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Capex/Rev 25.9% vs DT 19.4% — less efficient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"Managed optimization" playbook, not a growth 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Slow growth mode — revenue +0.7% but margin improving; cost optimization doing heavy lifting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Breakdown &amp; Segment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deep_rev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YoY Growth: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Mobile +2.8%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Fixed BB -1.1%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B2B +8.5%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Wholesale +90%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TV -3.6%</a:t>
            </a:r>
          </a:p>
        </p:txBody>
      </p:sp>
      <p:pic>
        <p:nvPicPr>
          <p:cNvPr id="13" name="Picture 12" descr="deep_wholesal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548640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41148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Wholesale EUR 180M -&gt; EUR 380M in 8Q (1&amp;1 driven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Peak reached — structural decline as 1&amp;1 builds coverage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EUR 100-200M/q at risk by 2028-29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(+8.5%) and Wholesale (+90%) mask flat consumer; wholesale is temporary windfall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Broadband — The Critical Battleground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deep_bb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801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Cable: 7,500K -&gt; 6,980K (-6.9%) HEMORRHAGING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Fiber: 850K -&gt; 1,480K (+74.1%) BRIGHT SPOT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DSL: 1,480K stable (legacy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Net: -63K/q — ONLY operator losing BB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At current pace, cable &lt; 6,000K by end-2027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FibreCo JV + DOCSIS 4.0 is the dual-track answer</a:t>
            </a:r>
          </a:p>
        </p:txBody>
      </p:sp>
      <p:pic>
        <p:nvPicPr>
          <p:cNvPr id="8" name="Picture 7" descr="deep_fmc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548640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1148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FMC: 4,200K -&gt; 4,900K (+16.7%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Penetration: 40.7% -&gt; 49.3% (+8.6pp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FMC customers churn 30-40% 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 hemorrhaging (-6.9% over 8Q); fiber growing (+74%); FMC at 49% is the retention engine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Infrastructure &amp; Technology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deep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Three Critical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coverage: 92% vs DT 97%, O2 98% — now #3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SA: DT commercial since Sep 2024; VF still testing — 12-18mo behind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homepass: 1,500K vs DT 8,500K (5.7x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Unique Advantage: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network (~24M homepass) — unique differentiator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1000 Mbps cable at competitive prices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DOCSIS 4.0 -&gt; 10Gbps symmetric (matches fiber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5G #3, fiber 5.7x behind DT, SA 12-18mo late — but cable 24M homepass is unchallengeable moat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Cable BB network (24M homes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Brand strength (82/100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Enterprise solutions (82/100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EBITDA margin (36.2%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TV leadership (7,740K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Revenue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Highest churn (1.05%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Customer service (70/100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Pricing competitiveness (72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5G coverage gap (92%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homepass gap (1.5M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BB subscriber losses (-63K/q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wholesale decline (EUR 100-200M/q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DT fiber overbuild in cable footprint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O2 further price disruption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5G SA delay beyond 2026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Cable obsolescence perception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but diverging — B2B and wholesale masking declines in fixed and competitive slippage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deep_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00"/>
                </a:solidFill>
                <a:latin typeface="Arial"/>
              </a:defRPr>
            </a:pPr>
            <a:r>
              <a:t>Posture: OFFENSIVE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S=7 &gt; W=3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O=11 &gt; T=4 (ratio ~3:1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SO-dominant strategy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Aggressive exploitation,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not defensive retrenchment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Offensive posture — strengths &gt; weaknesses, opportunities 3:1 vs threats; SO-dominant strategy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Strategy Matrix — Cross-Quadrant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deep_swot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 Mega-Strategy: Use financial strength and enterprise capabilities to fund and capture the infrastructure transformation opportunity.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SO-dominant: use EBITDA + enterprise to fund infra transformation; WO: fix service as highest ROI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The "Squeezed Middle" — SWOT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deep_swo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strengths are above market average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BELOW DT on every single dimension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This is the fundamental positioning problem: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Not weakness — insufficiency of strength vs leader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charges near-premium (closer to DT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delivers mid-range (closer to O2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VF's strengths are above average but below DT on every dimension — not weak, but insufficient vs leader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SWOT-Derived Strategic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PRIORITY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deep_swot_p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What NOT To 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Price wars — destroys 36.2% margin without winning share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Premium repositioning — behind DT on every dimension, 5+ years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Standalone TV investment — declining; value is as FMC anchor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Delay fiber — every quarter = ~63K BB subs lost to DT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priorities: defend BB (existential), fix service (highest ROI), grow FMC, accelerate B2B, manage wholesale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21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deep_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Grow/Invest: 18 (86%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Acquire Skills: 3 (14%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Harvest: 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Avoid/Exit: 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86% in Grow/Invest confirms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offensive strategic posture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Challenge is not finding opportunities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prioritizing and sequencing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86% of opportunities in Grow/Invest — market offering favorable hand; challenge is execution speed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deep_opp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P0 (must-do), 3 P1 (should-do), 2 P2 (explore) — 60/30/10% resource allocation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Financial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&amp;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pic>
        <p:nvPicPr>
          <p:cNvPr id="6" name="Picture 5" descr="deep_fi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pic>
        <p:nvPicPr>
          <p:cNvPr id="7" name="Picture 6" descr="deep_scenario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73152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Cost of inaction: -EUR 2-4B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 value of full execution: +EUR 2-4B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Asymmetry is clear: invest or decline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Cost of inaction (EUR 2-4B loss) exceeds cost of action (EUR 1-3B net gain) — VF must invest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Sequencing — 2025 to 2029+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pic>
        <p:nvPicPr>
          <p:cNvPr id="6" name="Picture 5" descr="dee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P0 (Must Execute): 60%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FibreCo JV, Wholesale Max, FMC, Skaylink, Spectrum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P1 (Should Execute): 30%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Service, Gigabit Fund, Cable Restructuring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P2 (Explore): 10%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SA/Enterprise, AI/ML, Open 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3-5 year window to execute — FibreCo JV and wholesale revenue fund the transformation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Risk / Reward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deep_risk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The asymmetry is clear: downside of inaction (EUR 2-4B value destruction) exceeds net cost of action (EUR 1-3B net value creation after investment). Vodafone must invest.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Execute: +EUR 1-3B net value | Do nothing: -EUR 2-4B loss — the cost of inaction exceeds the cost of action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Success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KPI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deep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9 KPIs tracked across 4 horizons — BB stabilization, churn reduction, and FMC growth are the leading indicators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Vodafone Germany — BLM Strategic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CDC"/>
                </a:solidFill>
                <a:latin typeface="Arial"/>
              </a:defRPr>
            </a:pPr>
            <a:r>
              <a:t>Deep Analysis | CQ4 2025 | Five Looks + SWOT + 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9696"/>
                </a:solidFill>
                <a:latin typeface="Arial"/>
              </a:defRPr>
            </a:pPr>
            <a:r>
              <a:t>Generated: 2026-02-10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