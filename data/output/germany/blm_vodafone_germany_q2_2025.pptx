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Vodafone Germany BLM 战略分析报告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rial"/>
              </a:defRPr>
            </a:pPr>
            <a:r>
              <a:t>基于 BLM (Business Leadership Model) 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分析对象: Vodafone Germany</a:t>
            </a:r>
            <a:br/>
            <a:r>
              <a:t>竞争对手: Deutsche Telekom, Telefónica O2 Germany, 1&amp;1 AG</a:t>
            </a:r>
            <a:br/>
            <a:r>
              <a:t>报告日期: 2026年02月04日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9260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BLM 战略分析框架:</a:t>
            </a:r>
            <a:br/>
            <a:br/>
            <a:r>
              <a:t>• 五看 (Five Looks): 看市场、看自己、看对手、看宏观、看机会</a:t>
            </a:r>
            <a:br/>
            <a:r>
              <a:t>• 三定 (Three Decisions): 定策略、定重点工作、定执行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报告目录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57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34640"/>
            <a:ext cx="548640" cy="54864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五看分析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46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Arial"/>
              </a:defRPr>
            </a:pPr>
            <a:r>
              <a:t>看市场 | 看自己 | 看对手 | 看宏观 | 看机会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三定策略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Arial"/>
              </a:defRPr>
            </a:pPr>
            <a:r>
              <a:t>定策略 | 定重点工作 | 定执行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总结与建议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623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Arial"/>
              </a:defRPr>
            </a:pPr>
            <a:r>
              <a:t>Summary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Arial"/>
              </a:defRPr>
            </a:pPr>
            <a:r>
              <a:t>市场地位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• 收入规模: €3.1B</a:t>
            </a:r>
            <a:br/>
            <a:r>
              <a:t>• 市场排名: 第2位</a:t>
            </a:r>
            <a:br/>
            <a:r>
              <a:t>• 市场份额: 27.0%</a:t>
            </a:r>
            <a:br/>
            <a:r>
              <a:t>• 5G覆盖率: 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Arial"/>
              </a:defRPr>
            </a:pPr>
            <a:r>
              <a:t>核心痛点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• EBITDA利润率: 35.5%，排名第2，低于德电(41.9%)...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Arial"/>
              </a:defRPr>
            </a:pPr>
            <a:r>
              <a:t>战略重点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• [P0] 网络追赶战略</a:t>
            </a:r>
            <a:br/>
            <a:r>
              <a:t>• [P0] 运营效率提升战略</a:t>
            </a:r>
            <a:br/>
            <a:r>
              <a:t>• [P0] 企业客户深耕战略</a:t>
            </a:r>
            <a:br/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11277295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核心定位: 做德国市场「有质量的挑战者」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以网络和服务质量为核心竞争力，聚焦B2B市场差异化，避免C端价格战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五看分析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C8C8"/>
                </a:solidFill>
                <a:latin typeface="Arial"/>
              </a:defRPr>
            </a:pPr>
            <a:r>
              <a:t>Five Looks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市场洞察 (Look at Market) - 德国电信市场 Q2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Eur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13.4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Mobile Million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158.48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Broadband Mill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31.559999999999995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5G Coverage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82.5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洞察发现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德国电信市场总收入: €13.4B (Q2 2025)</a:t>
            </a:r>
            <a:br/>
            <a:r>
              <a:t>• 移动用户总规模: 158.5M，宽带用户: 31.6M</a:t>
            </a:r>
            <a:br/>
            <a:r>
              <a:t>• 市场格局: 德电一家独大 (40.6%份额), Vodafone (27.0%), O2 (7.2%), 1&amp;1 (10.7%)</a:t>
            </a:r>
            <a:br/>
            <a:r>
              <a:t>• 德电连续35个季度EBITDA增长，展示绝对领导地位</a:t>
            </a:r>
            <a:br/>
            <a:r>
              <a:t>• Vodafone Germany 服务收入重回增长 (+0.5%)，结束5个季度的TV法规影响</a:t>
            </a:r>
            <a:br/>
            <a:r>
              <a:t>• O2 收入下降 (-2.4%) 受1&amp;1客户迁移影响，但合约用户净增18.4万</a:t>
            </a:r>
            <a:br/>
          </a:p>
        </p:txBody>
      </p:sp>
      <p:sp>
        <p:nvSpPr>
          <p:cNvPr id="20" name="TextBox 19"/>
          <p:cNvSpPr txBox="1"/>
          <p:nvPr/>
        </p:nvSpPr>
        <p:spPr>
          <a:xfrm>
            <a:off x="621792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行动建议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303520" cy="32004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10896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→ 关注德电持续增长的战略举措，学习其用户经营模式</a:t>
            </a:r>
            <a:br/>
            <a:br/>
            <a:r>
              <a:t>→ 把握1&amp;1网络建设期的市场窗口，争取其流失用户</a:t>
            </a:r>
            <a:br/>
            <a:br/>
            <a:r>
              <a:t>→ 重视5G覆盖差距，加速5G网络建设投资</a:t>
            </a:r>
            <a:br/>
            <a:br/>
            <a:r>
              <a:t>→ 强化价值定位，避免纯价格竞争</a:t>
            </a:r>
            <a:br/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自身洞察 (Look at Self)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 Eur Billion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3.1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 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 Grow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0.5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35.5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洞察发现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收入规模: €3.1B，市场排名第2</a:t>
            </a:r>
            <a:br/>
            <a:r>
              <a:t>• 服务收入增长: +0.5%，结束连续5季度下滑，重回增长轨道</a:t>
            </a:r>
            <a:br/>
            <a:r>
              <a:t>• EBITDA利润率: 35.5%，排名第2，低于德电(41.9%)</a:t>
            </a:r>
            <a:br/>
            <a:r>
              <a:t>• 宽带市场份额: 27.0%，稳居第二</a:t>
            </a:r>
            <a:br/>
            <a:r>
              <a:t>• 移动用户: 31.2M，用户规模远低于德电和O2</a:t>
            </a:r>
            <a:br/>
            <a:r>
              <a:t>• 5G覆盖率: 85%，落后于德电(97%)和O2(98%)</a:t>
            </a:r>
            <a:br/>
          </a:p>
        </p:txBody>
      </p:sp>
      <p:sp>
        <p:nvSpPr>
          <p:cNvPr id="20" name="TextBox 19"/>
          <p:cNvSpPr txBox="1"/>
          <p:nvPr/>
        </p:nvSpPr>
        <p:spPr>
          <a:xfrm>
            <a:off x="621792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行动建议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303520" cy="32004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10896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→ 加速5G网络建设，缩小与德电和O2的覆盖差距</a:t>
            </a:r>
            <a:br/>
            <a:br/>
            <a:r>
              <a:t>→ 提升客户服务质量，降低流失率至1.0%以下</a:t>
            </a:r>
            <a:br/>
            <a:br/>
            <a:r>
              <a:t>→ 强化B2B和批发业务，发挥集团全球化优势</a:t>
            </a:r>
            <a:br/>
            <a:br/>
            <a:r>
              <a:t>→ 优化运营成本结构，提升EBITDA利润率向40%靠拢</a:t>
            </a:r>
            <a:br/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竞争洞察 (Look at Competitors) - 德国市场竞争格局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COMPETITOR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Main Competitor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Deutsche Telekom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 Gap To Leade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103.2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 Gap To Leader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6.4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5G Gap To O2 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洞察发现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【德电】收入€6.3B，是Vodafone的2.0倍</a:t>
            </a:r>
            <a:br/>
            <a:r>
              <a:t>• 【德电】EBITDA利润率41.9%，领先Vodafone 6.4pp</a:t>
            </a:r>
            <a:br/>
            <a:r>
              <a:t>• 【德电】连续35个季度EBITDA增长，运营能力极强</a:t>
            </a:r>
            <a:br/>
            <a:r>
              <a:t>• 【德电】5G覆盖97%，网络质量评分92分，全面领先</a:t>
            </a:r>
            <a:br/>
            <a:r>
              <a:t>• 【德电】核心优势: Network Coverage, Network Quality, 5G Deployment</a:t>
            </a:r>
            <a:br/>
            <a:r>
              <a:t>• 【O2】收入下降2.4%，受1&amp;1迁移影响，但仍保持用户增长</a:t>
            </a:r>
            <a:br/>
          </a:p>
        </p:txBody>
      </p:sp>
      <p:sp>
        <p:nvSpPr>
          <p:cNvPr id="20" name="TextBox 19"/>
          <p:cNvSpPr txBox="1"/>
          <p:nvPr/>
        </p:nvSpPr>
        <p:spPr>
          <a:xfrm>
            <a:off x="621792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行动建议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303520" cy="32004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10896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→ 对标德电运营效率，学习其持续35季度EBITDA增长的秘诀</a:t>
            </a:r>
            <a:br/>
            <a:br/>
            <a:r>
              <a:t>→ 加速5G网络部署，缩小与O2的覆盖差距</a:t>
            </a:r>
            <a:br/>
            <a:br/>
            <a:r>
              <a:t>→ 差异化竞争，避免与O2和1&amp;1的纯价格战</a:t>
            </a:r>
            <a:br/>
            <a:br/>
            <a:r>
              <a:t>→ 关注1&amp;1网络建设进展，其完成后将成为更强竞争者</a:t>
            </a:r>
            <a:br/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宏观环境洞察 (Look at Macro) - 德国电信行业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MACRO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Gdp Growth Pct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0.8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Inflation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2.1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Fiber Target 2025 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Fiber Target 2030 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洞察发现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德国GDP增长: 0.8%，经济复苏缓慢</a:t>
            </a:r>
            <a:br/>
            <a:r>
              <a:t>• 通胀率: 2.1%，成本压力持续</a:t>
            </a:r>
            <a:br/>
            <a:r>
              <a:t>• 监管环境: Strict (BNetzA)，BNetzA监管严格</a:t>
            </a:r>
            <a:br/>
            <a:r>
              <a:t>• 千兆战略: 2025年目标50%光纤覆盖，2030年100%</a:t>
            </a:r>
            <a:br/>
            <a:r>
              <a:t>• 5G频谱分配已完成，网络竞赛进入关键阶段</a:t>
            </a:r>
            <a:br/>
            <a:r>
              <a:t>• 能源成本高企但趋于稳定，运营商成本压力缓解</a:t>
            </a:r>
            <a:br/>
          </a:p>
        </p:txBody>
      </p:sp>
      <p:sp>
        <p:nvSpPr>
          <p:cNvPr id="20" name="TextBox 19"/>
          <p:cNvSpPr txBox="1"/>
          <p:nvPr/>
        </p:nvSpPr>
        <p:spPr>
          <a:xfrm>
            <a:off x="621792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行动建议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303520" cy="32004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10896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→ 响应千兆战略，加大光纤网络投资</a:t>
            </a:r>
            <a:br/>
            <a:br/>
            <a:r>
              <a:t>→ 关注Open RAN发展，评估技术路线调整可能性</a:t>
            </a:r>
            <a:br/>
            <a:br/>
            <a:r>
              <a:t>→ 把握AI集成机遇，提升网络智能化运营水平</a:t>
            </a:r>
            <a:br/>
            <a:br/>
            <a:r>
              <a:t>→ 积极参与政策讨论，争取有利监管环境</a:t>
            </a:r>
            <a:br/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机会洞察 (Look at Opportunities)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Opportunities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Threats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Potential Oppor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463040"/>
            <a:ext cx="2743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7000B"/>
                </a:solidFill>
                <a:latin typeface="Arial"/>
              </a:defRPr>
            </a:pPr>
            <a:r>
              <a:t>5G覆盖差距 12pp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洞察发现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【机会1】5G网络加速投资：缩小与德电/O2的覆盖差距是当务之急</a:t>
            </a:r>
            <a:br/>
            <a:r>
              <a:t>• 【机会2】企业数字化市场：B2B解决方案能力强，应加大投入</a:t>
            </a:r>
            <a:br/>
            <a:r>
              <a:t>• 【机会3】1&amp;1转型窗口期：抢夺其网络不稳定期的流失用户</a:t>
            </a:r>
            <a:br/>
            <a:r>
              <a:t>• 【机会4】批发业务扩展：批发收入是增长亮点，持续深耕</a:t>
            </a:r>
            <a:br/>
            <a:r>
              <a:t>• 【机会5】IoT/物联网：市场增速快，需加速布局</a:t>
            </a:r>
            <a:br/>
            <a:r>
              <a:t>• 【威胁】德电持续领先，收入差距103%</a:t>
            </a:r>
            <a:br/>
          </a:p>
        </p:txBody>
      </p:sp>
      <p:sp>
        <p:nvSpPr>
          <p:cNvPr id="20" name="TextBox 19"/>
          <p:cNvSpPr txBox="1"/>
          <p:nvPr/>
        </p:nvSpPr>
        <p:spPr>
          <a:xfrm>
            <a:off x="621792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行动建议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303520" cy="32004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10896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→ 优先投资5G网络建设，2025年底达到95%覆盖</a:t>
            </a:r>
            <a:br/>
            <a:br/>
            <a:r>
              <a:t>→ 成立专项团队争取1&amp;1流失用户</a:t>
            </a:r>
            <a:br/>
            <a:br/>
            <a:r>
              <a:t>→ 加大企业客户投入，提供差异化数字解决方案</a:t>
            </a:r>
            <a:br/>
            <a:br/>
            <a:r>
              <a:t>→ 深化批发合作伙伴关系，扩大收入来源</a:t>
            </a:r>
            <a:br/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三定策略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C8C8"/>
                </a:solidFill>
                <a:latin typeface="Arial"/>
              </a:defRPr>
            </a:pPr>
            <a:r>
              <a:t>Three Decisions Strategy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定策略 (Define Strategy) - Vodafone Germany FY26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Vodafone Germany 战略规划 (FY26 Q2+):</a:t>
            </a:r>
            <a:br/>
            <a:br/>
            <a:r>
              <a:t>1. 【P0-网络追赶】全力加速5G建设，缩小与德电/O2的12-13pp覆盖差距</a:t>
            </a:r>
            <a:br/>
            <a:r>
              <a:t>2. 【P0-效率提升】对标德电41.9%利润率，优化运营成本，提升利润率至38%+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45720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全力加速5G网络建设，2025年底实现95%人口覆盖，缩小与德电/O2的差距，提升网络竞争力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KPI: 5G覆盖率达95% | 网络质量评分提升至80分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45720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49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对标德电41.9%利润率，通过数字化运营和成本优化，提升EBITDA利润率从35.5%到38%+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KPI: EBITDA利润率≥38% | 运营成本降低5%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45720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发挥Vodafone集团全球化优势，聚焦企业数字化转型，提供差异化解决方案，避开C端价格战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KPI: B2B收入增长8% | 企业客户NPS提升10分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5780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降低流失率从1.2%到1.0%以下，提升用户ARPU，通过融合套餐和增值服务提升用户价值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349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KPI: 流失率≤1.0% | ARPU提升5%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03504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80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6035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新兴业务布局战略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加速IoT/M2M、智慧城市、云服务等新兴业务布局，开辟第二增长曲线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KPI: IoT连接数增长30% | 新业务收入占比达15%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定重点工作 (Define Key Tasks)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KEY_TASKS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Vodafone Germany 重点工作清单:</a:t>
            </a:r>
            <a:br/>
            <a:br/>
            <a:r>
              <a:t>【P0 - 必须完成】</a:t>
            </a:r>
            <a:br/>
            <a:r>
              <a:t>• 5G网络加速: Q4达95%覆盖，新增3000+基站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45720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5G网络加速建设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Q3-Q4新增3000个5G基站，重点覆盖城市核心区和工业园区，年底达95%人口覆盖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KPI: 新增基站3000+ | 覆盖率95%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45720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49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运营成本优化项目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启动全面数字化运营转型，优化门店网络，提升线上服务占比，降低单用户服务成本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KPI: 运营成本降5% | 线上服务占比70%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45720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企业客户专项攻坚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成立企业数字化解决方案中心，聚焦制造业、汽车、物流等垂直行业，提供定制化服务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KPI: 签约大客户+20% | 行业解决方案5套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57800"/>
            <a:ext cx="45720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客户服务升级计划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优化客户服务流程，引入AI客服，提升首次解决率，改善客户满意度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349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KPI: 首次解决率85% | NPS提升10分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03504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80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6035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1&amp;1用户争夺行动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针对1&amp;1网络不稳定期，推出专项迁移优惠，吸引价值用户转网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KPI: 迁移用户10万+ | 高价值用户占比60%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定执行 (Define Execution)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Vodafone Germany 执行计划:</a:t>
            </a:r>
            <a:br/>
            <a:br/>
            <a:r>
              <a:t>【关键里程碑】</a:t>
            </a:r>
            <a:br/>
            <a:r>
              <a:t>• M1 (2025.09): 5G覆盖90%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45720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M1: 5G覆盖90%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2025年9月底前，5G人口覆盖达90%，完成城市核心区全覆盖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KPI: 5G覆盖90% | 核心城市100%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45720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49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M2: 企业解决方案中心成立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2025年8月成立企业数字化解决方案中心，配置专业团队50人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KPI: 团队50人 | 5个行业方案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45720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M3: 客服AI上线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2025年10月AI客服系统全面上线，覆盖80%常见问题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KPI: AI覆盖80%问题 | 客服成本降20%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57800"/>
            <a:ext cx="45720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M4: 5G覆盖95%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2025年12月底，5G人口覆盖达95%，追平市场第一梯队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349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KPI: 5G覆盖95% | 网络评分80+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03504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80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6035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M5: IoT平台上线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2026年Q1 IoT统一管理平台正式上线运营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KPI: 平台上线 | 接入10万+设备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总结与建议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Vodafone Germany 战略重点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【P0】网络追赶战略</a:t>
            </a:r>
            <a:br/>
            <a:r>
              <a:t>【P0】运营效率提升战略</a:t>
            </a:r>
            <a:br/>
            <a:r>
              <a:t>【P0】企业客户深耕战略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关键里程碑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• 2025-09-30: M1: 5G覆盖90%</a:t>
            </a:r>
            <a:br/>
            <a:r>
              <a:t>• 2025-08-31: M2: 企业解决方案中心成立</a:t>
            </a:r>
            <a:br/>
            <a:r>
              <a:t>• 2025-10-31: M3: 客服AI上线</a:t>
            </a:r>
            <a:br/>
            <a:r>
              <a:t>• 2025-12-31: M4: 5G覆盖95%</a:t>
            </a:r>
            <a:br/>
            <a:r>
              <a:t>• 2026-03-31: M5: IoT平台上线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下一步行动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1. 成立战略执行委员会  2. 启动5G网络加速项目  3. 组建企业解决方案中心  4. 双周跟踪KPI进展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C8C8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C8C8"/>
                </a:solidFill>
                <a:latin typeface="Arial"/>
              </a:defRPr>
            </a:pPr>
            <a:r>
              <a:t>BLM Strategic Analysis | Generated 2026-02-04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