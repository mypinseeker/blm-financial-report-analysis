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2560320"/>
          </a:xfrm>
          <a:prstGeom prst="rect">
            <a:avLst/>
          </a:prstGeom>
          <a:solidFill>
            <a:srgbClr val="B4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Vodafone Germany BLM 战略分析报告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基于 BLM (Business Leadership Model) 方法论的战略分析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34747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分析对象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39" y="3200400"/>
            <a:ext cx="34747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19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竞争对手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19" y="3657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Deutsche Telekom, Telefónica O2 Germany, 1&amp;1 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8" y="3200400"/>
            <a:ext cx="347472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8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报告日期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8" y="36576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2026年02月06日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029200"/>
            <a:ext cx="365760" cy="36576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五看 Five Looks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49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看市场 | 看自己 | 看对手 | 看宏观 | 看机会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5806440"/>
            <a:ext cx="365760" cy="36576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806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三定 Three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6126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定策略 | 定重点工作 | 定执行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报告目录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645920"/>
            <a:ext cx="18288" cy="4572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45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57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Executive Summary - 核心数据与关键结论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page 3-4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163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7432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五看分析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154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Five Looks - 市场/自身/竞争/宏观/机会洞察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page 5-15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136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8404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三定策略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251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Three Decisions - 策略/重点工作/执行计划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page 16-22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4937760"/>
            <a:ext cx="457200" cy="457200"/>
          </a:xfrm>
          <a:prstGeom prst="ellipse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010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937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Arial"/>
              </a:defRPr>
            </a:pPr>
            <a:r>
              <a:t>总结建议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349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Summary - 结论与下一步行动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7000B"/>
                </a:solidFill>
                <a:latin typeface="Arial"/>
              </a:defRPr>
            </a:pPr>
            <a:r>
              <a:t>page 23-24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74320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743200" cy="54864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7000B"/>
                </a:solidFill>
                <a:latin typeface="Arial"/>
              </a:defRPr>
            </a:pPr>
            <a:r>
              <a:t>€3.092B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收入规模 (Q2 2025)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74320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743200" cy="54864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7000B"/>
                </a:solidFill>
                <a:latin typeface="Arial"/>
              </a:defRPr>
            </a:pPr>
            <a:r>
              <a:t>第N/A位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市场排名 (德国市场)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274320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2743200" cy="54864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7000B"/>
                </a:solidFill>
                <a:latin typeface="Arial"/>
              </a:defRPr>
            </a:pPr>
            <a:r>
              <a:t>N/A%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市场份额 (宽带市场)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2743200" cy="11887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371600"/>
            <a:ext cx="2743200" cy="54864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7000B"/>
                </a:solidFill>
                <a:latin typeface="Arial"/>
              </a:defRPr>
            </a:pPr>
            <a:r>
              <a:t>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5G覆盖率 (人口覆盖)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战略重点 STRATEGIC PRIORITIES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41148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3756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网络追赶战略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584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全力加速5G网络建设，2025年底实现95%人口覆盖，缩小与德电/O2的差距，提升网络竞争力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977640"/>
            <a:ext cx="41148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02336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977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运营效率提升战略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270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对标德电41.9%利润率，通过数字化运营和成本优化，提升EBITDA利润率从36.2%到38%+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63440"/>
            <a:ext cx="41148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70916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企业客户深耕战略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956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发挥Vodafone集团全球化优势，聚焦企业数字化转型，提供差异化解决方案，避开C端价格战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349240"/>
            <a:ext cx="41148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39496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349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用户价值经营战略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6418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降低流失率从1.05%到1.0%以下，提升用户ARPU，通过融合套餐和增值服务提升用户价值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核心挑战 KEY CHALLENGES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200400"/>
            <a:ext cx="5303520" cy="256032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33832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【收入拆解】移动服务收入 +2.8% (批发增长驱动)，固网 -1.1% (TV下滑收窄)...</a:t>
            </a:r>
            <a:br/>
            <a:r>
              <a:t>• 【收入排名】市场第2名，收入是德电的49%，差距104%...</a:t>
            </a:r>
            <a:br/>
            <a:r>
              <a:t>• 【利润率】EBITDA利润率 36.2%，排名第2，低于德电 5.7pp...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核心定位: 做德国市场「有质量的挑战者」- 以网络和服务质量为核心竞争力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AA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10896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Arial"/>
              </a:defRPr>
            </a:pPr>
            <a:r>
              <a:t>五看分析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C8C8"/>
                </a:solidFill>
                <a:latin typeface="Arial"/>
              </a:defRPr>
            </a:pPr>
            <a:r>
              <a:t>Five Looks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市场格局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pic>
        <p:nvPicPr>
          <p:cNvPr id="7" name="Picture 6" descr="market_sha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市场关键数据 Q2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5029200" cy="9144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收入: €3.092B | EBITDA: 36.2% | 5G: 90%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834640"/>
            <a:ext cx="50292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880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Deutsche Telekom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00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收入: €6.3B | EBITDA: 41.9% | 5G: 97%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840480"/>
            <a:ext cx="50292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Telefónica O2 Germany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06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收入: €2.0B | EBITDA: 32.5% | 5G: 98%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846320"/>
            <a:ext cx="50292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1&amp;1 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12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收入: €2.0B | EBITDA: 12.5% | 5G: 55%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11277295" cy="18288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09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市场洞察 MARKET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德电以40.6%份额稳居第一，连续35季度EBITDA增长，领先优势持续扩大</a:t>
            </a:r>
            <a:br/>
            <a:r>
              <a:t>• Vodafone以27.0%份额位居第二，服务收入重回增长(+0.5%)</a:t>
            </a:r>
            <a:br/>
            <a:r>
              <a:t>• 1&amp;1作为新进入者正在建设自有网络，短期面临成本压力</a:t>
            </a:r>
            <a:br/>
            <a:r>
              <a:t>• 市场竞争加剧，价格战压力持续，需要差异化竞争策略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收入与利润对比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REVENUE &amp; PROFITABILITY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7" name="Picture 6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760720" cy="3657600"/>
          </a:xfrm>
          <a:prstGeom prst="rect">
            <a:avLst/>
          </a:prstGeom>
        </p:spPr>
      </p:pic>
      <p:pic>
        <p:nvPicPr>
          <p:cNvPr id="8" name="Picture 7" descr="ebitda_ar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303520" cy="3200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303520"/>
            <a:ext cx="11277295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Vodafone Germany收入€3.092B，为德电的49%</a:t>
            </a:r>
            <a:br/>
            <a:r>
              <a:t>• EBITDA利润率36.2%，低于德电5.7pp</a:t>
            </a:r>
            <a:br/>
            <a:r>
              <a:t>• 需要提升运营效率，向40%利润率目标努力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5G 网络覆盖对比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5G NETWORK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pic>
        <p:nvPicPr>
          <p:cNvPr id="7" name="Picture 6" descr="5g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4846320"/>
            <a:ext cx="11277295" cy="17373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983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5G 网络分析与建议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Vodafone Germany 5G覆盖90%，落后德电7pp，落后O2 8pp</a:t>
            </a:r>
            <a:br/>
            <a:r>
              <a:t>• 5G覆盖差距可能导致高端用户流失，需加速网络建设</a:t>
            </a:r>
            <a:br/>
            <a:r>
              <a:t>• 建议：Q4达到95%覆盖，追平第一梯队水平</a:t>
            </a:r>
            <a:br/>
            <a:r>
              <a:t>• 重点：城市核心区、工业园区、交通枢纽优先覆盖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竞争力雷达图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COMPETITIVE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pic>
        <p:nvPicPr>
          <p:cNvPr id="7" name="Picture 6" descr="competitive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4008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Vodafone Germany 竞争力分析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828800"/>
            <a:ext cx="4846320" cy="164592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920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8B22"/>
                </a:solidFill>
                <a:latin typeface="Arial"/>
              </a:defRPr>
            </a:pPr>
            <a:r>
              <a:t>优势领域 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402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Brand Strength: 82分</a:t>
            </a:r>
            <a:br/>
            <a:r>
              <a:t>• Enterprise Solutions: 82分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3657600"/>
            <a:ext cx="4846320" cy="164592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74903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改进领域 Weaknesses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0690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Customer Service: 70分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486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7000B"/>
                </a:solidFill>
                <a:latin typeface="Arial"/>
              </a:defRPr>
            </a:pPr>
            <a:r>
              <a:t>综合竞争力评分: 76.8/100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市场洞察 (Look at Market) - 德国电信市场 Q3 FY26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Total Revenue Eur Billion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13.4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Total Mobile Million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158.6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Total Broadband Million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31.4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Avg 5G Coverage Pct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85.0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洞察发现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5486400" cy="329184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德国电信市场总收入: €13.4B (Q3 FY26)</a:t>
            </a:r>
            <a:br/>
            <a:r>
              <a:t>2. 移动用户总规模: 158.6M，宽带用户: 31.4M</a:t>
            </a:r>
            <a:br/>
            <a:r>
              <a:t>3. 市场格局: 德电一家独大 (40.6%份额), Vodafone (26.5%), O2 (7.2%), 1&amp;1 (10.7%)</a:t>
            </a:r>
            <a:br/>
            <a:r>
              <a:t>4. 德电连续35个季度EBITDA增长，展示绝对领导地位</a:t>
            </a:r>
            <a:br/>
            <a:r>
              <a:t>5. 【亮点】Vodafone Germany服务收入连续增长 (+0.7%)，Q2为+0.5%，趋势向好</a:t>
            </a:r>
            <a:br/>
            <a:r>
              <a:t>6. 【亮点】1&amp;1客户迁移完成，1200万用户已接入Vodafone 5G网络</a:t>
            </a:r>
            <a:br/>
            <a:r>
              <a:t>7. 【亮点】Vodafone成为德国承载移动用户最多的网络运营商</a:t>
            </a:r>
            <a:br/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行动建议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5303520" cy="329184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→ 关注德电持续增长的战略举措，学习其用户经营模式</a:t>
            </a:r>
            <a:br/>
            <a:br/>
            <a:r>
              <a:t>→ 充分利用1&amp;1客户迁移完成的优势，最大化批发收入</a:t>
            </a:r>
            <a:br/>
            <a:br/>
            <a:r>
              <a:t>→ 继续推进5G网络建设，缩小与德电/O2的覆盖差距</a:t>
            </a:r>
            <a:br/>
            <a:br/>
            <a:r>
              <a:t>→ 坚持价值经营(Value over Volume)，保持新客户高ARPU</a:t>
            </a:r>
            <a:br/>
            <a:br/>
            <a:r>
              <a:t>→ 强化B2B数字化服务，发挥Skaylink收购带来的云能力</a:t>
            </a:r>
            <a:br/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自身洞察 (Look at Self) - Vodafone Germany Q3 FY26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Revenue Eur Billion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3.092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Service Revenue Eur Billi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2.726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Service Revenue Growth 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0.7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Mobile Growth Pct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2.8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洞察发现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5486400" cy="329184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【收入】总收入 €3.092B (+0.1% YoY)，服务收入 €2.726B (+0.7%)</a:t>
            </a:r>
            <a:br/>
            <a:r>
              <a:t>2. 【收入拆解】移动服务收入 +2.8% (批发增长驱动)，固网 -1.1% (TV下滑收窄)</a:t>
            </a:r>
            <a:br/>
            <a:r>
              <a:t>3. 【收入排名】市场第2名，收入是德电的49%，差距104%</a:t>
            </a:r>
            <a:br/>
            <a:r>
              <a:t>4. 【利润率】EBITDA利润率 36.2%，排名第2，低于德电 5.7pp</a:t>
            </a:r>
            <a:br/>
            <a:r>
              <a:t>5. 【里程碑】1&amp;1客户迁移完成！12.0M用户接入Vodafone 5G网络</a:t>
            </a:r>
            <a:br/>
            <a:r>
              <a:t>6. 【战略意义】Vodafone现为德国承载移动用户最多的网络运营商</a:t>
            </a:r>
            <a:br/>
            <a:r>
              <a:t>7. 【价值经营】新客户ARPU同比增长 +21.0%，创3年新高</a:t>
            </a:r>
            <a:br/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行动建议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5303520" cy="329184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→ 继续推进5G网络建设，目标Q4 FY26达到95%覆盖，缩小与德电7pp差距</a:t>
            </a:r>
            <a:br/>
            <a:br/>
            <a:r>
              <a:t>→ 坚持'Value over Volume'策略，保持新客户高ARPU趋势</a:t>
            </a:r>
            <a:br/>
            <a:br/>
            <a:r>
              <a:t>→ 最大化1&amp;1批发收入，Q4达到完整运行率(full run-rate)</a:t>
            </a:r>
            <a:br/>
            <a:br/>
            <a:r>
              <a:t>→ 强化B2B数字化服务，发挥Skaylink收购(€175M)带来的云和转型能力</a:t>
            </a:r>
            <a:br/>
            <a:br/>
            <a:r>
              <a:t>→ 推动TV与宽带捆绑，减缓独立TV用户流失</a:t>
            </a:r>
            <a:br/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竞争洞察 (Look at Competitors) - 德国市场 Q3 FY26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COMPETITOR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Main Competitor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Deutsche Telekom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Revenue Gap To Leader Pct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103.8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Margin Gap To Leader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5.7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5G Gap To Dt 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洞察发现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5486400" cy="329184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【德电-规模】收入€6.3B vs Vodafone €3.092B (差距104%)</a:t>
            </a:r>
            <a:br/>
            <a:r>
              <a:t>2. 【德电-利润率】EBITDA 41.9% vs Vodafone 36.2% (领先5.7pp)</a:t>
            </a:r>
            <a:br/>
            <a:r>
              <a:t>3. 【德电-增长】连续35个季度EBITDA增长，展示卓越运营纪律</a:t>
            </a:r>
            <a:br/>
            <a:r>
              <a:t>4. 【德电-网络】5G覆盖97% vs Vodafone 90% (领先7pp)</a:t>
            </a:r>
            <a:br/>
            <a:r>
              <a:t>5. 【德电-用户】移动用户69.8M，是Vodafone的2.2倍</a:t>
            </a:r>
            <a:br/>
            <a:r>
              <a:t>6. 【德电-核心优势】Network Coverage, Network Quality, 5G Deployment, Brand Strength</a:t>
            </a:r>
            <a:br/>
            <a:r>
              <a:t>7. 【O2-收入】收入下降2.4%，1&amp;1迁移至Vodafone导致批发收入损失</a:t>
            </a:r>
            <a:br/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行动建议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5303520" cy="329184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→ 对标德电运营效率，学习其持续35季度EBITDA增长的运营纪律</a:t>
            </a:r>
            <a:br/>
            <a:br/>
            <a:r>
              <a:t>→ 加速5G网络部署，目标缩小与O2的8pp差距</a:t>
            </a:r>
            <a:br/>
            <a:br/>
            <a:r>
              <a:t>→ 利用1&amp;1迁移优势，最大化批发收入贡献</a:t>
            </a:r>
            <a:br/>
            <a:br/>
            <a:r>
              <a:t>→ 差异化竞争: 聚焦网络质量和企业服务，避免与O2/1&amp;1价格战</a:t>
            </a:r>
            <a:br/>
            <a:br/>
            <a:r>
              <a:t>→ 发挥Vodafone集团全球化优势，强化跨国企业客户服务</a:t>
            </a:r>
            <a:br/>
            <a:b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宏观环境洞察 (Look at Macro) - 德国电信行业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MACRO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Gdp Growth Pct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0.8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Inflation Pct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2.1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Fiber Target 2025 Pct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Fiber Target 2030 Pct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洞察发现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5486400" cy="329184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德国GDP增长: 0.8%，经济复苏缓慢</a:t>
            </a:r>
            <a:br/>
            <a:r>
              <a:t>2. 通胀率: 2.1%，成本压力持续</a:t>
            </a:r>
            <a:br/>
            <a:r>
              <a:t>3. 监管环境: Strict (BNetzA)，BNetzA监管严格</a:t>
            </a:r>
            <a:br/>
            <a:r>
              <a:t>4. 千兆战略: 2025年目标50%光纤覆盖，2030年100%</a:t>
            </a:r>
            <a:br/>
            <a:r>
              <a:t>5. 5G频谱分配已完成，网络竞赛进入关键阶段</a:t>
            </a:r>
            <a:br/>
            <a:r>
              <a:t>6. 能源成本高企但趋于稳定，运营商成本压力缓解</a:t>
            </a:r>
            <a:br/>
            <a:r>
              <a:t>7. Open RAN技术兴起，1&amp;1作为先驱推动行业变革</a:t>
            </a:r>
            <a:br/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行动建议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5303520" cy="329184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→ 响应千兆战略，加大光纤网络投资</a:t>
            </a:r>
            <a:br/>
            <a:br/>
            <a:r>
              <a:t>→ 关注Open RAN发展，评估技术路线调整可能性</a:t>
            </a:r>
            <a:br/>
            <a:br/>
            <a:r>
              <a:t>→ 把握AI集成机遇，提升网络智能化运营水平</a:t>
            </a:r>
            <a:br/>
            <a:br/>
            <a:r>
              <a:t>→ 积极参与政策讨论，争取有利监管环境</a:t>
            </a:r>
            <a:br/>
            <a:br/>
            <a:r>
              <a:t>→ 优化能源使用效率，响应可持续发展要求</a:t>
            </a:r>
            <a:br/>
            <a:b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机会洞察 (Look at Opportunities) - Vodafone Germany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Opportunities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Threats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High Potential Opportunit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651760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371600"/>
            <a:ext cx="265176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4630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Key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691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000B"/>
                </a:solidFill>
                <a:latin typeface="Arial"/>
              </a:defRPr>
            </a:pPr>
            <a:r>
              <a:t>5G覆盖差距 7pp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洞察发现 FINDINGS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834640"/>
            <a:ext cx="5486400" cy="329184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9718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1. 【机会1】5G网络加速投资：缩小与德电/O2的覆盖差距是当务之急</a:t>
            </a:r>
            <a:br/>
            <a:r>
              <a:t>2. 【机会2】企业数字化市场：B2B解决方案能力强，应加大投入</a:t>
            </a:r>
            <a:br/>
            <a:r>
              <a:t>3. 【机会3】1&amp;1转型窗口期：抢夺其网络不稳定期的流失用户</a:t>
            </a:r>
            <a:br/>
            <a:r>
              <a:t>4. 【机会4】批发业务扩展：批发收入是增长亮点，持续深耕</a:t>
            </a:r>
            <a:br/>
            <a:r>
              <a:t>5. 【机会5】IoT/物联网：市场增速快，需加速布局</a:t>
            </a:r>
            <a:br/>
            <a:r>
              <a:t>6. 【威胁】德电持续领先，收入差距104%</a:t>
            </a:r>
            <a:br/>
            <a:r>
              <a:t>7. 【威胁】价格竞争加剧，ARPU承压</a:t>
            </a:r>
            <a:br/>
          </a:p>
        </p:txBody>
      </p:sp>
      <p:sp>
        <p:nvSpPr>
          <p:cNvPr id="26" name="TextBox 25"/>
          <p:cNvSpPr txBox="1"/>
          <p:nvPr/>
        </p:nvSpPr>
        <p:spPr>
          <a:xfrm>
            <a:off x="621792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行动建议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40"/>
            <a:ext cx="5303520" cy="3291840"/>
          </a:xfrm>
          <a:prstGeom prst="rect">
            <a:avLst/>
          </a:prstGeom>
          <a:solidFill>
            <a:srgbClr val="FF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97180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→ 优先投资5G网络建设，2025年底达到95%覆盖</a:t>
            </a:r>
            <a:br/>
            <a:br/>
            <a:r>
              <a:t>→ 成立专项团队争取1&amp;1流失用户</a:t>
            </a:r>
            <a:br/>
            <a:br/>
            <a:r>
              <a:t>→ 加大企业客户投入，提供差异化数字解决方案</a:t>
            </a:r>
            <a:br/>
            <a:br/>
            <a:r>
              <a:t>→ 深化批发合作伙伴关系，扩大收入来源</a:t>
            </a:r>
            <a:br/>
            <a:br/>
            <a:r>
              <a:t>→ 建立IoT专业能力，切入智慧城市/工业物联网市场</a:t>
            </a:r>
            <a:br/>
            <a:b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差距分析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GAP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pic>
        <p:nvPicPr>
          <p:cNvPr id="7" name="Picture 6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3152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关键差距与行动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828800"/>
            <a:ext cx="3474720" cy="9144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5G覆盖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-12pp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→ 加速网络建设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834640"/>
            <a:ext cx="3474720" cy="9144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网络质量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-17分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46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→ 优化网络性能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840480"/>
            <a:ext cx="3474720" cy="9144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客户服务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-14分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→ 提升服务水平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4846320"/>
            <a:ext cx="3474720" cy="9144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企业方案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4937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7000B"/>
                </a:solidFill>
                <a:latin typeface="Arial"/>
              </a:defRPr>
            </a:pPr>
            <a:r>
              <a:t>-12分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→ 强化B2B能力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60720"/>
            <a:ext cx="11277295" cy="8229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核心策略: 聚焦5G网络和客户服务两大短板，缩小与领导者差距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AA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10896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Arial"/>
              </a:defRPr>
            </a:pPr>
            <a:r>
              <a:t>三定策略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C8C8"/>
                </a:solidFill>
                <a:latin typeface="Arial"/>
              </a:defRPr>
            </a:pPr>
            <a:r>
              <a:t>Three Decisions Strategy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定策略 (Define Strategy) - Vodafone Germany FY26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77295" cy="118872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Vodafone Germany 战略规划 (FY26 Q2+):</a:t>
            </a:r>
            <a:br/>
            <a:br/>
            <a:r>
              <a:t>1. 【P0-网络追赶】全力加速5G建设，缩小与德电/O2的12-13pp覆盖差距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529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网络追赶战略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全力加速5G网络建设，2025年底实现95%人口覆盖，缩小与德电/O2的差距，提升网络竞争力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5G覆盖率达95% | 网络质量评分提升至80分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运营效率提升战略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对标德电41.9%利润率，通过数字化运营和成本优化，提升EBITDA利润率从36.2%到38%+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EBITDA利润率≥38% | 运营成本降低5%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605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245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企业客户深耕战略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发挥Vodafone集团全球化优势，聚焦企业数字化转型，提供差异化解决方案，避开C端价格战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B2B收入增长8% | 企业客户NPS提升10分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09160"/>
            <a:ext cx="11277295" cy="6400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846320"/>
            <a:ext cx="41148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103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用户价值经营战略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降低流失率从1.05%到1.0%以下，提升用户ARPU，通过融合套餐和增值服务提升用户价值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流失率≤1.0% | ARPU提升5%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6400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532120"/>
            <a:ext cx="41148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5961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新兴业务布局战略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加速IoT/M2M、智慧城市、云服务等新兴业务布局，开辟第二增长曲线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IoT连接数增长30% | 新业务收入占比达15%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定重点工作 (Define Key Tasks) - Vodafone Germany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KEY_TASKS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77295" cy="118872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Vodafone Germany 重点工作清单:</a:t>
            </a:r>
            <a:br/>
            <a:br/>
            <a:r>
              <a:t>【P0 - 必须完成】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529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5G网络加速建设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Q3-Q4新增3000个5G基站，重点覆盖城市核心区和工业园区，年底达95%人口覆盖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新增基站3000+ | 覆盖率95%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运营成本优化项目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启动全面数字化运营转型，优化门店网络，提升线上服务占比，降低单用户服务成本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运营成本降5% | 线上服务占比70%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605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245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企业客户专项攻坚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成立企业数字化解决方案中心，聚焦制造业、汽车、物流等垂直行业，提供定制化服务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签约大客户+20% | 行业解决方案5套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091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8463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103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客户服务升级计划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优化客户服务流程，引入AI客服，提升首次解决率，改善客户满意度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首次解决率85% | NPS提升10分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6400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532120"/>
            <a:ext cx="41148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5961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1&amp;1用户争夺行动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针对1&amp;1网络不稳定期，推出专项迁移优惠，吸引价值用户转网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迁移用户10万+ | 高价值用户占比60%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080760"/>
            <a:ext cx="11277295" cy="6400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6217920"/>
            <a:ext cx="41148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2819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6172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批发业务拓展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深化MVNO合作，拓展批发收入来源，与更多合作伙伴建立长期合作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批发收入增15% | 新增合作伙伴3家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定执行 (Define Execution) - Vodafone Germany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77295" cy="118872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Vodafone Germany 执行计划:</a:t>
            </a:r>
            <a:br/>
            <a:br/>
            <a:r>
              <a:t>【关键里程碑】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529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M1: 5G覆盖90%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2025年9月底前，5G人口覆盖达90%，完成城市核心区全覆盖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5G覆盖90% | 核心城市100%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M2: 企业解决方案中心成立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2025年8月成立企业数字化解决方案中心，配置专业团队50人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团队50人 | 5个行业方案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605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245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M3: 客服AI上线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2025年10月AI客服系统全面上线，覆盖80%常见问题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AI覆盖80%问题 | 客服成本降20%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091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8463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103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M4: 5G覆盖95%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2025年12月底，5G人口覆盖达95%，追平市场第一梯队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5G覆盖95% | 网络评分80+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64008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532120"/>
            <a:ext cx="411480" cy="3657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5961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M5: IoT平台上线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2026年Q1 IoT统一管理平台正式上线运营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平台上线 | 接入10万+设备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080760"/>
            <a:ext cx="11277295" cy="640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6217920"/>
            <a:ext cx="411480" cy="3657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28192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6172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战略执行委员会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成立由CEO领导的战略执行委员会，每两周review关键指标进展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7000B"/>
                </a:solidFill>
                <a:latin typeface="Arial"/>
              </a:defRPr>
            </a:pPr>
            <a:r>
              <a:t>KPI: 双周会议 | KPI追踪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执行时间线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EXECUTION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pic>
        <p:nvPicPr>
          <p:cNvPr id="7" name="Picture 6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治理机制 GOVERNANCE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846320"/>
            <a:ext cx="3657600" cy="1371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365760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983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战略执行委员会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394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成立由CEO领导的战略执行委员会，每两周review关键指标进展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4846320"/>
            <a:ext cx="3657600" cy="1371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4846320"/>
            <a:ext cx="365760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4983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网络投资专项预算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394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设立5G网络建设专项预算€500M，确保资源到位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4846320"/>
            <a:ext cx="3657600" cy="1371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4846320"/>
            <a:ext cx="365760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4983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人才引进计划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53949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招聘5G技术、AI、云计算等领域专业人才100人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KPI仪表盘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KEY PERFORMANCE INDICATORS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63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网络追赶战略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5G覆盖率达95%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37160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0" y="137160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463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463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网络追赶战略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7830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网络质量评分提升至80分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37160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137160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80" y="14630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463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运营效率提升战略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80" y="17830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EBITDA利润率≥38%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0604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60604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697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2697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运营效率提升战略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017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运营成本降低5%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260604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23360" y="260604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0520" y="2697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697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企业客户深耕战略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3017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B2B收入增长8%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89520" y="260604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80" y="26974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2697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企业客户深耕战略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30175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企业客户NPS提升10分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40480"/>
            <a:ext cx="3383280" cy="10972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840480"/>
            <a:ext cx="45720" cy="1097280"/>
          </a:xfrm>
          <a:prstGeom prst="rect">
            <a:avLst/>
          </a:prstGeom>
          <a:solidFill>
            <a:srgbClr val="32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931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649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3931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用户价值经营战略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2519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流失率≤1.0%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3840480"/>
            <a:ext cx="3383280" cy="10972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23360" y="3840480"/>
            <a:ext cx="45720" cy="1097280"/>
          </a:xfrm>
          <a:prstGeom prst="rect">
            <a:avLst/>
          </a:prstGeom>
          <a:solidFill>
            <a:srgbClr val="32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60520" y="3931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649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31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用户价值经营战略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0520" y="42519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ARPU提升5%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0" y="3840480"/>
            <a:ext cx="3383280" cy="10972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589520" y="3840480"/>
            <a:ext cx="45720" cy="1097280"/>
          </a:xfrm>
          <a:prstGeom prst="rect">
            <a:avLst/>
          </a:prstGeom>
          <a:solidFill>
            <a:srgbClr val="32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26680" y="39319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649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3931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新兴业务布局战略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80" y="42519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IoT连接数增长30%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074920"/>
            <a:ext cx="3383280" cy="109728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5074920"/>
            <a:ext cx="45720" cy="1097280"/>
          </a:xfrm>
          <a:prstGeom prst="rect">
            <a:avLst/>
          </a:prstGeom>
          <a:solidFill>
            <a:srgbClr val="32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51663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26496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5166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新兴业务布局战略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54864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新业务收入占比达15%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3360" y="507492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023360" y="507492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60520" y="51663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5166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5G网络加速建设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60520" y="54864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新增基站3000+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89520" y="5074920"/>
            <a:ext cx="3383280" cy="109728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20" y="5074920"/>
            <a:ext cx="45720" cy="10972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26680" y="51663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7000B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38160" y="5166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5G网络加速建设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26680" y="54864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覆盖率95%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总结与建议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7000B"/>
                </a:solidFill>
                <a:latin typeface="Arial"/>
              </a:defRPr>
            </a:pPr>
            <a:r>
              <a:t>SUMMARY &amp;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000B"/>
                </a:solidFill>
                <a:latin typeface="Arial"/>
              </a:defRPr>
            </a:pPr>
            <a:r>
              <a:t>Vodafone Germany 战略重点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486400" cy="640080"/>
          </a:xfrm>
          <a:prstGeom prst="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【P0】网络追赶战略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全力加速5G网络建设，2025年底实现95%人口覆盖，缩小与德电/O2的差距，提升网络竞争力...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5486400" cy="640080"/>
          </a:xfrm>
          <a:prstGeom prst="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【P0】运营效率提升战略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对标德电41.9%利润率，通过数字化运营和成本优化，提升EBITDA利润率从36.2%到38%+...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5486400" cy="640080"/>
          </a:xfrm>
          <a:prstGeom prst="rect">
            <a:avLst/>
          </a:prstGeom>
          <a:solidFill>
            <a:srgbClr val="FF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【P0】企业客户深耕战略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发挥Vodafone集团全球化优势，聚焦企业数字化转型，提供差异化解决方案，避开C端价格战...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7000B"/>
                </a:solidFill>
                <a:latin typeface="Arial"/>
              </a:defRPr>
            </a:pPr>
            <a:r>
              <a:t>关键里程碑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2025-09-30: M1: 5G覆盖90%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240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2025-08-31: M2: 企业解决方案中心成立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2025-10-31: M3: 客服AI上线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2025-12-31: M4: 5G覆盖95%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2026-03-31: M5: IoT平台上线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11277295" cy="173736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下一步行动 NEXT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1. 成立战略执行委员会，CEO挂帅   2. 启动5G网络加速项目，确保Q4达95%覆盖   3. 组建企业解决方案中心   4. 建立双周KPI追踪机制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AA0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  <a:latin typeface="Arial"/>
              </a:defRPr>
            </a:pPr>
            <a: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C8C8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C8C8"/>
                </a:solidFill>
                <a:latin typeface="Arial"/>
              </a:defRPr>
            </a:pPr>
            <a:r>
              <a:t>BLM Strategic Analysis | Generated 2026-02-06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B4B4"/>
                </a:solidFill>
                <a:latin typeface="Arial"/>
              </a:defRPr>
            </a:pPr>
            <a:r>
              <a:t>Powered by BLM Analysis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