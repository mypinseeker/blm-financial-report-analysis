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2026-02-09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看趋势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看市场 Market/Customer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看竞争 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看自己 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看机会 Opportunities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数据质量概览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19 data points tracked, 0 high-confidence (0%)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Penetration.. Industry is mature. (+0.3% YoY (CQ2_2025 -&gt; CQ4_2025))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presents a balanced mix of opportunities and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3 weaknesses, 2 opportunities, and 3 threats. The recommended strategic posture is defensive (ST-dominant).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9 opportunities: 7 grow/invest, 2 acquire skills, 0 harvest, 0 avoid/exit. Focus resources on the 7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看趋势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Look at Trends — PEST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宏观环境分析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行业环境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Market Size: EUR 12.3B (quarterly, CQ4_2025)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Growth Rate: +0.3% YoY (CQ2_2025 -&gt; CQ4_2025)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Profit Trend: Stable (industry EBITDA margin ~36.6%)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Concentration: CR4 = 100% (Deutsche Telekom: 50.3%, Vodafone Germany: 25.1%, Telefonica O2 Germany: 16.2%, 1&amp;1 AG: 8.4%)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Lifecycle Stage: mature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Open RAN for vendor diversification and cost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Key Success Factors: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 and coverage breadth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Convergent (FMC) bundling strategy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B2B/ICT capabilities for enterprise growth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Operational efficiency (OPEX/revenue ratio)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Penetration.. Industry is mature. (+0.3% YoY (CQ2_2025 -&gt; CQ4_2025))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价值转移趋势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Penetration.. Industry is mature. (+0.3% YoY (CQ2_2025 -&gt; CQ4_2025))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看市场/客户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Look at Market/Customer — $APPEALS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市场变化全景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12327.0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客户细分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~13.9M subscribers | Trend: growing | Our Share: ~25%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Premium 5G standalone experiences, Ultra-low latency gaming and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~51.2M subscribers | Trend: stable | Our Share: ~25%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Better value convergent bundles,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~35.1M subscribers | Trend: shrinking | Our Share: ~19%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Affordable unlimited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~17.2M subscribers | Trend: growing | Our Share: ~23%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Social media and streaming-optimized plans, eSIM and digital-first experience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客户需求评估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客户价值迁移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Limited data to assess value migration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看竞争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Look at Competition — Porter's Five Forces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波特五力分析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Telefonica 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竞争对手分析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data_available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Latest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2000.0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1700.0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88.0/100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75.0/100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85.0/100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78.0/100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telefonica_o2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竞争对手分析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data_available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Latest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6200.0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5460.0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95.0/100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82.0/100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85.0/100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92.0/100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deutsche_telekom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One And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竞争对手分析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data_available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Latest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1035.0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915.0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Product Innovation: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Sustainability: 80.0/100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one_and_one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竞争格局总结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新进入者威胁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1&amp;1 AG: 1&amp;1 AG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看自己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Look at Self — BMC + Capability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经营体检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3092.0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2726.0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1120.0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36.2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Arial"/>
              </a:defRPr>
            </a:pPr>
            <a:r>
              <a:t>Health Rating: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Revenue Breakdown: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mobile_service_revenue: {'value': 1520.0, 'share_pct': 49.2}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fixed_service_revenue: {'value': 795.0, 'share_pct': 25.7}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b2b_revenue: {'value': 520.0, 'share_pct': 16.8}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tv_revenue: {'value': 268.0, 'share_pct': 8.7}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wholesale_revenue: {'value': 380.0, 'share_pct': 12.3}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total_revenue: 3092.0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Positions: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66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calendar_quarter: CQ4_2025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operators_count: 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revenue_rank: 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total_revenue: 3092.0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revenue_market_share_pct: 25.1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subscriber_rank: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细分业务分析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1520.0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2.8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32500.0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23200.0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EUR 1520.0M; up 2.8% YoY; ARPU EUR 12.8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细分业务分析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Fixed 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795.0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Fixed 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-1.1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9940.0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EUR 795.0M; growth -1.1% YoY; Fiber subs 1480K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细分业务分析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B2B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520.0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B2B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B2B 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215.0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B2B 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16.8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EUR 520.0M; growth +8.5% YoY; 16.8% of total revenue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细分业务分析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Tv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268.0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Tv 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7740.0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Tv 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4900.0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7740K; FMC 4900K; FMC penetration 49.3%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网络分析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mobile_vendor: Ericsson + Nokia (non-standalone 5G)%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5g_sa_status: Testing, planned 2026%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spectrum_mhz: {'700': 20, '1800': 50, '2100': 40, '2600': 20, '3600': 90}%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5g_base_stations: 18500%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core_vendor: Ericsson%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virtualization_pct: 45%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edge_nodes: 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商业模式画布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组织与人才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优势/劣势/风险暴露点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76)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36.2%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74)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72 (market avg 78)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building own mobile network and migrating users off Vodafone wholesale: Loss of wholesale revenue as 1&amp;1 users migrate to own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综合分析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SWOT Synthesis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 综合分析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3 weaknesses, 2 opportunities, and 3 threats. The recommended strategic posture is defensive (ST-dominant).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看机会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Look at Opportunities — SPAN Matrix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机会定位矩阵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9 opportunities: 7 grow/invest, 2 acquire skills, 0 harvest, 0 avoid/exit. Focus resources on the 7 grow/invest items for maximum strategic impact.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机会优先级排序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9 opportunities: 7 grow/invest, 2 acquire skills, 0 harvest, 0 avoid/exit. Focus resources on the 7 grow/invest items for maximum strategic impact.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机会详情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vodafone_germany'.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82 (market avg 74)' to capture the opportunity of 'National Digital Strategy: Fiber/5G coverage mandates may require vodafone_germany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5G SA enabling network slicing and enterprise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Technology trend: 5G SA enabling network slicing and enterprise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AI/ML for network optimization and customer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Technology trend: AI/ML for network optimization and customer experience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9 opportunities: 7 grow/invest, 2 acquire skills, 0 harvest, 0 avoid/exit. Focus resources on the 7 grow/invest items for maximum strategic impact.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分析总结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Penetration.. Industry is mature. (+0.3% YoY (CQ2_2025 -&gt; CQ4_2025))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presents a balanced mix of opportunities and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3 weaknesses, 2 opportunities, and 3 threats. The recommended strategic posture is defensive (ST-dominant).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9 opportunities: 7 grow/invest, 2 acquire skills, 0 harvest, 0 avoid/exit. Focus resources on the 7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数据溯源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