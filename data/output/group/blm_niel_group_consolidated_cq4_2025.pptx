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Xavier Niel Telecom Empire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4C8DC"/>
                </a:solidFill>
                <a:latin typeface="Arial"/>
              </a:defRPr>
            </a:pPr>
            <a:r>
              <a:t>BLM Strategic Assessment — Consolidated Group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6B4C8"/>
                </a:solidFill>
                <a:latin typeface="Arial"/>
              </a:defRPr>
            </a:pPr>
            <a:r>
              <a:t>CQ4 2025 | 18 Operators | 3 Groups | 15 Countries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8A0BE"/>
                </a:solidFill>
                <a:latin typeface="Arial"/>
              </a:defRPr>
            </a:pPr>
            <a:r>
              <a:t>NJJ Holding  ·  Iliad Group  ·  Millicom / Tigo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Portfolio Overview — 18 Operators Across 15 Countries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366"/>
                </a:solidFill>
                <a:latin typeface="Arial"/>
              </a:defRPr>
            </a:pPr>
            <a:r>
              <a:t>NJJ Holding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Salt (Switzerland)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105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eir (Ireland)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6654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lifecell (Ukraine)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2257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Epic Cyprus (Cyprus)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786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Epic Malta (Malta)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366"/>
                </a:solidFill>
                <a:latin typeface="Arial"/>
              </a:defRPr>
            </a:pPr>
            <a:r>
              <a:t>Iliad Group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83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Free (France)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393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Iliad Italia (Italy)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9534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Play (Poland)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334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366"/>
                </a:solidFill>
                <a:latin typeface="Arial"/>
              </a:defRPr>
            </a:pPr>
            <a:r>
              <a:t>Millicom / Tigo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001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Tigo Guatemala (Guatemala)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560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Tigo Colombia (Colombia)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12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Tigo Honduras (Honduras)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681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Tigo Paraguay (Paraguay)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72414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Tigo Bolivia (Bolivia)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8017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Tigo El Salvador (El Salvador)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36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Tigo Panama (Panama)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Tigo Nicaragua (Nicaragua)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74827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Tigo Ecuador (Ecuador)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700430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• Tigo Uruguay (Uruguay)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18/18 operators analyzed across Europe and Latin America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Financial Comparison — Revenue &amp; EBITDA by Operator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219456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0700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Operator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188720"/>
            <a:ext cx="18288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06039" y="12070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Country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188720"/>
            <a:ext cx="146304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2070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Revenue (M)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13716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2070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EBITDA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1188720"/>
            <a:ext cx="146304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12070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Mobile (K)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1188720"/>
            <a:ext cx="22860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40" y="120700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Diagnosis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536192"/>
            <a:ext cx="219456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154533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Tigo Honduras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1536192"/>
            <a:ext cx="18288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6039" y="154533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Honduras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153619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15453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4,760M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536192"/>
            <a:ext cx="13716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54533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45.0%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153619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8120" y="15453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1536192"/>
            <a:ext cx="22860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54533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Dominant Leader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1810512"/>
            <a:ext cx="21945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18196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Tigo Guatemala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0" y="1810512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06039" y="181965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Guatemala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1051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7720" y="181965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4,350M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1810512"/>
            <a:ext cx="13716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181965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45.1%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0" y="181051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18120" y="181965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1810512"/>
            <a:ext cx="22860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64040" y="18196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Dominant Leader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084832"/>
            <a:ext cx="219456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209397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lifecell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0" y="2084832"/>
            <a:ext cx="18288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6039" y="209397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Ukraine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208483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17720" y="209397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3,800M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2084832"/>
            <a:ext cx="13716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63640" y="209397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55.8%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0" y="208483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8120" y="209397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18320" y="2084832"/>
            <a:ext cx="22860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64040" y="209397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359152"/>
            <a:ext cx="21945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236829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Play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560320" y="2359152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06039" y="2368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Poland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0" y="235915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17720" y="23682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2,730M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0" y="2359152"/>
            <a:ext cx="13716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63640" y="236829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40.3%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72400" y="235915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8120" y="23682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18320" y="2359152"/>
            <a:ext cx="22860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64040" y="23682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2633472"/>
            <a:ext cx="219456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264261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Tigo Colombia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560320" y="2633472"/>
            <a:ext cx="18288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06039" y="26426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Colombia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0" y="263347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17720" y="26426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2,420M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2633472"/>
            <a:ext cx="13716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63640" y="2642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35.1%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72400" y="263347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8120" y="26426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418320" y="2633472"/>
            <a:ext cx="22860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464040" y="264261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2907792"/>
            <a:ext cx="21945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0040" y="291693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Tigo Nicaragua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60320" y="2907792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06039" y="291693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Nicaragua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72000" y="290779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617720" y="29169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2,410M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17920" y="2907792"/>
            <a:ext cx="13716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63640" y="291693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45.0%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772400" y="290779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818120" y="29169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418320" y="2907792"/>
            <a:ext cx="22860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464040" y="291693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Dominant Leader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3182112"/>
            <a:ext cx="219456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0040" y="31912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Tigo Paraguay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560320" y="3182112"/>
            <a:ext cx="18288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606039" y="319125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Paraguay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572000" y="318211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17720" y="319125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2,060M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17920" y="3182112"/>
            <a:ext cx="13716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63640" y="319125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45.1%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772400" y="318211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818120" y="319125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418320" y="3182112"/>
            <a:ext cx="22860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464040" y="31912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Dominant Leader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320" y="3456432"/>
            <a:ext cx="21945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0040" y="346557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Tigo Uruguay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560320" y="3456432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606039" y="346557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Uruguay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572000" y="345643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617720" y="346557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2,010M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17920" y="3456432"/>
            <a:ext cx="13716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63640" y="346557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30.0%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772400" y="345643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818120" y="346557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418320" y="3456432"/>
            <a:ext cx="22860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464040" y="346557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Distant Third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74320" y="3730752"/>
            <a:ext cx="219456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20040" y="373989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Tigo Bolivia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560320" y="3730752"/>
            <a:ext cx="18288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606039" y="37398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Bolivia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572000" y="373075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617720" y="37398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1,890M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217920" y="3730752"/>
            <a:ext cx="13716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263640" y="373989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42.6%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772400" y="373075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18120" y="37398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418320" y="3730752"/>
            <a:ext cx="22860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464040" y="37398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Dominant Leader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74320" y="4005072"/>
            <a:ext cx="21945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20040" y="401421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Free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560320" y="4005072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606039" y="40142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France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572000" y="400507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617720" y="40142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1,740M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217920" y="4005072"/>
            <a:ext cx="13716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263640" y="40142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42.0%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772400" y="400507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818120" y="40142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418320" y="4005072"/>
            <a:ext cx="22860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464040" y="401421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274320" y="4279392"/>
            <a:ext cx="219456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20040" y="428853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Tigo Ecuador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560320" y="4279392"/>
            <a:ext cx="18288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606039" y="428853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Ecuador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572000" y="427939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617720" y="42885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355.0M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217920" y="4279392"/>
            <a:ext cx="13716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63640" y="428853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32.7%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772400" y="427939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818120" y="42885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9418320" y="4279392"/>
            <a:ext cx="22860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464040" y="428853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74320" y="4553712"/>
            <a:ext cx="21945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20040" y="45628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eir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560320" y="4553712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2606039" y="456285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Ireland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572000" y="455371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617720" y="456285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345.0M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217920" y="4553712"/>
            <a:ext cx="13716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263640" y="456285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46.1%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772400" y="455371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818120" y="456285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418320" y="4553712"/>
            <a:ext cx="22860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464040" y="45628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Dominant Leader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74320" y="4828032"/>
            <a:ext cx="219456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20040" y="483717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Iliad Italia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560320" y="4828032"/>
            <a:ext cx="18288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606039" y="483717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Italy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572000" y="482803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617720" y="483717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325.0M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217920" y="4828032"/>
            <a:ext cx="13716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263640" y="483717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33.2%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772400" y="482803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818120" y="483717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418320" y="4828032"/>
            <a:ext cx="22860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464040" y="483717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74320" y="5102352"/>
            <a:ext cx="21945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0040" y="511149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Salt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560320" y="5102352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606039" y="51114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Switzerland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572000" y="510235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617720" y="51114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245.0M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217920" y="5102352"/>
            <a:ext cx="13716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263640" y="511149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58.8%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772400" y="510235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7818120" y="51114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418320" y="5102352"/>
            <a:ext cx="22860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464040" y="51114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Distant Third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274320" y="5376672"/>
            <a:ext cx="219456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320040" y="538581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Tigo Panama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560320" y="5376672"/>
            <a:ext cx="18288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606039" y="53858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Panama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4572000" y="537667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617720" y="5385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161.0M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6217920" y="5376672"/>
            <a:ext cx="13716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263640" y="53858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43.5%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7772400" y="5376672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7818120" y="5385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9418320" y="5376672"/>
            <a:ext cx="228600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9464040" y="538581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Diversified portfolio spanning high-margin European markets and high-growth LATAM markets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NJJ Holding — Group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5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3366"/>
                </a:solidFill>
                <a:latin typeface="Arial"/>
              </a:defRPr>
            </a:pPr>
            <a:r>
              <a:t>Revenue &amp; EBITDA by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Cyprus: Rev 33.0M, Margin 39.4%, Growth ++10.0%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Ireland: Rev 345.0M, Margin 46.1%, Growth ++4.5%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Malta: Rev 10.0M, Margin 30.0%, Growth ++11.1%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973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Switzerland: Rev 245.0M, Margin 58.8%, Growth ++3.4%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157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Ukraine: Rev 3,800M, Margin 55.8%, Growth ++24.6%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3366"/>
                </a:solidFill>
                <a:latin typeface="Arial"/>
              </a:defRPr>
            </a:pPr>
            <a: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Strongest revenue growth: ukraine (+24.6%)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Weakest revenue growth: switzerland (+3.4%)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Total opportunities identified across all markets: 104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114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Common Opportunities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805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national digital strategy: fiber/5g coverage mandates may re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so-1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so-2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NJJ Holding: 5 operators with diversified competitive positions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Iliad Group — Group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3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3366"/>
                </a:solidFill>
                <a:latin typeface="Arial"/>
              </a:defRPr>
            </a:pPr>
            <a:r>
              <a:t>Revenue &amp; EBITDA by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France: Rev 1,740M, Margin 42.0%, Growth ++2.2%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Italy: Rev 325.0M, Margin 33.2%, Growth ++7.6%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Poland: Rev 2,730M, Margin 40.3%, Growth ++3.4%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3366"/>
                </a:solidFill>
                <a:latin typeface="Arial"/>
              </a:defRPr>
            </a:pPr>
            <a: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Strongest revenue growth: italy (+7.6%)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Weakest revenue growth: france (+2.2%)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Total opportunities identified across all markets: 79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114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Common Opportunities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4805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national digital strategy: fiber/5g coverage mandates may re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so-1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so-2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Iliad Group: 3 operators with diversified competitive positions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Millicom / Tigo — Group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10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3366"/>
                </a:solidFill>
                <a:latin typeface="Arial"/>
              </a:defRPr>
            </a:pPr>
            <a:r>
              <a:t>Revenue &amp; EBITDA by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Bolivia: Rev 1,890M, Margin 42.6%, Growth ++6.8%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Colombia: Rev 2,420M, Margin 35.1%, Growth ++7.1%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370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Ecuador: Rev 355.0M, Margin 32.7%, Growth ++6.0%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973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El Salvador: Rev 139.0M, Margin 42.4%, Growth ++6.1%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157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Guatemala: Rev 4,350M, Margin 45.1%, Growth ++7.4%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718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Honduras: Rev 4,760M, Margin 45.0%, Growth ++7.2%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Nicaragua: Rev 2,410M, Margin 45.0%, Growth ++5.2%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8386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Panama: Rev 161.0M, Margin 43.5%, Growth ++8.1%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3989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Paraguay: Rev 2,060M, Margin 45.1%, Growth ++6.2%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9592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Uruguay: Rev 2,010M, Margin 30.0%, Growth ++6.3%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3366"/>
                </a:solidFill>
                <a:latin typeface="Arial"/>
              </a:defRPr>
            </a:pPr>
            <a:r>
              <a:t>Key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Strongest revenue growth: panama (+8.1%)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Weakest revenue growth: nicaragua (+5.2%)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High competitive intensity in: colombia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Total opportunities identified across all markets: 243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14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Common Opportunities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4805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national digital strategy: fiber/5g coverage mandates may re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so-1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so-2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Millicom / Tigo: 10 operators with diversified competitive positions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Salt — Switzerland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Salt Ch is an operationally stable #3 operator lagging significantly behind the top two operators with a 3-5 year window to accelerate Fixed Broadband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245.0M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58.8%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Distant Third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Fixed Broadband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Brand Strength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Customer Service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Close Distribution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Exploit Sunrise Ch Weakness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S:5 / W:7 / O:3 / T:2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Turnaround (WO-dominant)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substitutes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late_growth market (+2.0%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#3 of 3 operators in a medium-intensity market. Strongest force: existing competitors. Key differentiators: Digital Experience: score 85 (market avg 80), Innovation: score 88 (market avg 80).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Salt Ch is an operationally stable #3 operator lagging significantly behind the top two operators wi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eir — Ireland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Eir Ie is an operationally stable #1 operator defending a dominant market position with a 3-5 year window to accelerate Mobile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345.0M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46.1%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Dominant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Mobile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B2B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Price Competitiveness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Deploy 5G SA &amp; Network Slicing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Deploy AI/ML for Network &amp; CX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S:7 / W:3 / O:2 / T:2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Offensive (SO-dominant)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substitutes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late_growth market (+3.4%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#1 of 3 operators in a medium-intensity market. Strongest force: existing competitors. Key differentiators: Distribution: score 88 (market avg 83), Enterprise Solutions: score 85 (market avg 74).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Eir Ie is an operationally stable #1 operator defending a dominant market position with a 3-5 year 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lifecell — Ukraine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Lifecell Ua is an operationally stable #3 operator trapped in a "squeezed middle" with a 3-5 year window to accelerate Mobile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3,800M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55.8%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Mobile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Fixed Broadband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Brand Strength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Close Customer Service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Close Digital Experience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S:3 / W:9 / O:4 / T:8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Cautious (WT-dominant)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War infrastructure damage: 4,300+ base stations destroyed si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Kyivstar EBITDA margin improvement: 60.4% vs 57.3% (+3.1pp)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late_growth market (+6.5% YoY (CQ2_2025 -&gt; CQ4_2025) YoY). 2 policy opportunities vs 2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#3 of 3 operators in a medium-intensity market. Strongest force: existing competitors. Key differentiators: Price Competitiveness: score 82 (market avg 73), Strong EBITDA margin at 55.8%.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Lifecell Ua is an operationally stable #3 operator trapped in a "squeezed middle" with a 3-5 year wi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Epic Cyprus — Cyprus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Epic Cy is an operationally stable #2 operator trapped in a "squeezed middle" with a 3-5 year window to accelerate Mobile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33.0M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39.4%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Mobile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Distribution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Enterprise Solutions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Close Network Coverage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Epic Cyprus revenue growth 10.0% YoY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S:7 / W:6 / O:3 / T:4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Defensive (ST-dominant)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PrimeTel revenue growth 7.7% YoY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existing competitors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late_growth market (+4.8%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#2 of 3 operators in a medium-intensity market. Strongest force: existing competitors. Key differentiators: Digital Experience: score 85 (market avg 73), Innovation: score 88 (market avg 70).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Epic Cy is an operationally stable #2 operator trapped in a "squeezed middle" with a 3-5 year window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Epic Malta — Malta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Epic Mt is an operationally stable #3 operator lagging significantly behind the top two operators with a 3-5 year window to close Brand Strength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10.0M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30.0%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Distant Third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Brand Strength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Customer Service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Distribution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Exploit Go Mt Weakness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S:4 / W:9 / O:3 / T:6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Cautious (WT-dominant)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GO plc revenue growth 6.7% YoY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Melita EBITDA margin improvement: 40.7% vs 38.5% (+2.2pp)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late_growth market (+6.3%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#3 of 3 operators in a medium-intensity market. Strongest force: existing competitors. Key differentiators: Digital Experience: score 78 (market avg 73), Price Competitiveness: score 80 (market avg 71).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Epic Mt is an operationally stable #3 operator lagging significantly behind the top two operators wi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Free — France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Free Fr is an operationally stable #4 operator trapped in a "squeezed middle" with a 3-5 year window to accelerate B2B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1,740M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42.0%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B2B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Customer Service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Distribution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Close Enterprise Solutions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SFR (Altice France) revenue decline 9.4% YoY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S:7 / W:7 / O:5 / T:4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Offensive (SO-dominant)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existing competitors pressure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substitutes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mature market (+1.9%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#4 of 4 operators in a medium-intensity market. Strongest force: existing competitors. Key differentiators: Brand Strength: score 82 (market avg 78), Digital Experience: score 90 (market avg 80).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Free Fr is an operationally stable #4 operator trapped in a "squeezed middle" with a 3-5 year window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Iliad Italia — Italy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Iliad It is an operationally stable #4 operator trapped in a "squeezed middle" with a 3-5 year window to accelerate Mobile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325.0M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33.2%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Mobile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Fixed Broadband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B2B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Close Distribution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Close Enterprise Solutions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S:6 / W:9 / O:5 / T:5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Turnaround (WO-dominant)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Italia / Fastweb revenue growth 60.0% YoY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existing competitors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mature market (-0.7%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#4 of 4 operators in a medium-intensity market. Strongest force: existing competitors. Key differentiators: Customer Service: score 75 (market avg 70), Digital Experience: score 88 (market avg 76).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Iliad It is an operationally stable #4 operator trapped in a "squeezed middle" with a 3-5 year windo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Play — Poland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Play Pl is a financially stable #2 operator trapped in a "squeezed middle" with a 3-5 year window to accelerate Mobile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2,730M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40.3%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healthy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Mobile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Fixed Broadband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B2B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Close Distribution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Close Enterprise Solutions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S:5 / W:5 / O:3 / T:5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Defensive (ST-dominant)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T-Mobile Polska revenue increase 5.2% QoQ (PLN 2,020M vs PLN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Plus (Polkomtel / Cyfrowy Polsat) revenue increase 6.7% QoQ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late_growth market (+5.9%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#2 of 4 operators in a medium-intensity market. Strongest force: existing competitors. Key differentiators: Digital Experience: score 85 (market avg 80), Price Competitiveness: score 82 (market avg 72).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Play Pl is a financially stable #2 operator trapped in a "squeezed middle" with a 3-5 year window 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Tigo Guatemala — Guatemala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Tigo Guatemala is an operationally stable #1 operator defending a dominant market position with a 3-5 year window to accelerate Fixed Broadband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4,350M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45.1%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Dominant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Fixed Broadband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5G Coverage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Tigo Guatemala revenue growth 7.4%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Tigo launches Tigo Money mobile wallet expansion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Tigo Guatemala expands 4G LTE coverage to 5 new...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S:13 / W:3 / O:5 / T:5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Offensive (SO-dominant)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Guatemala revenue growth 5.2% YoY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existing competitors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late_growth market (+2.4%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#1 of 3 operators in a medium-intensity market. Strongest force: existing competitors. Key differentiators: Brand Strength: score 85 (market avg 74), Customer Service: score 72 (market avg 65).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Tigo Guatemala is an operationally stable #1 operator defending a dominant market position with a 3-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Tigo Colombia — Colombia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Tigo Colombia is an operationally stable #2 operator trapped in a "squeezed middle" with a 3-5 year window to accelerate Fixed Broadband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2,420M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35.1%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Fixed Broadband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Price Competitiveness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5G Coverage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Tigo Colombia revenue growth 7.1%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Tigo-UNE launches 5G in Bogota and Medellin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S:9 / W:5 / O:5 / T:7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Defensive (ST-dominant)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WOM Colombia revenue increase 8.7% QoQ (COP 500.0M vs COP 46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WOM Colombia revenue growth 35.1% YoY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late_growth market (+3.0%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#2 of 4 operators in a high-intensity market. Strongest force: existing competitors. Key differentiators: Customer Service: score 68 (market avg 64), Digital Experience: score 72 (market avg 68).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Tigo Colombia is an operationally stable #2 operator trapped in a "squeezed middle" with a 3-5 year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Tigo Honduras — Honduras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Tigo Honduras is an operationally stable #1 operator defending a dominant market position with a 3-5 year window to close 5G Coverage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4,760M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45.0%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Dominant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5G Coverage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Tigo Honduras revenue growth 7.2%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Digicel Honduras revenue decline 5.2%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Tigo Honduras expands HFC network to secondary ...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Deploy 5G SA &amp; Network Slicing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S:12 / W:3 / O:5 / T:5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Offensive (SO-dominant)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Digicel Honduras continues subscriber decline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existing competitors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late_growth market (+2.5%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#1 of 3 operators in a medium-intensity market. Strongest force: existing competitors. Key differentiators: Brand Strength: score 83 (market avg 68), Customer Service: score 70 (market avg 59).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Tigo Honduras is an operationally stable #1 operator defending a dominant market position with a 3-5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Tigo Paraguay — Paraguay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Tigo Paraguay is an operationally stable #1 operator defending a dominant market position with a 3-5 year window to accelerate Fixed Broadband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2,060M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45.1%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Dominant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Fixed Broadband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5G Coverage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Tigo Paraguay revenue growth 6.2%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Tigo Paraguay expands 4G LTE to rural departments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Deploy 5G SA &amp; Network Slicing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S:13 / W:3 / O:4 / T:4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Offensive (SO-dominant)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existing competitors pressure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substitutes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mature market (+1.9%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#1 of 3 operators in a medium-intensity market. Strongest force: existing competitors. Key differentiators: Brand Strength: score 82 (market avg 68), Customer Service: score 70 (market avg 60).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Tigo Paraguay is an operationally stable #1 operator defending a dominant market position with a 3-5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Tigo Bolivia — Bolivia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Tigo Bolivia is an operationally stable #1 operator defending a dominant market position with a 3-5 year window to accelerate Fixed Broadband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1,890M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42.6%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Dominant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Fixed Broadband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5G Coverage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Tigo Bolivia revenue growth 6.8%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Accelerate FTTH Rollout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Deploy 5G SA &amp; Network Slicing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S:12 / W:3 / O:4 / T:4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Offensive (SO-dominant)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existing competitors pressure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substitutes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mature market (+2.0%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#1 of 3 operators in a medium-intensity market. Strongest force: existing competitors. Key differentiators: Brand Strength: score 78 (market avg 63), Customer Service: score 65 (market avg 55).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Tigo Bolivia is an operationally stable #1 operator defending a dominant market position with a 3-5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Tigo El Salvador — El Salvador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Tigo El Salvador is an operationally stable #2 operator trapped in a "squeezed middle" with a 3-5 year window to accelerate Fixed Broadband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139.0M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42.4%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Fixed Broadband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5G Coverage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Tigo El Salvador revenue growth 6.1%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Digicel El Salvador revenue decline 9.5%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Digicel El Salvador EBITDA margin compression: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S:12 / W:3 / O:6 / T:4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Offensive (SO-dominant)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existing competitors pressure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substitutes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mature market (+1.7%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#2 of 3 operators in a medium-intensity market. Strongest force: existing competitors. Key differentiators: Brand Strength: score 75 (market avg 65), Customer Service: score 70 (market avg 60).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Tigo El Salvador is an operationally stable #2 operator trapped in a "squeezed middle" with a 3-5 ye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Tigo Panama — Panama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Tigo Panama is an operationally stable #2 operator trapped in a "squeezed middle" with a 3-5 year window to accelerate Fixed Broadband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161.0M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43.5%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Fixed Broadband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5G Coverage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Tigo Panama revenue growth 8.1%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Digicel Panama revenue decline 7.0%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Accelerate FTTH Rollout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S:12 / W:3 / O:5 / T:5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Offensive (SO-dominant)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Panama revenue growth 5.7% YoY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existing competitors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late_growth market (+2.4%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#2 of 3 operators in a medium-intensity market. Strongest force: existing competitors. Key differentiators: Brand Strength: score 75 (market avg 66), Customer Service: score 70 (market avg 61).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Tigo Panama is an operationally stable #2 operator trapped in a "squeezed middle" with a 3-5 year wi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Tigo Nicaragua — Nicaragua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Tigo Nicaragua is an operationally stable #1 operator defending a dominant market position with a 3-5 year window to accelerate Fixed Broadband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2,410M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45.0%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Dominant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Fixed Broadband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5G Coverage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Tigo Nicaragua revenue growth 5.2%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Tigo Nicaragua expands 4G to Pacific coast cities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Deploy 5G SA &amp; Network Slicing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S:11 / W:3 / O:4 / T:3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Offensive (SO-dominant)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substitutes pressure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buyer power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mature market (+2.0%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#1 of 2 operators in a medium-intensity market. Strongest force: existing competitors. Key differentiators: Brand Strength: score 75 (market avg 70), Customer Service: score 62 (market avg 58).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Tigo Nicaragua is an operationally stable #1 operator defending a dominant market position with a 3-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Tigo Ecuador — Ecuador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Tigo Ecuador is an operationally stable #2 operator trapped in a "squeezed middle" with a 3-5 year window to close Brand Strength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355.0M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32.7%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Squeezed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Brand Strength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Distribution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Enterprise Solutions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Exploit Cnt Ec Weakness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Exploit Claro Ec Weakness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S:4 / W:6 / O:4 / T:4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Turnaround (WO-dominant)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Ecuador revenue growth 5.9% YoY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substitutes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late_growth market (+2.5%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#2 of 3 operators in a medium-intensity market. Strongest force: existing competitors. Key differentiators: Innovation: score 58 (market avg 54), Strong EBITDA margin at 32.7%.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Tigo Ecuador is an operationally stable #2 operator trapped in a "squeezed middle" with a 3-5 year w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Tigo Uruguay — Uruguay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BLM FIVE LOOKS ASSESSMENT | CQ4_2025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5276"/>
                </a:solidFill>
                <a:latin typeface="Arial"/>
              </a:defRPr>
            </a:pPr>
            <a:r>
              <a:t>Tigo Uruguay is an operationally stable #3 operator lagging significantly behind the top two operators with a 3-5 year window to accelerate Fixed Broadband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Key Financial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Revenue: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2,010M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EBITDA Margin: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4505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30.0%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Mobile Subs: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7066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Health: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6265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Rank: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186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  <a:latin typeface="Arial"/>
              </a:defRPr>
            </a:pPr>
            <a:r>
              <a:t>Diagnosis: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747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The Distant Third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Strategic Priorities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Accelerate Fixed Broadband Growth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Brand Strength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[P0] Close Customer Service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[P1] Close Digital Experience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  <a:latin typeface="Arial"/>
              </a:defRPr>
            </a:pPr>
            <a:r>
              <a:t>SWOT 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  <a:latin typeface="Arial"/>
              </a:defRPr>
            </a:pPr>
            <a:r>
              <a:t>S:3 / W:11 / O:4 / T:4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Stance: Turnaround (WO-dominant)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108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Key Risks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832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Regulatory Environment: Compliance requirements and spectrum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Antel deploys 5G in Montevideo and coastal cities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High substitutes pressure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3366"/>
                </a:solidFill>
                <a:latin typeface="Arial"/>
              </a:defRPr>
            </a:pPr>
            <a:r>
              <a:t>Net Assessments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Favorable macro environment in a late_growth market (+2.0% YoY (CQ2_2025 -&gt; CQ4_2025) YoY). 2 policy opportunities vs 1 policy threats.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#3 of 3 operators in a medium-intensity market. Strongest force: existing competitors. Key differentiators: Price Competitiveness: score 72 (market avg 67), Strong EBITDA margin at 30.0%.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Tigo Uruguay is an operationally stable #3 operator lagging significantly behind the top two operato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Cross-Group 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  <a:latin typeface="Arial"/>
              </a:defRPr>
            </a:pPr>
            <a:r>
              <a:t>SYNERGIES &amp; PRIORITIES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366"/>
                </a:solidFill>
                <a:latin typeface="Arial"/>
              </a:defRPr>
            </a:pPr>
            <a:r>
              <a:t>Synergies &amp; Resource Sharing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Procurement synergies: Joint equipment &amp; terminal purchasing across 18 operators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Shared platforms: Unified BSS/OSS to reduce duplicate IT investment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Best practice transfer: Iliad low-cost model to NJJ &amp; Millicom markets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Digital services: Expand Tigo Money &amp; enterprise cloud across all groups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Roaming &amp; interconnect: Preferential cross-group rates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3366"/>
                </a:solidFill>
                <a:latin typeface="Arial"/>
              </a:defRPr>
            </a:pPr>
            <a:r>
              <a:t>Priority Ranking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P0: Stabilize Millicom LATAM EBITDA margins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P0: Accelerate Iliad Italia growth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P0: lifecell/Datagroup-Volia integration in Ukraine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P1: 5G coverage across NJJ European markets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P1: Millicom B2B &amp; digital services expansion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P2: Cross-group procurement synergies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P2: Unified BSS/OSS platform migration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Xavier Niel's 18-operator portfolio offers significant untapped synergies across procurement, technology, and best practices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33333"/>
                </a:solidFill>
                <a:latin typeface="Arial"/>
              </a:defRPr>
            </a:pPr>
            <a:r>
              <a:t>Risk Matrix — Cross-Group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54191040000"/>
            <a:ext cx="301752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Risk 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254191040000"/>
            <a:ext cx="164592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3898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254191040000"/>
            <a:ext cx="54864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13898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71919436800"/>
            <a:ext cx="3017520" cy="320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37360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Regulatory Risk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571919436800"/>
            <a:ext cx="1645920" cy="320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17373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High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0" y="1571919436800"/>
            <a:ext cx="5486400" cy="320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17373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Spectrum auctions, licensing changes across 15 countries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864564012800"/>
            <a:ext cx="3017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057400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Currency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1864564012800"/>
            <a:ext cx="16459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2057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High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1864564012800"/>
            <a:ext cx="5486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2057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LATAM &amp; UAH volatility impacts consolidated results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157208588800"/>
            <a:ext cx="3017520" cy="320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377440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Geopolitical Risk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2157208588800"/>
            <a:ext cx="1645920" cy="320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23774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Medium-High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2157208588800"/>
            <a:ext cx="5486400" cy="320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23774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Ukraine conflict, LATAM political instability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449853164800"/>
            <a:ext cx="3017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2697480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Competition Risk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2449853164800"/>
            <a:ext cx="16459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0332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Medium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2449853164800"/>
            <a:ext cx="5486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2120" y="26974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Price wars in France, Italy; OTT substitution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742497740800"/>
            <a:ext cx="3017520" cy="320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017520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Technology Risk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0" y="2742497740800"/>
            <a:ext cx="1645920" cy="320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03320" y="30175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Medium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0" y="2742497740800"/>
            <a:ext cx="5486400" cy="320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32120" y="30175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5G ROI uncertainty, network upgrade costs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035142316800"/>
            <a:ext cx="3017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3337560"/>
            <a:ext cx="2926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Financing Risk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0" y="3035142316800"/>
            <a:ext cx="16459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03320" y="33375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Medium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035142316800"/>
            <a:ext cx="5486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32120" y="33375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Arial"/>
              </a:defRPr>
            </a:pPr>
            <a:r>
              <a:t>High-rate refinancing pressure on leveraged entities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Diversified geographic footprint mitigates single-market risk but introduces currency and regulatory complexity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4C8DC"/>
                </a:solidFill>
                <a:latin typeface="Arial"/>
              </a:defRPr>
            </a:pPr>
            <a:r>
              <a:t>BLM Strategic Analysis — Xavier Niel Telecom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8A0BE"/>
                </a:solidFill>
                <a:latin typeface="Arial"/>
              </a:defRPr>
            </a:pPr>
            <a:r>
              <a:t>Generated by BLM Analysis Engine | Data sources: Public filings, regulatory reports, industry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