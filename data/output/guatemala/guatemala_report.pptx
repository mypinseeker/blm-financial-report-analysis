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Default BLM Strategic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(Business Leadership Model) Five Looks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Tigo Guatemala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Guatemala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CQ4_2025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366"/>
                </a:solidFill>
                <a:latin typeface="Arial"/>
              </a:defRPr>
            </a:pPr>
            <a:r>
              <a:t>2026-02-14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Market/Customer ($APPEALS) | 03 Competition (Porter) | 04 Self (BMC) | SWOT Synthesis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389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findings and recommendations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0116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848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0299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24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3649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3101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661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Pricing comparison — mobile, fixed &amp; convergence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005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50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57200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451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BMC + Capability — internal assessment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28523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303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486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Strengths, Weaknesses, Opportunities, Threats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925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704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61264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6492240"/>
            <a:ext cx="457200" cy="457200"/>
          </a:xfrm>
          <a:prstGeom prst="ellipse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5105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Arial"/>
              </a:defRPr>
            </a:pPr>
            <a:r>
              <a:t>Summary &amp; Provenance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6766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Conclusions and data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Quality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Data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Medium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37160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Low/Estimated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Arial"/>
              </a:defRPr>
            </a:pPr>
            <a:r>
              <a:t>Unique Sources: 0</a:t>
            </a:r>
            <a:br/>
            <a:r>
              <a:t>Data Conflicts: 0</a:t>
            </a:r>
            <a:br/>
            <a:r>
              <a:t>Coverage: Partial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20 data points tracked, 0 high-confidence (0%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Trends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Inflation Industry is in late growth phase. (+2.4% YoY (CQ2_2025 -&gt; CQ4_2025)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Market/Customer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116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Guatemala telecom market totals GTQ 8,530M in quarterly revenue; competitive strengths in Availability, Social/Brand; Market outlook is favorable with more opportunities than threats.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2651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Tigo Guatemala leads with 51% revenue share. Target operator holds 51% share. Strongest competitive force: Existing Competitors.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3 operators in market; revenue GTQ 4,350M; EBITDA margin 45.1%; stable but facing challenges; key strength: Brand Strength; key challenge: 5G coverage gap at only 0.0%; Management outlook: Expect continued mid-single-digit mobile service revenue growth driven by data monetization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13 strengths, 3 weaknesses, 5 opportunities, and 5 threats. The recommended strategic posture is offensive (SO-dominant).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572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24 opportunities: 14 grow/invest, 3 acquire skills, 4 harvest, 3 avoid/exit. Focus resources on the 14 grow/invest items for maximum strategic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Looks analysis completed — see details in following sections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pic>
        <p:nvPicPr>
          <p:cNvPr id="6" name="Picture 5" descr="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Inflation.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GTQ 8.5B (quarterly, CQ4_2025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+2.4% YoY (CQ2_2025 -&gt; CQ4_2025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CR4 = 100% (Tigo Guatemala: 51.0%, Claro Guatemala: 35.8%, Movistar Guatemala: 13.2%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late_growth</a:t>
            </a:r>
          </a:p>
        </p:txBody>
      </p:sp>
      <p:pic>
        <p:nvPicPr>
          <p:cNvPr id="18" name="Picture 17" descr="pest_factor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26517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New Business Models: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FWA (Fixed Wireless Access) as fiber alternative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Network-as-a-Service for enterprise verticals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Wholesale/MVNO partnerships for coverage monetization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Technology Revolution: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5G SA enabling network slicing and enterprise services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AI/ML for network optimization and customer experience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Open RAN for vendor diversification and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Inflation Industry is in late growth phase. (+2.4% YoY (CQ2_2025 -&gt; CQ4_2025)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Value shifting from voice/SMS to data and digital services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B2B/ICT growing faster than consumer segment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Fiber displacing copper and cable broadband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Macro environment: Favorable. Key opportunities: Regulatory Environment, National Digital Strategy. Key risks: Regulatory Environment, Inflation Industry is in late growth phase. (+2.4% YoY (CQ2_2025 -&gt; CQ4_2025)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Change Panorama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Revenue (€M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8,530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 (K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22,700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Broadband Subs (K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1,058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</a:t>
            </a:r>
          </a:p>
        </p:txBody>
      </p:sp>
      <p:pic>
        <p:nvPicPr>
          <p:cNvPr id="18" name="Picture 17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743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Market Changes: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017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Guatemala revenue growth 7.4%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Claro Guatemala revenue growth 5.2% YoY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launches Tigo Money mobile wallet expansion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Guatemala expands 4G LTE coverage to 5 new departments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Guatemala telecom market totals GTQ 8,530M in quarterly revenue; competitive strengths in Availability,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Prepaid Mass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Affordable mobile data in rural areas, Spanish + indigenous language customer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4884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Consumer Postpaid Urban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Faster 4G/LTE speeds, Convergent home+mobile bundles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17520"/>
            <a:ext cx="5943600" cy="7772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Enterprise &amp; SME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Trend: stable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Needs: Cloud connectivity solutions, Reliable business broadband</a:t>
            </a:r>
          </a:p>
        </p:txBody>
      </p:sp>
      <p:pic>
        <p:nvPicPr>
          <p:cNvPr id="18" name="Picture 17" descr="appeal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188720"/>
            <a:ext cx="5029200" cy="43891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Guatemala telecom market totals GTQ 8,530M in quarterly revenue; competitive strengths in Availability,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CUSTOMER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pic>
        <p:nvPicPr>
          <p:cNvPr id="6" name="Picture 5" descr="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Guatemala telecom market totals GTQ 8,530M in quarterly revenue; competitive strengths in Availability,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Customer Value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Arial"/>
              </a:defRPr>
            </a:pPr>
            <a:r>
              <a:t>Value migration trending upward: customers willing to pay more for premium connectivity and convergent bundles. Focus on upselling and cross-selling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Opportunities: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Guatemala revenue growth 7.4% YoY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launches Tigo Money mobile wallet expansion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Tigo Guatemala expands 4G LTE coverage to 5 new departments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Threats: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474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Claro Guatemala revenue growth 5.2% YoY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Guatemala telecom market totals GTQ 8,530M in quarterly revenue; competitive strengths in Availability, Social/Brand; Market outlook is favorable with more opportunities than threats.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&amp; Convergence Pricing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DSL / CABLE / FIBER / FMC BUNDLES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and convergence pricing 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porter_fo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4008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Overall Intensity: MEDIUM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Tigo Guatemala leads with 51% revenue share. Target operator holds 51% share. Strongest competitive force: Existing Competitors.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Claro Gt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€3,050M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+5.5%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€1,070M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35.1%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16.1%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Revenue-led profitable growth; subscriber acquisition focus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Claro Gt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Competitor Analysis: Movistar Gt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€1,130M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-3.4%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€325M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28.8%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13.3%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0" y="2560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8346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60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55 (market avg 65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50 (market avg 62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60 (market avg 76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Strategy: Defensive cost restructuring; ARPU-led value strategy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Competitor analysis: Movistar Gt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Landscape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comp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In a 3-player market with medium competition intensity, Tigo Guatemala leads with 51% revenue share. Target operator holds 51% share. Strongest competitive force: Existing Competitors.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New Entrants Threat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MARKET ENTRY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Arial"/>
              </a:defRPr>
            </a:pPr>
            <a:r>
              <a:t>• Entry barriers: High barriers: spectrum licensing, massive capex for network build, regulatory approvals, established brand loyalty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New entrants threat level: low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€4,350M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+7.41%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€1,960M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057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+7.7% YoY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45.1%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15.4%</a:t>
            </a:r>
          </a:p>
        </p:txBody>
      </p:sp>
      <p:pic>
        <p:nvPicPr>
          <p:cNvPr id="20" name="Picture 19" descr="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834640"/>
          </a:xfrm>
          <a:prstGeom prst="rect">
            <a:avLst/>
          </a:prstGeom>
        </p:spPr>
      </p:pic>
      <p:pic>
        <p:nvPicPr>
          <p:cNvPr id="21" name="Picture 20" descr="revenue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51760"/>
            <a:ext cx="5760720" cy="28346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3 operators in market; revenue GTQ 4,350M; EBITDA margin 45.1%; stable but facing challenges; key strength: Brand Strength; key challenge: 5G coverage gap at only 0.0%; Management outlook: Expect continued mid-single-digit mobile service revenue growth driven by data monetization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Composition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REVENUE MIX OVER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24</a:t>
            </a:r>
          </a:p>
        </p:txBody>
      </p:sp>
      <p:pic>
        <p:nvPicPr>
          <p:cNvPr id="6" name="Picture 5" descr="revenue_composition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Growing: Mobile, Fixed Broadband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COMPETITIVE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revenu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760720" cy="4389120"/>
          </a:xfrm>
          <a:prstGeom prst="rect">
            <a:avLst/>
          </a:prstGeom>
        </p:spPr>
      </p:pic>
      <p:pic>
        <p:nvPicPr>
          <p:cNvPr id="7" name="Picture 6" descr="margin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Revenue and margin benchmarking across operators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€2,900M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7.4%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€11,250M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Postpaid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€1,700M</a:t>
            </a:r>
          </a:p>
        </p:txBody>
      </p:sp>
      <p:pic>
        <p:nvPicPr>
          <p:cNvPr id="18" name="Picture 17" descr="segment_0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Expect continued mid-single-digit mobile service revenue growth driven by data monetization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Tigo launches Tigo Money mobile wallet expansion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Mobile service revenue at 2,900M; up 7.4% YoY; ARPU 25.8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Fixed Broadband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€980M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Service 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8.9%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€660M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18" name="Picture 17" descr="segment_1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HFC expansion driving fixed broadband subscriber growth of 20K per quarter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increased 2.1% QoQ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3.1% QoQ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Fixed service revenue 980.0M; growth +8.9% YoY; Fiber subs 110K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B2B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€250M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 Pct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Customers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Share Of Revenue Pct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5.7%</a:t>
            </a:r>
          </a:p>
        </p:txBody>
      </p:sp>
      <p:pic>
        <p:nvPicPr>
          <p:cNvPr id="18" name="Picture 17" descr="segment_2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560320"/>
            <a:ext cx="5486400" cy="29260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segment growing with cloud and connectivity solutions for SMEs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revenue 250.0M; 5.7% of total revenue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Segment Analysis: TV/Convergence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SEGMENT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Total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€450M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Net Adds 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Fmc Total 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Health: STABLE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subscribers: improving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fmc_subscribers: stable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subscribers increased 2.3% QoQ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TV subscribers 450K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30</a:t>
            </a:r>
          </a:p>
        </p:txBody>
      </p:sp>
      <p:pic>
        <p:nvPicPr>
          <p:cNvPr id="6" name="Picture 5" descr="coverage_gau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Technology Mix: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Mobile Vendor: Ericsson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Spectrum Mhz: 130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Core Vendor: Ericsson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Investment Direction: stable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Network infrastructure and coverage assessment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Business Model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BMC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pic>
        <p:nvPicPr>
          <p:cNvPr id="6" name="Picture 5" descr="bmc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480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Business model canvas overview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Organization &amp;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PEOPLE &amp; CULTURE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3,350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 Suite 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Tenure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4.4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Leaders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3366"/>
                </a:solidFill>
                <a:latin typeface="Arial"/>
              </a:defRPr>
            </a:pPr>
            <a:r>
              <a:t>['Rodrigo Aguilar (CEO)', 'Carlos Martinez (CFO)']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Organization Culture: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7180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Stable leadership team (avg tenure &gt;3 years); Growth-oriented strategic posture; Market-leading confidence; strong commercial execution; Millicom operational standards; focus on digital inclusion and financial services (Tigo Money).</a:t>
            </a:r>
          </a:p>
        </p:txBody>
      </p:sp>
      <p:pic>
        <p:nvPicPr>
          <p:cNvPr id="20" name="Picture 19" descr="talent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651760"/>
            <a:ext cx="5486400" cy="2743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7200" y="4572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Leadership Changes: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Rodrigo Aguilar: (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Carlos Martinez: (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Organization and talent assessment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Brand Strength: score 85 (market avg 74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Service: score 72 (market avg 65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Digital Experience: score 70 (market avg 62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Distribution: score 88 (market avg 76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Enterprise Solutions: score 65 (market avg 57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Innovation: score 68 (market avg 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coverage gap at only 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64592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Dependence on prepaid revenue in price-sensitive market: Vulnerable to aggressive pricing from competitors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network aging requires DOCSIS upgrade investment: Capex pressure to maintain broadband competitiveness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Ranked #1 of 3 operators in market; revenue GTQ 4,350M; EBITDA margin 45.1%; stable but facing challenges; key strength: Brand Strength; key challenge: 5G coverage gap at only 0.0%; Management outlook: Expect continued mid-single-digit mobile service revenue growth driven by data monetization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pic>
        <p:nvPicPr>
          <p:cNvPr id="6" name="Picture 5" descr="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SO: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2801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Leverage 'Brand Strength: score 85 (market avg 74)' to ca...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20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682B4"/>
                </a:solidFill>
                <a:latin typeface="Arial"/>
              </a:defRPr>
            </a:pPr>
            <a:r>
              <a:t>WO: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Address weakness '5G coverage gap at only 0.0%' to unlock...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60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ST: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560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Use strength 'Brand Strength: score 85 (market avg 74)' t...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WT: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2004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Arial"/>
              </a:defRPr>
            </a:pPr>
            <a:r>
              <a:t>Mitigate weakness '5G coverage gap at only 0.0%' and defe...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SWOT analysis identifies 13 strengths, 3 weaknesses, 5 opportunities, and 5 threats. The recommended strategic posture is offensive (SO-dominant).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Opportunity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OPPORTUNITY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pic>
        <p:nvPicPr>
          <p:cNvPr id="6" name="Picture 5" descr="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5156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24 opportunities: 14 grow/invest, 3 acquire skills, 4 harvest, 3 avoid/exit. Focus resources on the 14 grow/invest items for maximum strategic impact.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priorit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0972800" cy="4114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24 opportunities: 14 grow/invest, 3 acquire skills, 4 harvest, 3 avoid/exit. Focus resources on the 14 grow/invest items for maximum strategic impact.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89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325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00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8288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'Brand Strength: score 85 (market avg 74)' to capture the opportunity of 'Regulatory Environment: Compliance requirements and spectrum policies directly affect tigo_guatemala'.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42316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377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65176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'Customer Service: score 72 (market avg 65)' to capture the opportunity of 'National Digital Strategy: Fiber/5G coverage mandates may require tigo_guatemala investment but also enable subsidy access'.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47472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93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429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033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'Digital Experience: score 70 (market avg 62)' to capture the opportunity of 'Tigo Guatemala revenue growth 7.4% YoY'.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45720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44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3366"/>
                </a:solidFill>
                <a:latin typeface="Arial"/>
              </a:defRPr>
            </a:pPr>
            <a:r>
              <a:t>SO-4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754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Market: N/A | Window: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83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Arial"/>
              </a:defRPr>
            </a:pPr>
            <a:r>
              <a:t>Leverage 'Distribution: score 88 (market avg 76)' to capture the opportunity of 'Tigo launches Tigo Money mobile wallet expansion'.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SPAN matrix positions 24 opportunities: 14 grow/invest, 3 acquire skills, 4 harvest, 3 avoid/exit. Focus resources on the 14 grow/invest items for maximum strategic impact.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Three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Strategy — Key Tasks — Execution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1: Define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OFFENSIVE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682B4"/>
                </a:solidFill>
                <a:latin typeface="Arial"/>
              </a:defRPr>
            </a:pPr>
            <a:r>
              <a:t>As The Dominant Leader: defend leadership through innovation and ecosystem lock-in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Growth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Defend leadership through ecosystem expansion in Mobile, Fixed Broadband, B2B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Maintain #1 revenue share</a:t>
            </a:r>
            <a:br/>
            <a:r>
              <a:t>- Grow Mobile, Fixed Broadband, B2B by 5-8% YoY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73552" y="1993392"/>
            <a:ext cx="41148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012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Competitive 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Capitalize on competitive strengths to gain market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Outgrow competitors in key segments</a:t>
            </a:r>
            <a:br/>
            <a:r>
              <a:t>- Increase service differentiation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920240"/>
            <a:ext cx="2743200" cy="32004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Transformation Strategy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Accelerate fiber transition — converged network as competitive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Fiber homepass coverage +20%</a:t>
            </a:r>
            <a:br/>
            <a:r>
              <a:t>- FMC bundle attach rate 50%+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1920240"/>
            <a:ext cx="2743200" cy="32004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34272" y="1993392"/>
            <a:ext cx="41148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70848" y="200253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Customer Strategy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Arial"/>
              </a:defRPr>
            </a:pPr>
            <a:r>
              <a:t>Optimize value extraction in stable segments: Wholesale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Arial"/>
              </a:defRPr>
            </a:pPr>
            <a:r>
              <a:t>- Upsell rate +10% in Wholesale</a:t>
            </a:r>
            <a:br/>
            <a:r>
              <a:t>- Cross-sell convergence bundles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As The Dominant Leader, the strategic posture is Offensive. As The Dominant Leader: defend leadership through innovation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2: Define Key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2 P0 (IMMEDIATE), 3 P1 (1-2 YEARS), 1 P2 (3-5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179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179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4447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Mobile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691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Mobile at €2,900M showing strong momentum — invest to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508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Mobile revenue +10% YoY | Market share 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11338560" cy="54864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103120"/>
            <a:ext cx="41148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11226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1122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0391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Accelerate Fixed Broadband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22860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Fixed Broadband at €980M showing strong momentum — invest to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03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Fixed Broadband revenue +10% YoY | Market share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6032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69748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270662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7066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980B9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Network Quality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880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network reliability and customer experience scores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Network quality index improvement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29184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330098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30098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AE60"/>
                </a:solidFill>
                <a:latin typeface="Arial"/>
              </a:defRPr>
            </a:pPr>
            <a:r>
              <a:t>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278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Opportunity Portfolio Execution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14 grow/invest opportunities identified — establish execution office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Launch 3+ priority initiatives | Pipeline contribution tracking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49040"/>
            <a:ext cx="11338560" cy="548640"/>
          </a:xfrm>
          <a:prstGeom prst="rect">
            <a:avLst/>
          </a:prstGeom>
          <a:solidFill>
            <a:srgbClr val="FE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886200"/>
            <a:ext cx="41148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389534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9534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E44AD"/>
                </a:solidFill>
                <a:latin typeface="Arial"/>
              </a:defRPr>
            </a:pPr>
            <a:r>
              <a:t>Customer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03120" y="3822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Customer Experience Enhancement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40690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Improve digital touchpoints and service resolution to boost NPS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38862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NPS +5 points | First-call resolution rate 80%+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343400"/>
            <a:ext cx="11338560" cy="548640"/>
          </a:xfrm>
          <a:prstGeom prst="rect">
            <a:avLst/>
          </a:prstGeom>
          <a:solidFill>
            <a:srgbClr val="EA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480560"/>
            <a:ext cx="41148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4048" y="4489704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48970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67E22"/>
                </a:solidFill>
                <a:latin typeface="Arial"/>
              </a:defRPr>
            </a:pPr>
            <a:r>
              <a:t>Efficiency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4416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C3E50"/>
                </a:solidFill>
                <a:latin typeface="Arial"/>
              </a:defRPr>
            </a:pPr>
            <a:r>
              <a:t>Operational Efficiency &amp; Automation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03120" y="46634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8C8D"/>
                </a:solidFill>
                <a:latin typeface="Arial"/>
              </a:defRPr>
            </a:pPr>
            <a:r>
              <a:t>EBITDA margin 45.1% — maintain through smart automation and resource reallocatio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Process automation 30%+ | Cost-to-serve reduction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6 critical tasks: 2 P0 (immediate), 3 P1 (1-2 years), 1 P2 (3-5 years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Decision 3: Define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QUARTERLY ROADMAP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pic>
        <p:nvPicPr>
          <p:cNvPr id="6" name="Picture 5" descr="execution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430000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Monthly Progress Review (Monthly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Quarterly Strategic Checkpoint (Quarterly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Arial"/>
              </a:defRPr>
            </a:pPr>
            <a:r>
              <a:t>- Mid-Year Strategic Adjustment (Semi-annual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Arial"/>
              </a:defRPr>
            </a:pPr>
            <a:r>
              <a:t>Strategic Traps to Avoid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392B"/>
                </a:solidFill>
                <a:latin typeface="Arial"/>
              </a:defRPr>
            </a:pPr>
            <a:r>
              <a:t>x Delay core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Arial"/>
              </a:defRPr>
            </a:pPr>
            <a:r>
              <a:t>Key Risks &amp; 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235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Resource constraints delay P0 initiatives -- Ring-fence P0 budgets; establish escalation path for blockers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978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66C73"/>
                </a:solidFill>
                <a:latin typeface="Arial"/>
              </a:defRPr>
            </a:pPr>
            <a:r>
              <a:t>! Macro-economic slowdown reduces consumer spending -- Prepare value-tier offerings; shift mix toward B2B resilience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 with discipline: monthly reviews, quarterly checkpoints, annual refresh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Analysis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01 Trends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984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Macro environment: Favorable. Key opportunities: Regulatory Environment, National Digital Strategy. Key risks: Regulatory Environment, Inflation Industry is in late growth phase. (+2.4% YoY (CQ2_2025 -&gt; CQ4_2025)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385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02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93852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Guatemala telecom market totals GTQ 8,530M in quarterly revenue; competitive strengths in Availability, Social/Brand; Market outlook is favorable with more opportunities than threats.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786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03 Competition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57860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In a 3-player market with medium competition intensity, Tigo Guatemala leads with 51% revenue share. Target operator holds 51% share. Strongest competitive force: Existing Competitors.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1868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04 Self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1868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Ranked #1 of 3 operators in market; revenue GTQ 4,350M; EBITDA margin 45.1%; stable but facing challenges; key strength: Brand Strength; key challenge: 5G coverage gap at only 0.0%; Management outlook: Expect continued mid-single-digit mobile service revenue growth driven by data monetization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4048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587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SWOT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85876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SWOT analysis identifies 13 strengths, 3 weaknesses, 5 opportunities, and 5 threats. The recommended strategic posture is offensive (SO-dominant).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73152" cy="5486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9884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05 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98848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SPAN matrix positions 24 opportunities: 14 grow/invest, 3 acquire skills, 4 harvest, 3 avoid/exit. Focus resources on the 14 grow/invest items for maximum strategic impact.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Complete Five Looks analysis — see opportunity priorities for next steps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  <a:latin typeface="Arial"/>
              </a:defRPr>
            </a:pPr>
            <a:r>
              <a:t>SOURCES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  <a:latin typeface="Arial"/>
              </a:defRPr>
            </a:pPr>
            <a:r>
              <a:t>No provenance data recorded for this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points are traceable to original sources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BLM Five Looks Strategic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