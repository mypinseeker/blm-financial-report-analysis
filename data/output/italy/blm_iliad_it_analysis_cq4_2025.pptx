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Iliad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Italy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Mixed. Key opportunities: Regulatory Environment, National Digital Strategy. Key risks: Regulatory Environment, Fiber Broadband Penetration Industry is mature. (-0.7%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Italy telecom market totals EUR 5,755M in quarterly revenue; competitive strengths in Social/Brand; gaps in Assurances;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TIM (Telecom Italia) leads with 43% revenue share. Target operator holds 6%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#4 of 4 operators in market; revenue EUR 325.0M; EBITDA margin 33.2%; stable but facing challenges; key strength: Customer Service; key challenge: Distribution; Management outlook: FY2024: Revenue EUR 1,145M (+8%), EBITDAaL EUR 308M (+24.5%, margin 26.9%). Leader in net adds 7 consecutive years. 11.64M mobile subs. Mobile-first, expanding into fixed.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6 strengths, 9 weaknesses, 5 opportunities, and 5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28 opportunities: 0 grow/invest, 8 acquire skills, 8 harvest, 12 avoid/exit. Focus resources on the 0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Mixed.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5.8B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-0.7%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(TIM (Telecom Italia): 43.4%, Vodafone Italia / Fastweb: 30.6%, WindTre: 20.3%, Iliad Italia: 5.6%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mature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Mixed. Key opportunities: Regulatory Environment, National Digital Strategy. Key risks: Regulatory Environment, Fiber Broadband Penetration Industry is mature. (-0.7%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Mixed. Key opportunities: Regulatory Environment, National Digital Strategy. Key risks: Regulatory Environment, Fiber Broadband Penetration Industry is mature. (-0.7%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5,755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77,700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16,430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Vodafone Italia / Fastweb revenue growth 60.0%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Iliad Italia revenue growth 7.6%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Iliad Italia EBITDA margin improvement: 33.2% vs 30.4% (+2.8pp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CK Hutchison explores sale of European telecom assets including WindTre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Italy telecom market totals EUR 5,755M in quarterly revenue; competitive strengths in Social/Brand;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 Convergent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Reliable fiber broadband across all regions (North/South gap), Seamless fixed-mobile convergent bundles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Value-Seeking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unlimited mobile data plans, Simple, transparent pricing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Digital-First / Young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Ultra-competitive SIM-only plans with large data, eSIM and digital-first onboarding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Public Sector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Digitalization of Italian SMEs (vast majority of businesses), Cloud migration and cybersecurity services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Italy telecom market totals EUR 5,755M in quarterly revenue; competitive strengths in Social/Brand;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Italy telecom market totals EUR 5,755M in quarterly revenue; competitive strengths in Social/Brand;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Iliad Italia revenue growth 7.6%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Iliad Italia EBITDA margin improvement: 33.2% vs 30.4% (+2.8pp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CK Hutchison explores sale of European telecom assets including WindTre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Vodafone Italia / Fastweb revenue growth 60.0%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Italy telecom market totals EUR 5,755M in quarterly revenue; competitive strengths in Social/Brand; gaps in Assurances;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TIM (Telecom Italia) leads with 43% revenue share. Target operator holds 6%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Vodafone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€1,760M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+64.2%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36.9%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21.0%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75 (market avg 61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60 (market avg 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Vodafone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Windtre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€1,170M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€430M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36.8%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18.8%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78 (market avg 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68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65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70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55 (market avg 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Windtre 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Tim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€2,500M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14.2%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82 (market avg 77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88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90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92 (market avg 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55 (market avg 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Margin optimization / cost transformation; ARPU-led value strategy; strong B2B/enterprise push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Tim 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4-player market with medium competition intensity, TIM (Telecom Italia) leads with 43% revenue share. Target operator holds 6% share. Strongest competitive force: Existing Competitors.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Iliad It vs Tim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Tim 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€325M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+7.62%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€108M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+20.0%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33.2%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23.1%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+10.0% | Accelerating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#4 of 4 operators in market; revenue EUR 325.0M; EBITDA margin 33.2%; stable but facing challenges; key strength: Customer Service; key challenge: Distribution; Management outlook: FY2024: Revenue EUR 1,145M (+8%), EBITDAaL EUR 308M (+24.5%, margin 26.9%). Leader in net adds 7 consecutive years. 11.64M mobile subs. Mobile-first, expanding into fixed.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TIM (Telecom Italia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43.4%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-7.0pp losing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Vodafone Italia / Fastweb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30.6%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+9.3pp gaining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WindTre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20.3%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-2.7pp losing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Iliad Italia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5.7%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+0.4pp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3,268 (Highly Concentrated) | CR3: 94.3% | Trend: Fragmenting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15.7% (+1.8pp) | Broadband: 3.4% (+1.9pp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5.7% (#4); stable (+0.4pp); market is highly concentrated (HHI 3,268); fragmenting.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+10.0%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(51/100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+30.3%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Accelerating Growth (48/100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+18.4%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(46/100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Accelerating Growth — based on 3 KPI trend analyses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Broadband, B2B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€288M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6.7%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€12,200M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€12,000M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FY2024: Revenue EUR 1,145M (+8%), EBITDAaL EUR 308M (+24.5%, margin 26.9%). Leader in net adds 7 consecutive years. 11.64M mobile subs. Mobile-first, expanding into fixed.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4.7%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288.0M; up 6.7% YoY; ARPU 10.9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€25M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47.1%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55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FY2024: Revenue EUR 1,145M (+8%), EBITDAaL EUR 308M (+24.5%, margin 26.9%). Leader in net adds 7 consecutive years. 11.64M mobile subs. Mobile-first, expanding into fixed.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 broadband 349K fiber subscribers at end-2024 via Open Fiber and FiberCop wholesale. Targeting 1M+ fiber subs by 2026. Iliad Box launched with Iliad Group Freebox technology.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13.6%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25.0M; growth +47.1% YoY; Fiber subs 550K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3.7%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20.0%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 increased 11.8%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12.0M; 3.7% of total revenue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Insufficient data for TV/convergence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280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NSA deploying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Own Sites: 6800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Roaming Partner: WindTre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['Benedetto Levi (CEO, Iliad Italia)']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Disruptive challenger DNA from Iliad Group. Engineering-first. Lean and agile. Innovation-focused. Startup culture at growing scale.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Benedetto Levi: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75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88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85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95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33.2%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on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65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25 (market avg 61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75 (market avg 85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72 (market avg 81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Ranked #4 in revenue among competitors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40.0%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Still building own network; relies on WindTre roaming for coverage: Network quality perception gap vs established operators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Fixed broadband heavily dependent on wholesale fiber access: Limited control over fixed broadband quality and pricing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Low ARPU model in market with already depressed pricing: Revenue per user among lowest in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#4 of 4 operators in market; revenue EUR 325.0M; EBITDA margin 33.2%; stable but facing challenges; key strength: Customer Service; key challenge: Distribution; Management outlook: FY2024: Revenue EUR 1,145M (+8%), EBITDAaL EUR 308M (+24.5%, margin 26.9%). Leader in net adds 7 consecutive years. 11.64M mobile subs. Mobile-first, expanding into fixed.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'Customer Service: score 75 (market avg 70)' to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'Distribution: score 65 (market avg 79)'...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'Customer Service: score 75 (market avg 70)'...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'Distribution: score 65 (market avg 79)...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6 strengths, 9 weaknesses, 5 opportunities, and 5 threats. The recommended strategic posture is cautious (WT-dominant).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28 opportunities: 0 grow/invest, 8 acquire skills, 8 harvest, 12 avoid/exit. Focus resources on the 0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28 opportunities: 0 grow/invest, 8 acquire skills, 8 harvest, 12 avoid/exit. Focus resources on the 0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75 (market avg 70)' to capture the opportunity of 'Regulatory Environment: Compliance requirements and spectrum policies directly affect iliad_it'.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88 (market avg 76)' to capture the opportunity of 'National Digital Strategy: Fiber/5G coverage mandates may require iliad_it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'Innovation: score 85 (market avg 72)' to capture the opportunity of 'Iliad Italia revenue growth 7.6%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'Price Competitiveness: score 95 (market avg 72)' to capture the opportunity of 'Iliad Italia EBITDA margin improvement: 33.2% vs 30.4% (+2.8pp)'.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28 opportunities: 0 grow/invest, 8 acquire skills, 8 harvest, 12 avoid/exit. Focus resources on the 0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TURNAROUND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Squeezed Middle: stabilize core business, then selectively invest for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Focused growth in high-momentum segments: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Grow Mobile, Fixed Broadband, B2B above market rate</a:t>
            </a:r>
            <a:br/>
            <a:r>
              <a:t>- Improve segment profitability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Distribution: score 65 (market avg 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Distribution: score 65 (market avg 79)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TV/Convergence,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TV/Convergence,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Squeezed Middle, the strategic posture is Turnaround. As The Squeezed Middle: stabilize core business, then selec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2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€288M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€25M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33.2%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3 P0 (immediate), 2 P1 (1-2 years), 1 P2 (3-5 years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Enter a price war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Attempt premium repositioning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Mixed. Key opportunities: Regulatory Environment, National Digital Strategy. Key risks: Regulatory Environment, Fiber Broadband Penetration Industry is mature. (-0.7%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Italy telecom market totals EUR 5,755M in quarterly revenue; competitive strengths in Social/Brand; gaps in Assurances;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4-player market with medium competition intensity, TIM (Telecom Italia) leads with 43% revenue share. Target operator holds 6%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#4 of 4 operators in market; revenue EUR 325.0M; EBITDA margin 33.2%; stable but facing challenges; key strength: Customer Service; key challenge: Distribution; Management outlook: FY2024: Revenue EUR 1,145M (+8%), EBITDAaL EUR 308M (+24.5%, margin 26.9%). Leader in net adds 7 consecutive years. 11.64M mobile subs. Mobile-first, expanding into fixed.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6 strengths, 9 weaknesses, 5 opportunities, and 5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28 opportunities: 0 grow/invest, 8 acquire skills, 8 harvest, 12 avoid/exit. Focus resources on the 0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