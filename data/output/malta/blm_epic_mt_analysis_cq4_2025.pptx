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Epic Mt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Malta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(+6.3%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Malta telecom market totals EUR 101.0M in quarterly revenue; gaps in Assurances, Social/Brand; Market faces significant competitive headwinds.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GO plc leads with 63% revenue share. Target operator holds 10%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EUR 10.0M; EBITDA margin 30.0%; stable but facing challenges; key strength: Digital Experience; key challenge: Brand Strength; Management outlook: Epic Malta growing mobile subscriber base as third operator. NJJ/Monaco Telecom investment commitment. 5G network expanding. Competitive pricing challenging GO and Melita.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4 strengths, 9 weaknesses, 3 opportunities, and 6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 grow/invest, 12 acquire skills, 4 harvest, 4 avoid/exit. Focus resources on the 1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0.1B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+6.3%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(GO plc: 63.4%, Melita: 26.7%, Epic Malta: 9.9%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(+6.3%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(+6.3%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408.0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GO plc revenue growth 6.7%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Melita EBITDA margin improvement: 40.7% vs 38.5% (+2.2pp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Epic Malta revenue growth 11.1%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GO plc FTTH fiber rollout accelerating across Malta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Malta telecom market totals EUR 101.0M in quarterly revenue; gaps in Assurances, Social/Brand; Market faces significant competitive headwinds.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 Connected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Faster and more reliable broadband speeds, Seamless converged fixed-mobile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Digital-First / Young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mobile data plans, eSIM and digital-first onboarding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Tourist / Seasonal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Easy tourist SIM and eSIM access, Short-term data plans for visitors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iGaming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Low-latency connectivity for iGaming industry (Malta is EU iGaming hub), Cloud and cybersecurity managed services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Malta telecom market totals EUR 101.0M in quarterly revenue; gaps in Assurances, Social/Brand; Market faces significant competitive headwinds.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Malta telecom market totals EUR 101.0M in quarterly revenue; gaps in Assurances, Social/Brand; Market faces significant competitive headwinds.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Epic Malta revenue growth 11.1%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GO plc revenue growth 6.7%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Melita EBITDA margin improvement: 40.7% vs 38.5% (+2.2pp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GO plc FTTH fiber rollout accelerating across Malta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Malta telecom market totals EUR 101.0M in quarterly revenue; gaps in Assurances, Social/Brand; Market faces significant competitive headwinds.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GO plc leads with 63% revenue share. Target operator holds 10%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Melita 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Melita Mt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Go 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+7.3%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88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95 (market avg 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60 (market avg 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Go Mt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GO plc leads with 63% revenue share. Target operator holds 10%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Epic Mt vs Go 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Go Mt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+11.11%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+0.0%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30.0%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+13.6% | Stabilizing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EUR 10.0M; EBITDA margin 30.0%; stable but facing challenges; key strength: Digital Experience; key challenge: Brand Strength; Management outlook: Epic Malta growing mobile subscriber base as third operator. NJJ/Monaco Telecom investment commitment. 5G network expanding. Competitive pricing challenging GO and Melita.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GO 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63.4%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-0.7pp losing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Melita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26.7%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-0.2pp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Epic Malta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9.9%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+0.9pp gaining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4,828 (Highly Concentrated) | CR3: 100.0% | Trend: Fragmenting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19.6% (+0.5pp) | Broadband: 6.4% (+1.3pp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9.9% (#3); gaining (+0.9pp); market is highly concentrated (HHI 4,828); fragmenting.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+13.6%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Stabilizing (46/100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+26.1%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(0/100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+11.0%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(0/100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Stabilizing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52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Epic Malta growing mobile subscriber base as third operator. NJJ/Monaco Telecom investment commitment. 5G network expanding. Competitive pricing challenging GO and Melita.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2.6%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7.0M; up 16.7% YoY; ARPU 23.8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1.0M; growth +0.0% YoY; Fiber subs 11K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10.0%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1.0M; 10.0%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Huawei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120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 Access: GO wholesale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['Paul Fenech (CEO)']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Monaco Telecom management. Private-sector agility. Challenger mindset.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Paul Fenech: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78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80 (market avg 71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30.0%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55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55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40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68 (market avg 82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75 (market avg 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Smallest operator in Malta's 3-player market: Scale disadvantage in a tiny market (540K population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 owned fixed broadband infrastructure: Cannot offer competitive converged bundles independently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EUR 10.0M; EBITDA margin 30.0%; stable but facing challenges; key strength: Digital Experience; key challenge: Brand Strength; Management outlook: Epic Malta growing mobile subscriber base as third operator. NJJ/Monaco Telecom investment commitment. 5G network expanding. Competitive pricing challenging GO and Melita.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78 (market avg 73)' 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'Brand Strength: score 55 (market avg 74...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'Digital Experience: score 78 (market avg 73...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'Brand Strength: score 55 (market avg 7...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4 strengths, 9 weaknesses, 3 opportunities, and 6 threats. The recommended strategic posture is cautious (WT-dominant).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 grow/invest, 12 acquire skills, 4 harvest, 4 avoid/exit. Focus resources on the 1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 grow/invest, 12 acquire skills, 4 harvest, 4 avoid/exit. Focus resources on the 1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78 (market avg 73)' to capture the opportunity of 'Regulatory Environment: Compliance requirements and spectrum policies directly affect epic_mt'.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80 (market avg 71)' to capture the opportunity of 'National Digital Strategy: Fiber/5G coverage mandates may require epic_mt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30.0%' to capture the opportunity of 'Epic Malta revenue growth 11.1%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Epic Malta revenue growth 11.1% YoY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Epic Malta revenue growth 11.1% YoY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 grow/invest, 12 acquire skills, 4 harvest, 4 avoid/exit. Focus resources on the 1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CAUTIOUS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Distant Third: differentiate and grow through focused investment in competitive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Mobile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Differentiate on quality and innovation to justify premium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Improve NPS by 5 points</a:t>
            </a:r>
            <a:br/>
            <a:r>
              <a:t>- Launch 2+ differentiating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5G-first network modernization — quality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- 5G population coverage 80%+</a:t>
            </a:r>
            <a:br/>
            <a:r>
              <a:t>- 5G revenue contribution 15%+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Fixed Broadband, B2B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Fixed Broadband, B2B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Distant Third, the strategic posture is Cautious. As The Distant Third: differentiate and grow through focused 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1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€7M showing strong momentum — invest to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30.0% — maintain through smart automation and resource reallocatio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4 critical tasks: 1 P0 (immediate), 2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(+6.3%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Malta telecom market totals EUR 101.0M in quarterly revenue; gaps in Assurances, Social/Brand; Market faces significant competitive headwinds.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GO plc leads with 63% revenue share. Target operator holds 10%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EUR 10.0M; EBITDA margin 30.0%; stable but facing challenges; key strength: Digital Experience; key challenge: Brand Strength; Management outlook: Epic Malta growing mobile subscriber base as third operator. NJJ/Monaco Telecom investment commitment. 5G network expanding. Competitive pricing challenging GO and Melita.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4 strengths, 9 weaknesses, 3 opportunities, and 6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 grow/invest, 12 acquire skills, 4 harvest, 4 avoid/exit. Focus resources on the 1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