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Odido Nl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Netherlands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Mixed. Key opportunities: Regulatory Environment, National Digital Strategy. Key risks: Regulatory Environment, Fiber Broadband Penetration Industry is mature. (+1.3%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KPN leads with 48% revenue share. Target operator holds 20%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EUR 605.0M; EBITDA margin 39.7%; stable but facing challenges; key strength: Digital Experience; key challenge: Brand Strength; Management outlook: FY2024 revenue EUR 2.3B (+1.6%), EBITDA EUR 881M (+2.9%, margin 38.1%). Mobile service revenue growing above market rate driven by 5G upsell and postpaid migration.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6 weaknesses, 3 opportunities, and 5 threats. The recommended strategic posture is defensive (ST-dominant).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9 grow/invest, 6 acquire skills, 4 harvest, 4 avoid/exit. Focus resources on the 9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3.1B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(KPN: 48.0%, VodafoneZiggo: 32.2%, Odido: 19.8%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 Industry is mature. (+1.3%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 Industry is mature. (+1.3%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3,055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17,280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7,010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Odido postpones EUR 1B Amsterdam IPO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VodafoneZiggo cuts 400 jobs due to disappointing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KPN fiber homepass exceeds 5.5M — majority of NL now on fiber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Seamless converged fixed-mobile bundles, Ultra-reliable 5G standalone 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~8.3M subscribers | Trend: stable | Our Share: ~38%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value-for-money unlimited data plans, Transparent pricing without hidden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~1.5M subscribers | Trend: shrinking | Our Share: ~86%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SIM-only plans, No-frills connectivity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SME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Private 5G network solutions, SD-WAN and cloud connectivity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Limited data to assess value migration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VodafoneZiggo cuts 400 jobs due to disappointing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Odido postpones EUR 1B Amsterdam IPO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KPN fiber homepass exceeds 5.5M — majority of NL now on fiber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KPN leads with 48% revenue share. Target operator holds 20%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Vodafoneziggo Nl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€985M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€440M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44.7%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68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70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78 (market avg 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Vodafoneziggo Nl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Kpn Nl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€1,465M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+3.0%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€666M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80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92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62 (market avg 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Kpn Nl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KPN leads with 48% revenue share. Target operator holds 20%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Odido Nl vs Kpn Nl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Kpn Nl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€605M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+3.95%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39.7%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19.8%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+4.5% | Decelerating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EUR 605.0M; EBITDA margin 39.7%; stable but facing challenges; key strength: Digital Experience; key challenge: Brand Strength; Management outlook: FY2024 revenue EUR 2.3B (+1.6%), EBITDA EUR 881M (+2.9%, margin 38.1%). Mobile service revenue growing above market rate driven by 5G upsell and postpaid migration.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48.0%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+1.6pp gaining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VodafoneZiggo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32.2%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-2.5pp 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19.8%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+0.9pp gaining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3,731 (Highly Concentrated) | CR3: 100.0% | Trend: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43.7% (+1.4pp) | Broadband: 16.0% (+3.5pp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19.8% (#3); gaining (+0.9pp); market is highly concentrated (HHI 3,731).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+4.5%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(48/100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+7.1%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(49/100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+2.5%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Stabilizing (50/100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Decelerating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 | Declining: B2B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€415M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€7,550M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€5,720M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 revenue EUR 2.3B (+1.6%), EBITDA EUR 881M (+2.9%, margin 38.1%). Mobile service revenue growing above market rate driven by 5G upsell and postpaid migration.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customer base crossed 1 million in Q1 2025 via FWA and wholesale fiber. Growing fixed revenue stream diversifying mobile-centric business.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415.0M; up 3.8% YoY; ARPU 15.1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customer base crossed 1 million in Q1 2025 via FWA and wholesale fiber. Growing fixed revenue stream diversifying mobile-centric business.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3.7%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112.0M; growth +9.8% YoY; Fiber subs 390K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6.3%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WEAKENING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declining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customer base crossed 1 million in Q1 2025 via FWA and wholesale fiber. Growing fixed revenue stream diversifying mobile-centric business.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decreased 5.0%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38.0M; 6.3%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400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Deploying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2,200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['Soren Abildgaard (CEO)', 'Gero Niemeyer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Entrepreneurial post-rebrand culture; digital-first and agile; PE-backed focus on performance and profitability.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Soren Abildgaard: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Gero Niemeyer: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85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82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88 (market avg 84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78 (market avg 71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39.7%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72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rebrand from established T-Mobile to new Odido brand: Customer confusion and potential churn during brand transition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 owned fixed broadband infrastructure: Cannot offer true converged bundles without wholesale access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Ownership transition from Deutsche Telekom to PE consortium: Potential underinvestment risk under PE ownership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EUR 605.0M; EBITDA margin 39.7%; stable but facing challenges; key strength: Digital Experience; key challenge: Brand Strength; Management outlook: FY2024 revenue EUR 2.3B (+1.6%), EBITDA EUR 881M (+2.9%, margin 38.1%). Mobile service revenue growing above market rate driven by 5G upsell and postpaid migration.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78)' t...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65 (market avg 79...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'Digital Experience: score 85 (market avg 78...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65 (market avg 7...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6 weaknesses, 3 opportunities, and 5 threats. The recommended strategic posture is defensive (ST-dominant).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9 grow/invest, 6 acquire skills, 4 harvest, 4 avoid/exit. Focus resources on the 9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9 grow/invest, 6 acquire skills, 4 harvest, 4 avoid/exit. Focus resources on the 9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85 (market avg 78)' to capture the opportunity of 'Regulatory Environment: Compliance requirements and spectrum policies directly affect odido_nl'.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82 (market avg 77)' to capture the opportunity of 'National Digital Strategy: Fiber/5G coverage mandates may require odido_nl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Quality: score 88 (market avg 84)' to capture the opportunity of 'VodafoneZiggo cuts 400 jobs due to disappointing revenue'.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VodafoneZiggo cuts 400 jobs due to disappointing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VodafoneZiggo cuts 400 jobs due to disappointing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9 grow/invest, 6 acquire skills, 4 harvest, 4 avoid/exit. Focus resources on the 9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Mobile, Fixed Broadband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Mobile, Fixed Broadband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Brand Strength: score 65 (market avg 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Brand Strength: score 65 (market avg 79)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Urgent customer retention in B2B — stop value erosion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Reduce B2B churn by 20%</a:t>
            </a:r>
            <a:br/>
            <a:r>
              <a:t>- Improve segment ARPU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Defensive. As The Squeezed Middle: stabilize core business, then select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4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€415M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€112M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Retention — B2B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Urgent: B2B showing decline — deploy retention 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Churn reduction 20% | Save rate improvement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9 grow/invest opportunities identified — establish execution office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53212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66928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56784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678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120" y="56052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5852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39.7% — maintain through smart automation and resource reallocatio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8 critical tasks: 4 P0 (immediate), 3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Mixed. Key opportunities: Regulatory Environment, National Digital Strategy. Key risks: Regulatory Environment, Fiber Broadband Penetration Industry is mature. (+1.3%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Netherlands telecom market totals EUR 3,055M in quarterly revenue; competitive strengths in Availability, Performance; gaps in Assurances;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KPN leads with 48% revenue share. Target operator holds 20%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EUR 605.0M; EBITDA margin 39.7%; stable but facing challenges; key strength: Digital Experience; key challenge: Brand Strength; Management outlook: FY2024 revenue EUR 2.3B (+1.6%), EBITDA EUR 881M (+2.9%, margin 38.1%). Mobile service revenue growing above market rate driven by 5G upsell and postpaid migration.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6 weaknesses, 3 opportunities, and 5 threats. The recommended strategic posture is defensive (ST-dominant).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9 grow/invest, 6 acquire skills, 4 harvest, 4 avoid/exit. Focus resources on the 9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