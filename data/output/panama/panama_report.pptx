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9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56032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Arial"/>
              </a:defRPr>
            </a:pPr>
            <a:r>
              <a:t>Default BLM Strategic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5448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DCDC"/>
                </a:solidFill>
                <a:latin typeface="Arial"/>
              </a:defRPr>
            </a:pPr>
            <a:r>
              <a:t>BLM (Business Leadership Model) Five Looks Analysis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3200400"/>
            <a:ext cx="2651760" cy="11887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329184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Target Operator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3566160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3366"/>
                </a:solidFill>
                <a:latin typeface="Arial"/>
              </a:defRPr>
            </a:pPr>
            <a:r>
              <a:t>Tigo Panama</a:t>
            </a:r>
          </a:p>
        </p:txBody>
      </p:sp>
      <p:sp>
        <p:nvSpPr>
          <p:cNvPr id="8" name="Rectangle 7"/>
          <p:cNvSpPr/>
          <p:nvPr/>
        </p:nvSpPr>
        <p:spPr>
          <a:xfrm>
            <a:off x="3291840" y="3200400"/>
            <a:ext cx="2651760" cy="11887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429000" y="329184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Market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29000" y="3566160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3366"/>
                </a:solidFill>
                <a:latin typeface="Arial"/>
              </a:defRPr>
            </a:pPr>
            <a:r>
              <a:t>Panama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26480" y="3200400"/>
            <a:ext cx="2651760" cy="11887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63640" y="329184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Analysis Period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63640" y="3566160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3366"/>
                </a:solidFill>
                <a:latin typeface="Arial"/>
              </a:defRPr>
            </a:pPr>
            <a:r>
              <a:t>CQ4_2025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961120" y="3200400"/>
            <a:ext cx="2651760" cy="11887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098280" y="329184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Report Date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98280" y="3566160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3366"/>
                </a:solidFill>
                <a:latin typeface="Arial"/>
              </a:defRPr>
            </a:pPr>
            <a:r>
              <a:t>2026-02-14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4846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08080"/>
                </a:solidFill>
                <a:latin typeface="Arial"/>
              </a:defRPr>
            </a:pPr>
            <a:r>
              <a:t>01 Trends (PEST) | 02 Market/Customer ($APPEALS) | 03 Competition (Porter) | 04 Self (BMC) | SWOT Synthesis | 05 Opportunities (SPAN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Report Contents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TABLE OF CONTENTS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6" name="Oval 5"/>
          <p:cNvSpPr/>
          <p:nvPr/>
        </p:nvSpPr>
        <p:spPr>
          <a:xfrm>
            <a:off x="731520" y="1371600"/>
            <a:ext cx="457200" cy="457200"/>
          </a:xfrm>
          <a:prstGeom prst="ellipse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444752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389888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33333"/>
                </a:solidFill>
                <a:latin typeface="Arial"/>
              </a:defRPr>
            </a:pPr>
            <a:r>
              <a:t>Executive Summary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64592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08080"/>
                </a:solidFill>
                <a:latin typeface="Arial"/>
              </a:defRPr>
            </a:pPr>
            <a:r>
              <a:t>Key findings and recommendations</a:t>
            </a:r>
          </a:p>
        </p:txBody>
      </p:sp>
      <p:sp>
        <p:nvSpPr>
          <p:cNvPr id="10" name="Oval 9"/>
          <p:cNvSpPr/>
          <p:nvPr/>
        </p:nvSpPr>
        <p:spPr>
          <a:xfrm>
            <a:off x="731520" y="2011680"/>
            <a:ext cx="457200" cy="457200"/>
          </a:xfrm>
          <a:prstGeom prst="ellipse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2084832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029968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33333"/>
                </a:solidFill>
                <a:latin typeface="Arial"/>
              </a:defRPr>
            </a:pPr>
            <a:r>
              <a:t>Look at Trends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22860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08080"/>
                </a:solidFill>
                <a:latin typeface="Arial"/>
              </a:defRPr>
            </a:pPr>
            <a:r>
              <a:t>PEST Framework — macro environment</a:t>
            </a:r>
          </a:p>
        </p:txBody>
      </p:sp>
      <p:sp>
        <p:nvSpPr>
          <p:cNvPr id="14" name="Oval 13"/>
          <p:cNvSpPr/>
          <p:nvPr/>
        </p:nvSpPr>
        <p:spPr>
          <a:xfrm>
            <a:off x="731520" y="2651760"/>
            <a:ext cx="457200" cy="457200"/>
          </a:xfrm>
          <a:prstGeom prst="ellipse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2724912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2670048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33333"/>
                </a:solidFill>
                <a:latin typeface="Arial"/>
              </a:defRPr>
            </a:pPr>
            <a:r>
              <a:t>Look at Market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71600" y="292608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08080"/>
                </a:solidFill>
                <a:latin typeface="Arial"/>
              </a:defRPr>
            </a:pPr>
            <a:r>
              <a:t>$APPEALS — market changes &amp; customer needs</a:t>
            </a:r>
          </a:p>
        </p:txBody>
      </p:sp>
      <p:sp>
        <p:nvSpPr>
          <p:cNvPr id="18" name="Oval 17"/>
          <p:cNvSpPr/>
          <p:nvPr/>
        </p:nvSpPr>
        <p:spPr>
          <a:xfrm>
            <a:off x="731520" y="3291840"/>
            <a:ext cx="457200" cy="457200"/>
          </a:xfrm>
          <a:prstGeom prst="ellipse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3364992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3310128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33333"/>
                </a:solidFill>
                <a:latin typeface="Arial"/>
              </a:defRPr>
            </a:pPr>
            <a:r>
              <a:t>Tariff Analysis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71600" y="356616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08080"/>
                </a:solidFill>
                <a:latin typeface="Arial"/>
              </a:defRPr>
            </a:pPr>
            <a:r>
              <a:t>Pricing comparison — mobile, fixed &amp; convergence</a:t>
            </a:r>
          </a:p>
        </p:txBody>
      </p:sp>
      <p:sp>
        <p:nvSpPr>
          <p:cNvPr id="22" name="Oval 21"/>
          <p:cNvSpPr/>
          <p:nvPr/>
        </p:nvSpPr>
        <p:spPr>
          <a:xfrm>
            <a:off x="731520" y="3931920"/>
            <a:ext cx="457200" cy="457200"/>
          </a:xfrm>
          <a:prstGeom prst="ellipse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1520" y="4005072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3950208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33333"/>
                </a:solidFill>
                <a:latin typeface="Arial"/>
              </a:defRPr>
            </a:pPr>
            <a:r>
              <a:t>Look at Competition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71600" y="420624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08080"/>
                </a:solidFill>
                <a:latin typeface="Arial"/>
              </a:defRPr>
            </a:pPr>
            <a:r>
              <a:t>Porter's Five Forces — competitive landscape</a:t>
            </a:r>
          </a:p>
        </p:txBody>
      </p:sp>
      <p:sp>
        <p:nvSpPr>
          <p:cNvPr id="26" name="Oval 25"/>
          <p:cNvSpPr/>
          <p:nvPr/>
        </p:nvSpPr>
        <p:spPr>
          <a:xfrm>
            <a:off x="731520" y="4572000"/>
            <a:ext cx="457200" cy="457200"/>
          </a:xfrm>
          <a:prstGeom prst="ellipse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31520" y="4645152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05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0" y="4590288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33333"/>
                </a:solidFill>
                <a:latin typeface="Arial"/>
              </a:defRPr>
            </a:pPr>
            <a:r>
              <a:t>Look at Self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371600" y="484632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08080"/>
                </a:solidFill>
                <a:latin typeface="Arial"/>
              </a:defRPr>
            </a:pPr>
            <a:r>
              <a:t>BMC + Capability — internal assessment</a:t>
            </a:r>
          </a:p>
        </p:txBody>
      </p:sp>
      <p:sp>
        <p:nvSpPr>
          <p:cNvPr id="30" name="Oval 29"/>
          <p:cNvSpPr/>
          <p:nvPr/>
        </p:nvSpPr>
        <p:spPr>
          <a:xfrm>
            <a:off x="731520" y="5212080"/>
            <a:ext cx="457200" cy="457200"/>
          </a:xfrm>
          <a:prstGeom prst="ellipse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31520" y="5285232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06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371600" y="5230368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33333"/>
                </a:solidFill>
                <a:latin typeface="Arial"/>
              </a:defRPr>
            </a:pPr>
            <a:r>
              <a:t>SWOT Synthesis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371600" y="54864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08080"/>
                </a:solidFill>
                <a:latin typeface="Arial"/>
              </a:defRPr>
            </a:pPr>
            <a:r>
              <a:t>Strengths, Weaknesses, Opportunities, Threats</a:t>
            </a:r>
          </a:p>
        </p:txBody>
      </p:sp>
      <p:sp>
        <p:nvSpPr>
          <p:cNvPr id="34" name="Oval 33"/>
          <p:cNvSpPr/>
          <p:nvPr/>
        </p:nvSpPr>
        <p:spPr>
          <a:xfrm>
            <a:off x="731520" y="5852160"/>
            <a:ext cx="457200" cy="457200"/>
          </a:xfrm>
          <a:prstGeom prst="ellipse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31520" y="5925312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07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371600" y="5870448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33333"/>
                </a:solidFill>
                <a:latin typeface="Arial"/>
              </a:defRPr>
            </a:pPr>
            <a:r>
              <a:t>Look at Opportunities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371600" y="612648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08080"/>
                </a:solidFill>
                <a:latin typeface="Arial"/>
              </a:defRPr>
            </a:pPr>
            <a:r>
              <a:t>SPAN Matrix — opportunity selection</a:t>
            </a:r>
          </a:p>
        </p:txBody>
      </p:sp>
      <p:sp>
        <p:nvSpPr>
          <p:cNvPr id="38" name="Oval 37"/>
          <p:cNvSpPr/>
          <p:nvPr/>
        </p:nvSpPr>
        <p:spPr>
          <a:xfrm>
            <a:off x="731520" y="6492240"/>
            <a:ext cx="457200" cy="457200"/>
          </a:xfrm>
          <a:prstGeom prst="ellipse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31520" y="6565392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08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371600" y="6510528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33333"/>
                </a:solidFill>
                <a:latin typeface="Arial"/>
              </a:defRPr>
            </a:pPr>
            <a:r>
              <a:t>Summary &amp; Provenance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371600" y="676656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08080"/>
                </a:solidFill>
                <a:latin typeface="Arial"/>
              </a:defRPr>
            </a:pPr>
            <a:r>
              <a:t>Conclusions and data sources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Data Quality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DATA QUALITY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37160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46304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Total Data Points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7830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20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0" y="137160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37560" y="146304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High Confidence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37560" y="17830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37560" y="214884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80000"/>
                </a:solidFill>
                <a:latin typeface="Arial"/>
              </a:defRPr>
            </a:pPr>
            <a:r>
              <a:t>0%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43600" y="137160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080760" y="146304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Medium Confidence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80760" y="17830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0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686800" y="137160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823960" y="146304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Low/Estimated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23960" y="17830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20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2926080"/>
            <a:ext cx="4572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Arial"/>
              </a:defRPr>
            </a:pPr>
            <a:r>
              <a:t>Unique Sources: 0</a:t>
            </a:r>
            <a:br/>
            <a:r>
              <a:t>Data Conflicts: 0</a:t>
            </a:r>
            <a:br/>
            <a:r>
              <a:t>Coverage: Partial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20 data points tracked, 0 high-confidence (0%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Executive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4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80160"/>
            <a:ext cx="2011680" cy="54864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Trends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51760" y="1371600"/>
            <a:ext cx="8686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Arial"/>
              </a:defRPr>
            </a:pPr>
            <a:r>
              <a:t>Macro environment: Favorable. Key opportunities: Regulatory Environment, National Digital Strategy. Key risks: Regulatory Environment, Fiber Broadband Penetration Industry is in late growth phase. (+2.4% YoY (CQ2_2025 -&gt; CQ4_2025)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920240"/>
            <a:ext cx="2011680" cy="54864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201168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Market/Customer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51760" y="2011680"/>
            <a:ext cx="8686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Arial"/>
              </a:defRPr>
            </a:pPr>
            <a:r>
              <a:t>Panama telecom market totals USD 435.0M in quarterly revenue; competitive strengths in Availability; Market outlook is favorable with more opportunities than threats.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2560320"/>
            <a:ext cx="2011680" cy="54864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265176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Competition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51760" y="2651760"/>
            <a:ext cx="8686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Arial"/>
              </a:defRPr>
            </a:pPr>
            <a:r>
              <a:t>In a 3-player market with medium competition intensity, Claro Panama leads with 51% revenue share. Target operator holds 37% share. Strongest competitive force: Existing Competitors.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3200400"/>
            <a:ext cx="2011680" cy="54864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329184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Self Assessment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51760" y="3291840"/>
            <a:ext cx="8686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Arial"/>
              </a:defRPr>
            </a:pPr>
            <a:r>
              <a:t>Ranked #2 of 3 operators in market; revenue USD 161.0M; EBITDA margin 43.5%; stable but facing challenges; key strength: Brand Strength; key challenge: 5G coverage gap at only 0.0%; Management outlook: Panama mobile growth driven by data monetization in high-ARPU market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3840480"/>
            <a:ext cx="2011680" cy="54864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3931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SWOT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651760" y="3931920"/>
            <a:ext cx="8686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Arial"/>
              </a:defRPr>
            </a:pPr>
            <a:r>
              <a:t>SWOT analysis identifies 12 strengths, 3 weaknesses, 5 opportunities, and 5 threats. The recommended strategic posture is offensive (SO-dominant).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4480560"/>
            <a:ext cx="2011680" cy="54864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45720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Opportunities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651760" y="4572000"/>
            <a:ext cx="8686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Arial"/>
              </a:defRPr>
            </a:pPr>
            <a:r>
              <a:t>SPAN matrix positions 24 opportunities: 14 grow/invest, 3 acquire skills, 4 harvest, 3 avoid/exit. Focus resources on the 14 grow/invest items for maximum strategic impact.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Five Looks analysis completed — see details in following sections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Arial"/>
              </a:defRPr>
            </a:pPr>
            <a:r>
              <a:t>01 Look at Trends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6576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DCDC"/>
                </a:solidFill>
                <a:latin typeface="Arial"/>
              </a:defRPr>
            </a:pPr>
            <a:r>
              <a:t>PEST Framework — Macro Environment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PEST Analysis Dashboard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MACRO ENVIRONMENT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6</a:t>
            </a:r>
          </a:p>
        </p:txBody>
      </p:sp>
      <p:pic>
        <p:nvPicPr>
          <p:cNvPr id="6" name="Picture 5" descr="pest_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88720"/>
            <a:ext cx="10972800" cy="438912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Macro environment: Favorable. Key opportunities: Regulatory Environment, National Digital Strategy. Key risks: Regulatory Environment, Fiber Broadband Penetration.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Industry Environment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INDUSTRY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7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Market Size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USD 0.4B (quarterly, CQ4_2025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375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Growth Rate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375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+2.4% YoY (CQ2_2025 -&gt; CQ4_2025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9436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807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Concentration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807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CR4 = 100% (Claro Panama: 50.8%, Tigo Panama: 37.0%, Digicel Panama: 12.2%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6868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8239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Lifecycle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239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late_growth</a:t>
            </a:r>
          </a:p>
        </p:txBody>
      </p:sp>
      <p:pic>
        <p:nvPicPr>
          <p:cNvPr id="18" name="Picture 17" descr="pest_factor_di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2651760"/>
            <a:ext cx="5486400" cy="283464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5943600" y="2651760"/>
            <a:ext cx="5486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  <a:latin typeface="Arial"/>
              </a:defRPr>
            </a:pPr>
            <a:r>
              <a:t>• New Business Models:</a:t>
            </a:r>
          </a:p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  <a:latin typeface="Arial"/>
              </a:defRPr>
            </a:pPr>
            <a:r>
              <a:t>• FWA (Fixed Wireless Access) as fiber alternative</a:t>
            </a:r>
          </a:p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  <a:latin typeface="Arial"/>
              </a:defRPr>
            </a:pPr>
            <a:r>
              <a:t>• Network-as-a-Service for enterprise verticals</a:t>
            </a:r>
          </a:p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  <a:latin typeface="Arial"/>
              </a:defRPr>
            </a:pPr>
            <a:r>
              <a:t>• Wholesale/MVNO partnerships for coverage monetization</a:t>
            </a:r>
          </a:p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  <a:latin typeface="Arial"/>
              </a:defRPr>
            </a:pPr>
            <a:r>
              <a:t>• Technology Revolution:</a:t>
            </a:r>
          </a:p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  <a:latin typeface="Arial"/>
              </a:defRPr>
            </a:pPr>
            <a:r>
              <a:t>• 5G SA enabling network slicing and enterprise services</a:t>
            </a:r>
          </a:p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  <a:latin typeface="Arial"/>
              </a:defRPr>
            </a:pPr>
            <a:r>
              <a:t>• AI/ML for network optimization and customer experience</a:t>
            </a:r>
          </a:p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  <a:latin typeface="Arial"/>
              </a:defRPr>
            </a:pPr>
            <a:r>
              <a:t>• Open RAN for vendor diversification and cost reduction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Macro environment: Favorable. Key opportunities: Regulatory Environment, National Digital Strategy. Key risks: Regulatory Environment, Fiber Broadband Penetration Industry is in late growth phase. (+2.4% YoY (CQ2_2025 -&gt; CQ4_2025)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Value Transfer Trends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VALUE MIGRATION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10972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333333"/>
                </a:solidFill>
                <a:latin typeface="Arial"/>
              </a:defRPr>
            </a:pPr>
            <a:r>
              <a:t>• Value shifting from voice/SMS to data and digital services</a:t>
            </a:r>
          </a:p>
          <a:p>
            <a:pPr>
              <a:spcAft>
                <a:spcPts val="400"/>
              </a:spcAft>
              <a:defRPr sz="1300">
                <a:solidFill>
                  <a:srgbClr val="333333"/>
                </a:solidFill>
                <a:latin typeface="Arial"/>
              </a:defRPr>
            </a:pPr>
            <a:r>
              <a:t>• B2B/ICT growing faster than consumer segment</a:t>
            </a:r>
          </a:p>
          <a:p>
            <a:pPr>
              <a:spcAft>
                <a:spcPts val="400"/>
              </a:spcAft>
              <a:defRPr sz="1300">
                <a:solidFill>
                  <a:srgbClr val="333333"/>
                </a:solidFill>
                <a:latin typeface="Arial"/>
              </a:defRPr>
            </a:pPr>
            <a:r>
              <a:t>• Fiber displacing copper and cable broadband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Macro environment: Favorable. Key opportunities: Regulatory Environment, National Digital Strategy. Key risks: Regulatory Environment, Fiber Broadband Penetration Industry is in late growth phase. (+2.4% YoY (CQ2_2025 -&gt; CQ4_2025)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Arial"/>
              </a:defRPr>
            </a:pPr>
            <a:r>
              <a:t>02 Look at Market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6576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DCDC"/>
                </a:solidFill>
                <a:latin typeface="Arial"/>
              </a:defRPr>
            </a:pPr>
            <a:r>
              <a:t>$APPEALS — Market Changes &amp; Customer Needs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Market Change Panorama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MARKET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10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Total Revenue (€M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435.0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375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Mobile Subs (K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375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5,794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9436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807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Broadband Subs (K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807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470.0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6868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8239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Operators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239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3</a:t>
            </a:r>
          </a:p>
        </p:txBody>
      </p:sp>
      <p:pic>
        <p:nvPicPr>
          <p:cNvPr id="18" name="Picture 17" descr="market_sha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2560320"/>
            <a:ext cx="5486400" cy="292608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457200" y="274320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3366"/>
                </a:solidFill>
                <a:latin typeface="Arial"/>
              </a:defRPr>
            </a:pPr>
            <a:r>
              <a:t>Market Changes: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301752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Claro Panama revenue growth 5.7% YoY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Tigo Panama revenue growth 8.1% YoY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Digicel Panama revenue decline 7.0% YoY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Tigo Panama expands fiber broadband to Panama City suburbs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Panama telecom market totals USD 435.0M in quarterly revenue; competitive strengths in Availability; Market outlook is favorable with more opportunities than threats.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Customer Segments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SEGMENTATION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11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80160"/>
            <a:ext cx="5943600" cy="77724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3366"/>
                </a:solidFill>
                <a:latin typeface="Arial"/>
              </a:defRPr>
            </a:pPr>
            <a:r>
              <a:t>Consumer Prepaid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600200"/>
            <a:ext cx="5303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Arial"/>
              </a:defRPr>
            </a:pPr>
            <a:r>
              <a:t>Trend: stable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783080"/>
            <a:ext cx="5303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Needs: Better data value for money, Coverage outside Panama City corridor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148840"/>
            <a:ext cx="5943600" cy="77724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219456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3366"/>
                </a:solidFill>
                <a:latin typeface="Arial"/>
              </a:defRPr>
            </a:pPr>
            <a:r>
              <a:t>Consumer Postpaid &amp; Premium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468880"/>
            <a:ext cx="5303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Arial"/>
              </a:defRPr>
            </a:pPr>
            <a:r>
              <a:t>Trend: stable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2651760"/>
            <a:ext cx="5303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Needs: High-speed broadband for remote work, Premium convergent bundles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3017520"/>
            <a:ext cx="5943600" cy="77724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30632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3366"/>
                </a:solidFill>
                <a:latin typeface="Arial"/>
              </a:defRPr>
            </a:pPr>
            <a:r>
              <a:t>Enterprise &amp; Canal Zone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3337560"/>
            <a:ext cx="5303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Arial"/>
              </a:defRPr>
            </a:pPr>
            <a:r>
              <a:t>Trend: stable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3520440"/>
            <a:ext cx="5303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Needs: International connectivity for logistics/shipping, Data center and cloud services</a:t>
            </a:r>
          </a:p>
        </p:txBody>
      </p:sp>
      <p:pic>
        <p:nvPicPr>
          <p:cNvPr id="18" name="Picture 17" descr="appeals_b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0" y="1188720"/>
            <a:ext cx="5029200" cy="4389120"/>
          </a:xfrm>
          <a:prstGeom prst="rect">
            <a:avLst/>
          </a:prstGeom>
        </p:spPr>
      </p:pic>
      <p:sp>
        <p:nvSpPr>
          <p:cNvPr id="19" name="Rectangle 18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Panama telecom market totals USD 435.0M in quarterly revenue; competitive strengths in Availability; Market outlook is favorable with more opportunities than threats.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$APPEALS Assessment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CUSTOMER NEEDS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12</a:t>
            </a:r>
          </a:p>
        </p:txBody>
      </p:sp>
      <p:pic>
        <p:nvPicPr>
          <p:cNvPr id="6" name="Picture 5" descr="appeals_rad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88720"/>
            <a:ext cx="10515600" cy="438912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Panama telecom market totals USD 435.0M in quarterly revenue; competitive strengths in Availability; Market outlook is favorable with more opportunities than threats.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Customer Value Migration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VALUE MIGRATION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10972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Arial"/>
              </a:defRPr>
            </a:pPr>
            <a:r>
              <a:t>Value migration trending upward: customers willing to pay more for premium connectivity and convergent bundles. Focus on upselling and cross-selling opportunities.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20040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8000"/>
                </a:solidFill>
                <a:latin typeface="Arial"/>
              </a:defRPr>
            </a:pPr>
            <a:r>
              <a:t>Opportunities: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474720"/>
            <a:ext cx="5029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00">
                <a:solidFill>
                  <a:srgbClr val="333333"/>
                </a:solidFill>
                <a:latin typeface="Arial"/>
              </a:defRPr>
            </a:pPr>
            <a:r>
              <a:t>• Tigo Panama revenue growth 8.1% YoY</a:t>
            </a:r>
          </a:p>
          <a:p>
            <a:pPr>
              <a:spcAft>
                <a:spcPts val="400"/>
              </a:spcAft>
              <a:defRPr sz="1000">
                <a:solidFill>
                  <a:srgbClr val="333333"/>
                </a:solidFill>
                <a:latin typeface="Arial"/>
              </a:defRPr>
            </a:pPr>
            <a:r>
              <a:t>• Digicel Panama revenue decline 7.0% YoY</a:t>
            </a:r>
          </a:p>
          <a:p>
            <a:pPr>
              <a:spcAft>
                <a:spcPts val="400"/>
              </a:spcAft>
              <a:defRPr sz="1000">
                <a:solidFill>
                  <a:srgbClr val="333333"/>
                </a:solidFill>
                <a:latin typeface="Arial"/>
              </a:defRPr>
            </a:pPr>
            <a:r>
              <a:t>• Tigo Panama expands fiber broadband to Panama City suburbs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0" y="320040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C80000"/>
                </a:solidFill>
                <a:latin typeface="Arial"/>
              </a:defRPr>
            </a:pPr>
            <a:r>
              <a:t>Threats: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0" y="3474720"/>
            <a:ext cx="5029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00">
                <a:solidFill>
                  <a:srgbClr val="333333"/>
                </a:solidFill>
                <a:latin typeface="Arial"/>
              </a:defRPr>
            </a:pPr>
            <a:r>
              <a:t>• Claro Panama revenue growth 5.7% YoY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Panama telecom market totals USD 435.0M in quarterly revenue; competitive strengths in Availability; Market outlook is favorable with more opportunities than threats.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Arial"/>
              </a:defRPr>
            </a:pPr>
            <a:r>
              <a:t>Tariff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6576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DCDC"/>
                </a:solidFill>
                <a:latin typeface="Arial"/>
              </a:defRPr>
            </a:pPr>
            <a:r>
              <a:t>Mobile, Fixed &amp; Convergence Pricing Landscape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Fixed &amp; Convergence Pricing Landscape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DSL / CABLE / FIBER / FMC BUNDLES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15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Fixed and convergence pricing overview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Arial"/>
              </a:defRPr>
            </a:pPr>
            <a:r>
              <a:t>03 Look at Competition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6576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DCDC"/>
                </a:solidFill>
                <a:latin typeface="Arial"/>
              </a:defRPr>
            </a:pPr>
            <a:r>
              <a:t>Porter's Five Forces — Competitive Landscape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Porter's Five Forces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COMPETITIVE FORCES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17</a:t>
            </a:r>
          </a:p>
        </p:txBody>
      </p:sp>
      <p:pic>
        <p:nvPicPr>
          <p:cNvPr id="6" name="Picture 5" descr="porter_forc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0" y="1097280"/>
            <a:ext cx="6400800" cy="4572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13716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3366"/>
                </a:solidFill>
                <a:latin typeface="Arial"/>
              </a:defRPr>
            </a:pPr>
            <a:r>
              <a:t>Overall Intensity: MEDIUM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In a 3-player market with medium competition intensity, Claro Panama leads with 51% revenue share. Target operator holds 37% share. Strongest competitive force: Existing Competitors.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Competitor Analysis: Digicel Pa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COMPETITOR DEEP DIVE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18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Revenue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€53M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05740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80000"/>
                </a:solidFill>
                <a:latin typeface="Arial"/>
              </a:defRPr>
            </a:pPr>
            <a:r>
              <a:t>-7.5% YoY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375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EBITDA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375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€10M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436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0807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Margin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807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18.9%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256032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8000"/>
                </a:solidFill>
                <a:latin typeface="Arial"/>
              </a:defRPr>
            </a:pPr>
            <a:r>
              <a:t>Strengths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283464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5943600" y="256032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C80000"/>
                </a:solidFill>
                <a:latin typeface="Arial"/>
              </a:defRPr>
            </a:pPr>
            <a:r>
              <a:t>Weaknesses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0" y="283464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Brand Strength: score 42 (market avg 66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Customer Service: score 40 (market avg 61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Digital Experience: score 35 (market avg 59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Distribution: score 48 (market avg 70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50292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Arial"/>
              </a:defRPr>
            </a:pPr>
            <a:r>
              <a:t>Strategy: Defensive cost restructuring; ARPU-led value strategy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Competitor analysis: Digicel Pa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Competitor Analysis: Claro Pa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COMPETITOR DEEP DIVE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19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Revenue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€221M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05740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8000"/>
                </a:solidFill>
                <a:latin typeface="Arial"/>
              </a:defRPr>
            </a:pPr>
            <a:r>
              <a:t>+6.1% YoY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375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EBITDA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375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€85M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436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0807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Margin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807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38.5%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6868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8239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Capex/Rev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239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17.2%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256032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8000"/>
                </a:solidFill>
                <a:latin typeface="Arial"/>
              </a:defRPr>
            </a:pPr>
            <a:r>
              <a:t>Strengths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283464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Brand Strength: score 82 (market avg 66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Customer Service: score 72 (market avg 61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Digital Experience: score 72 (market avg 59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Distribution: score 85 (market avg 70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0" y="256032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C80000"/>
                </a:solidFill>
                <a:latin typeface="Arial"/>
              </a:defRPr>
            </a:pPr>
            <a:r>
              <a:t>Weaknesses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0" y="283464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457200" y="50292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Arial"/>
              </a:defRPr>
            </a:pPr>
            <a:r>
              <a:t>Strategy: Revenue-led profitable growth; subscriber acquisition focus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Competitor analysis: Claro Pa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Competitive Landscape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COMPETITION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20</a:t>
            </a:r>
          </a:p>
        </p:txBody>
      </p:sp>
      <p:pic>
        <p:nvPicPr>
          <p:cNvPr id="6" name="Picture 5" descr="comp_tab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88720"/>
            <a:ext cx="10972800" cy="41148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In a 3-player market with medium competition intensity, Claro Panama leads with 51% revenue share. Target operator holds 37% share. Strongest competitive force: Existing Competitors.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New Entrants Threat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MARKET ENTRY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21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109728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333333"/>
                </a:solidFill>
                <a:latin typeface="Arial"/>
              </a:defRPr>
            </a:pPr>
            <a:r>
              <a:t>• Entry barriers: High barriers: spectrum licensing, massive capex for network build, regulatory approvals, established brand loyalty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New entrants threat level: low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Arial"/>
              </a:defRPr>
            </a:pPr>
            <a:r>
              <a:t>04 Look at Self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6576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DCDC"/>
                </a:solidFill>
                <a:latin typeface="Arial"/>
              </a:defRPr>
            </a:pPr>
            <a:r>
              <a:t>BMC + Capability Assessment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Operating Health Check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FINANCIAL HEALTH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23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Revenue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€161M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05740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8000"/>
                </a:solidFill>
                <a:latin typeface="Arial"/>
              </a:defRPr>
            </a:pPr>
            <a:r>
              <a:t>+8.05% YoY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375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EBITDA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375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€70M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37560" y="205740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8000"/>
                </a:solidFill>
                <a:latin typeface="Arial"/>
              </a:defRPr>
            </a:pPr>
            <a:r>
              <a:t>+9.4% YoY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9436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0807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EBITDA Margin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807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43.5%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6868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8239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Capex/Rev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239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16.1%</a:t>
            </a:r>
          </a:p>
        </p:txBody>
      </p:sp>
      <p:pic>
        <p:nvPicPr>
          <p:cNvPr id="20" name="Picture 19" descr="revenue_tre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2651760"/>
            <a:ext cx="5486400" cy="2834640"/>
          </a:xfrm>
          <a:prstGeom prst="rect">
            <a:avLst/>
          </a:prstGeom>
        </p:spPr>
      </p:pic>
      <p:pic>
        <p:nvPicPr>
          <p:cNvPr id="21" name="Picture 20" descr="revenue_breakdow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0" y="2651760"/>
            <a:ext cx="5760720" cy="2834640"/>
          </a:xfrm>
          <a:prstGeom prst="rect">
            <a:avLst/>
          </a:prstGeom>
        </p:spPr>
      </p:pic>
      <p:sp>
        <p:nvSpPr>
          <p:cNvPr id="22" name="Rectangle 21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Ranked #2 of 3 operators in market; revenue USD 161.0M; EBITDA margin 43.5%; stable but facing challenges; key strength: Brand Strength; key challenge: 5G coverage gap at only 0.0%; Management outlook: Panama mobile growth driven by data monetization in high-ARPU market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Revenue Composition Trend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SEGMENT REVENUE MIX OVER TIME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24</a:t>
            </a:r>
          </a:p>
        </p:txBody>
      </p:sp>
      <p:pic>
        <p:nvPicPr>
          <p:cNvPr id="6" name="Picture 5" descr="revenue_composition_tre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10972800" cy="41148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Growing: Mobile, Fixed Broadband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Revenue Comparison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COMPETITIVE BENCHMARKING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25</a:t>
            </a:r>
          </a:p>
        </p:txBody>
      </p:sp>
      <p:pic>
        <p:nvPicPr>
          <p:cNvPr id="6" name="Picture 5" descr="revenue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188720"/>
            <a:ext cx="5760720" cy="4389120"/>
          </a:xfrm>
          <a:prstGeom prst="rect">
            <a:avLst/>
          </a:prstGeom>
        </p:spPr>
      </p:pic>
      <p:pic>
        <p:nvPicPr>
          <p:cNvPr id="7" name="Picture 6" descr="margin_comparis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188720"/>
            <a:ext cx="5486400" cy="438912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Revenue and margin benchmarking across operators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Segment Analysis: Mobile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SEGMENT PERFORMANCE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26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Service Revenue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€102M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375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Service Growth Pct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375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8.5%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9436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807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Total 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807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€2,310M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6868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8239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Postpaid 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239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€580M</a:t>
            </a:r>
          </a:p>
        </p:txBody>
      </p:sp>
      <p:pic>
        <p:nvPicPr>
          <p:cNvPr id="18" name="Picture 17" descr="segment_0_metric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2560320"/>
            <a:ext cx="5486400" cy="292608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457200" y="25603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Health: STABLE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292608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revenue: improving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subscribers: improving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arpu: stable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Panama mobile growth driven by data monetization in high-ARPU market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revenue increased 2.0% QoQ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Mobile service revenue at 102.0M; up 8.5% YoY; ARPU 4.4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Segment Analysis: Fixed Broadband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SEGMENT PERFORMANCE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27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Service Revenue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€43M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375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Service Growth Pct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375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10.3%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9436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807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Total 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807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€222M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6868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8239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Net Adds 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239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6</a:t>
            </a:r>
          </a:p>
        </p:txBody>
      </p:sp>
      <p:pic>
        <p:nvPicPr>
          <p:cNvPr id="18" name="Picture 17" descr="segment_1_metric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2560320"/>
            <a:ext cx="5486400" cy="292608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457200" y="25603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Health: STRONG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292608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revenue: improving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subscribers: improving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arpu: stable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Tigo Panama expands fiber broadband to Panama City suburbs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revenue increased 2.4% QoQ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subscribers increased 2.8% QoQ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Fixed service revenue 43.0M; growth +10.3% YoY; Fiber subs 46K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Segment Analysis: B2B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SEGMENT PERFORMANCE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28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Revenue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€8M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375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Growth Pct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375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None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9436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807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Customers 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807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12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6868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8239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Share Of Revenue Pct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239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5.0%</a:t>
            </a:r>
          </a:p>
        </p:txBody>
      </p:sp>
      <p:pic>
        <p:nvPicPr>
          <p:cNvPr id="18" name="Picture 17" descr="segment_2_metric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2560320"/>
            <a:ext cx="5486400" cy="292608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457200" y="25603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Health: STABLE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292608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revenue: stable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customers: stable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B2B revenue 8.0M; 5.0% of total revenue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Segment Analysis: TV/Convergence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SEGMENT PERFORMANCE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29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Revenue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None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375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Total 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375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€161M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9436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807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Net Adds 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807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None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6868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8239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Fmc Total 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239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None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25603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Health: STABLE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292608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revenue: stable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subscribers: improving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fmc_subscribers: stable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TV subscribers 161K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Network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INFRASTRUCTURE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30</a:t>
            </a:r>
          </a:p>
        </p:txBody>
      </p:sp>
      <p:pic>
        <p:nvPicPr>
          <p:cNvPr id="6" name="Picture 5" descr="coverage_gaug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88720"/>
            <a:ext cx="10972800" cy="2286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36576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Technology Mix: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931920"/>
            <a:ext cx="4572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Mobile Vendor: Ericsson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Spectrum Mhz: 100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Core Vendor: Ericsson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0" y="3657600"/>
            <a:ext cx="5029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Arial"/>
              </a:defRPr>
            </a:pPr>
            <a:r>
              <a:t>Investment Direction: increasing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Network infrastructure and coverage assessment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Business Model Canvas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BMC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31</a:t>
            </a:r>
          </a:p>
        </p:txBody>
      </p:sp>
      <p:pic>
        <p:nvPicPr>
          <p:cNvPr id="6" name="Picture 5" descr="bmc_canva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97280"/>
            <a:ext cx="11430000" cy="448056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Business model canvas overview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Organization &amp; Talent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PEOPLE &amp; CULTURE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32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Employees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1,160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375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C Suite Count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375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9436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807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Avg Tenure Years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807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5.1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6868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8239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Key Leaders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239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['Pedro Hernandez (CEO)']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265176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Organization Culture: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2971800"/>
            <a:ext cx="5029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Arial"/>
              </a:defRPr>
            </a:pPr>
            <a:r>
              <a:t>Stable leadership team (avg tenure &gt;3 years); Growth-oriented strategic posture; High-performing small market; Millicom standards; enterprise-oriented; innovative in fintech.</a:t>
            </a:r>
          </a:p>
        </p:txBody>
      </p:sp>
      <p:pic>
        <p:nvPicPr>
          <p:cNvPr id="20" name="Picture 19" descr="talent_scor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2651760"/>
            <a:ext cx="5486400" cy="274320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457200" y="45720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Leadership Changes: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484632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Pedro Hernandez: (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Organization and talent assessment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Strengths, Weaknesses &amp; Exposure Points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SELF ASSESSMENT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33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8000"/>
                </a:solidFill>
                <a:latin typeface="Arial"/>
              </a:defRPr>
            </a:pPr>
            <a:r>
              <a:t>Strengths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645920"/>
            <a:ext cx="34747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Brand Strength: score 75 (market avg 66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Customer Service: score 70 (market avg 61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Digital Experience: score 70 (market avg 59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Distribution: score 78 (market avg 70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Enterprise Solutions: score 60 (market avg 51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Innovation: score 65 (market avg 55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0" y="128016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C80000"/>
                </a:solidFill>
                <a:latin typeface="Arial"/>
              </a:defRPr>
            </a:pPr>
            <a:r>
              <a:t>Weaknesses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0" y="1645920"/>
            <a:ext cx="34747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5G coverage gap at only 0.0%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0" y="128016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A500"/>
                </a:solidFill>
                <a:latin typeface="Arial"/>
              </a:defRPr>
            </a:pPr>
            <a:r>
              <a:t>Exposure Points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0" y="1645920"/>
            <a:ext cx="34747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Claro leads in mobile market share and 4G coverage: Tigo positioned as #2 mobile, differentiation through fixed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Small market size limits revenue growth potential: 4.4M population constrains subscriber growth ceiling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Ranked #2 of 3 operators in market; revenue USD 161.0M; EBITDA margin 43.5%; stable but facing challenges; key strength: Brand Strength; key challenge: 5G coverage gap at only 0.0%; Management outlook: Panama mobile growth driven by data monetization in high-ARPU market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Arial"/>
              </a:defRPr>
            </a:pPr>
            <a:r>
              <a:t>SWOT Synthesis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6576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DCDC"/>
                </a:solidFill>
                <a:latin typeface="Arial"/>
              </a:defRPr>
            </a:pPr>
            <a:r>
              <a:t>Strengths, Weaknesses, Opportunities &amp; Threats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SWOT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STRATEGIC SYNTHESIS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35</a:t>
            </a:r>
          </a:p>
        </p:txBody>
      </p:sp>
      <p:pic>
        <p:nvPicPr>
          <p:cNvPr id="6" name="Picture 5" descr="swot_matr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6858000" cy="44805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772400" y="128016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8000"/>
                </a:solidFill>
                <a:latin typeface="Arial"/>
              </a:defRPr>
            </a:pPr>
            <a:r>
              <a:t>SO: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3920" y="128016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Arial"/>
              </a:defRPr>
            </a:pPr>
            <a:r>
              <a:t>Leverage 'Brand Strength: score 75 (market avg 66)' to ca...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0" y="192024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4682B4"/>
                </a:solidFill>
                <a:latin typeface="Arial"/>
              </a:defRPr>
            </a:pPr>
            <a:r>
              <a:t>WO: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3920" y="192024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Arial"/>
              </a:defRPr>
            </a:pPr>
            <a:r>
              <a:t>Address weakness '5G coverage gap at only 0.0%' to unlock...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0" y="256032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A500"/>
                </a:solidFill>
                <a:latin typeface="Arial"/>
              </a:defRPr>
            </a:pPr>
            <a:r>
              <a:t>ST: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03920" y="256032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Arial"/>
              </a:defRPr>
            </a:pPr>
            <a:r>
              <a:t>Use strength 'Brand Strength: score 75 (market avg 66)' t...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0" y="320040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C80000"/>
                </a:solidFill>
                <a:latin typeface="Arial"/>
              </a:defRPr>
            </a:pPr>
            <a:r>
              <a:t>WT: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03920" y="320040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Arial"/>
              </a:defRPr>
            </a:pPr>
            <a:r>
              <a:t>Mitigate weakness '5G coverage gap at only 0.0%' and defe...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SWOT analysis identifies 12 strengths, 3 weaknesses, 5 opportunities, and 5 threats. The recommended strategic posture is offensive (SO-dominant).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Arial"/>
              </a:defRPr>
            </a:pPr>
            <a:r>
              <a:t>05 Look at Opportunities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6576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DCDC"/>
                </a:solidFill>
                <a:latin typeface="Arial"/>
              </a:defRPr>
            </a:pPr>
            <a:r>
              <a:t>SPAN Matrix — Opportunity Selection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SPAN Matrix — Opportunity Positioning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OPPORTUNITY 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37</a:t>
            </a:r>
          </a:p>
        </p:txBody>
      </p:sp>
      <p:pic>
        <p:nvPicPr>
          <p:cNvPr id="6" name="Picture 5" descr="span_bubb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10515600" cy="438912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SPAN matrix positions 24 opportunities: 14 grow/invest, 3 acquire skills, 4 harvest, 3 avoid/exit. Focus resources on the 14 grow/invest items for maximum strategic impact.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Opportunity Priority Ranking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PRIORITIES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38</a:t>
            </a:r>
          </a:p>
        </p:txBody>
      </p:sp>
      <p:pic>
        <p:nvPicPr>
          <p:cNvPr id="6" name="Picture 5" descr="priority_tab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88720"/>
            <a:ext cx="10972800" cy="41148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SPAN matrix positions 24 opportunities: 14 grow/invest, 3 acquire skills, 4 harvest, 3 avoid/exit. Focus resources on the 14 grow/invest items for maximum strategic impact.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Opportunity Details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DEEP DIVE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39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80160"/>
            <a:ext cx="10972800" cy="91440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371600"/>
            <a:ext cx="457200" cy="3200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389888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t>P0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132588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3366"/>
                </a:solidFill>
                <a:latin typeface="Arial"/>
              </a:defRPr>
            </a:pPr>
            <a:r>
              <a:t>SO-1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1600200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Market: N/A | Window: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182880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Arial"/>
              </a:defRPr>
            </a:pPr>
            <a:r>
              <a:t>Leverage 'Brand Strength: score 75 (market avg 66)' to capture the opportunity of 'Regulatory Environment: Compliance requirements and spectrum policies directly affect tigo_panama'.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2331720"/>
            <a:ext cx="10972800" cy="91440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2423160"/>
            <a:ext cx="457200" cy="3200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2441448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t>P0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88720" y="23774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3366"/>
                </a:solidFill>
                <a:latin typeface="Arial"/>
              </a:defRPr>
            </a:pPr>
            <a:r>
              <a:t>SO-2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88720" y="2651760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Market: N/A | Window: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88720" y="288036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Arial"/>
              </a:defRPr>
            </a:pPr>
            <a:r>
              <a:t>Leverage 'Customer Service: score 70 (market avg 61)' to capture the opportunity of 'National Digital Strategy: Fiber/5G coverage mandates may require tigo_panama investment but also enable subsidy access'.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3383280"/>
            <a:ext cx="10972800" cy="91440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48640" y="3474720"/>
            <a:ext cx="457200" cy="3200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3493008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t>P0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88720" y="342900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3366"/>
                </a:solidFill>
                <a:latin typeface="Arial"/>
              </a:defRPr>
            </a:pPr>
            <a:r>
              <a:t>SO-3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88720" y="3703320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Market: N/A | Window: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88720" y="393192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Arial"/>
              </a:defRPr>
            </a:pPr>
            <a:r>
              <a:t>Leverage 'Digital Experience: score 70 (market avg 59)' to capture the opportunity of 'Tigo Panama revenue growth 8.1% YoY'.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4434840"/>
            <a:ext cx="10972800" cy="91440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48640" y="4526280"/>
            <a:ext cx="457200" cy="3200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48640" y="4544568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t>P0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88720" y="448056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3366"/>
                </a:solidFill>
                <a:latin typeface="Arial"/>
              </a:defRPr>
            </a:pPr>
            <a:r>
              <a:t>SO-4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88720" y="4754880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Market: N/A | Window: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88720" y="498348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Arial"/>
              </a:defRPr>
            </a:pPr>
            <a:r>
              <a:t>Leverage 'Distribution: score 78 (market avg 70)' to capture the opportunity of 'Digicel Panama revenue decline 7.0% YoY'.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SPAN matrix positions 24 opportunities: 14 grow/invest, 3 acquire skills, 4 harvest, 3 avoid/exit. Focus resources on the 14 grow/invest items for maximum strategic impact.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Arial"/>
              </a:defRPr>
            </a:pPr>
            <a:r>
              <a:t>Three Decisions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6576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DCDC"/>
                </a:solidFill>
                <a:latin typeface="Arial"/>
              </a:defRPr>
            </a:pPr>
            <a:r>
              <a:t>Strategy — Key Tasks — Execution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Decision 1: Define Strategy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OFFENSIVE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41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887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4682B4"/>
                </a:solidFill>
                <a:latin typeface="Arial"/>
              </a:defRPr>
            </a:pPr>
            <a:r>
              <a:t>As The Squeezed Middle: close the leadership gap with aggressive growth in high-momentum segments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920240"/>
            <a:ext cx="2743200" cy="32004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93192" y="1993392"/>
            <a:ext cx="411480" cy="256032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9768" y="2002536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FFFFF"/>
                </a:solidFill>
                <a:latin typeface="Arial"/>
              </a:defRPr>
            </a:pPr>
            <a:r>
              <a:t>P0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233172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33333"/>
                </a:solidFill>
                <a:latin typeface="Arial"/>
              </a:defRPr>
            </a:pPr>
            <a:r>
              <a:t>Growth Strategy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2697480"/>
            <a:ext cx="25603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C3E50"/>
                </a:solidFill>
                <a:latin typeface="Arial"/>
              </a:defRPr>
            </a:pPr>
            <a:r>
              <a:t>Close the gap to market leader — accelerate Mobile, Fixed Broadband, TV/Convergence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4023360"/>
            <a:ext cx="2560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7F8C8D"/>
                </a:solidFill>
                <a:latin typeface="Arial"/>
              </a:defRPr>
            </a:pPr>
            <a:r>
              <a:t>- Gain 1-2pp revenue share</a:t>
            </a:r>
            <a:br/>
            <a:r>
              <a:t>- Grow Mobile, Fixed Broadband, TV/Convergence double-digit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0" y="1920240"/>
            <a:ext cx="2743200" cy="3200400"/>
          </a:xfrm>
          <a:prstGeom prst="rect">
            <a:avLst/>
          </a:prstGeom>
          <a:solidFill>
            <a:srgbClr val="EB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273552" y="1993392"/>
            <a:ext cx="411480" cy="256032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310128" y="2002536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FFFFF"/>
                </a:solidFill>
                <a:latin typeface="Arial"/>
              </a:defRPr>
            </a:pPr>
            <a:r>
              <a:t>P0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91840" y="233172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33333"/>
                </a:solidFill>
                <a:latin typeface="Arial"/>
              </a:defRPr>
            </a:pPr>
            <a:r>
              <a:t>Competitive Strategy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91840" y="2697480"/>
            <a:ext cx="25603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C3E50"/>
                </a:solidFill>
                <a:latin typeface="Arial"/>
              </a:defRPr>
            </a:pPr>
            <a:r>
              <a:t>Capitalize on competitive strengths to gain market share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91840" y="4023360"/>
            <a:ext cx="2560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7F8C8D"/>
                </a:solidFill>
                <a:latin typeface="Arial"/>
              </a:defRPr>
            </a:pPr>
            <a:r>
              <a:t>- Outgrow competitors in key segments</a:t>
            </a:r>
            <a:br/>
            <a:r>
              <a:t>- Increase service differentiation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080760" y="1920240"/>
            <a:ext cx="2743200" cy="32004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153912" y="1993392"/>
            <a:ext cx="411480" cy="256032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190488" y="2002536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FFFFF"/>
                </a:solidFill>
                <a:latin typeface="Arial"/>
              </a:defRPr>
            </a:pPr>
            <a:r>
              <a:t>P1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72200" y="233172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33333"/>
                </a:solidFill>
                <a:latin typeface="Arial"/>
              </a:defRPr>
            </a:pPr>
            <a:r>
              <a:t>Transformation Strategy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72200" y="2697480"/>
            <a:ext cx="25603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C3E50"/>
                </a:solidFill>
                <a:latin typeface="Arial"/>
              </a:defRPr>
            </a:pPr>
            <a:r>
              <a:t>Accelerate fiber transition — converged network as competitive moat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72200" y="4023360"/>
            <a:ext cx="2560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7F8C8D"/>
                </a:solidFill>
                <a:latin typeface="Arial"/>
              </a:defRPr>
            </a:pPr>
            <a:r>
              <a:t>- Fiber homepass coverage +20%</a:t>
            </a:r>
            <a:br/>
            <a:r>
              <a:t>- FMC bundle attach rate 50%+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961120" y="1920240"/>
            <a:ext cx="2743200" cy="3200400"/>
          </a:xfrm>
          <a:prstGeom prst="rect">
            <a:avLst/>
          </a:prstGeom>
          <a:solidFill>
            <a:srgbClr val="EB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034272" y="1993392"/>
            <a:ext cx="411480" cy="256032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070848" y="2002536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FFFFF"/>
                </a:solidFill>
                <a:latin typeface="Arial"/>
              </a:defRPr>
            </a:pPr>
            <a:r>
              <a:t>P1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052560" y="233172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33333"/>
                </a:solidFill>
                <a:latin typeface="Arial"/>
              </a:defRPr>
            </a:pPr>
            <a:r>
              <a:t>Customer Strategy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052560" y="2697480"/>
            <a:ext cx="25603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C3E50"/>
                </a:solidFill>
                <a:latin typeface="Arial"/>
              </a:defRPr>
            </a:pPr>
            <a:r>
              <a:t>Optimize value extraction in stable segments: B2B, Wholesale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052560" y="4023360"/>
            <a:ext cx="2560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7F8C8D"/>
                </a:solidFill>
                <a:latin typeface="Arial"/>
              </a:defRPr>
            </a:pPr>
            <a:r>
              <a:t>- Upsell rate +10% in B2B, Wholesale</a:t>
            </a:r>
            <a:br/>
            <a:r>
              <a:t>- Cross-sell convergence bundles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As The Squeezed Middle, the strategic posture is Offensive. As The Squeezed Middle: close the leadership gap with aggres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Decision 2: Define Key Tasks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3 P0 (IMMEDIATE), 2 P1 (1-2 YEARS), 1 P2 (3-5 YEARS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42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371600"/>
            <a:ext cx="11338560" cy="548640"/>
          </a:xfrm>
          <a:prstGeom prst="rect">
            <a:avLst/>
          </a:prstGeom>
          <a:solidFill>
            <a:srgbClr val="FDED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508760"/>
            <a:ext cx="411480" cy="27432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84048" y="1517904"/>
            <a:ext cx="3840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FFFFF"/>
                </a:solidFill>
                <a:latin typeface="Arial"/>
              </a:defRPr>
            </a:pPr>
            <a:r>
              <a:t>P0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1517904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2980B9"/>
                </a:solidFill>
                <a:latin typeface="Arial"/>
              </a:defRPr>
            </a:pPr>
            <a:r>
              <a:t>Network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03120" y="1444752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C3E50"/>
                </a:solidFill>
                <a:latin typeface="Arial"/>
              </a:defRPr>
            </a:pPr>
            <a:r>
              <a:t>Accelerate Fixed Network Upgrade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03120" y="1691640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7F8C8D"/>
                </a:solidFill>
                <a:latin typeface="Arial"/>
              </a:defRPr>
            </a:pPr>
            <a:r>
              <a:t>Drive DOCSIS/Fiber rollout to increase homepass and improve quality scores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0" y="150876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66C73"/>
                </a:solidFill>
                <a:latin typeface="Arial"/>
              </a:defRPr>
            </a:pPr>
            <a:r>
              <a:t>Homepass coverage +15% | Speed tier upgrades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" y="1965960"/>
            <a:ext cx="11338560" cy="548640"/>
          </a:xfrm>
          <a:prstGeom prst="rect">
            <a:avLst/>
          </a:prstGeom>
          <a:solidFill>
            <a:srgbClr val="FDED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65760" y="2103120"/>
            <a:ext cx="411480" cy="27432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84048" y="2112264"/>
            <a:ext cx="3840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FFFFF"/>
                </a:solidFill>
                <a:latin typeface="Arial"/>
              </a:defRPr>
            </a:pPr>
            <a:r>
              <a:t>P0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2112264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27AE60"/>
                </a:solidFill>
                <a:latin typeface="Arial"/>
              </a:defRPr>
            </a:pPr>
            <a:r>
              <a:t>Business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103120" y="2039112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C3E50"/>
                </a:solidFill>
                <a:latin typeface="Arial"/>
              </a:defRPr>
            </a:pPr>
            <a:r>
              <a:t>Accelerate Mobile Growth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103120" y="2286000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7F8C8D"/>
                </a:solidFill>
                <a:latin typeface="Arial"/>
              </a:defRPr>
            </a:pPr>
            <a:r>
              <a:t>Mobile at €102M showing strong momentum — invest to scale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0" y="210312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66C73"/>
                </a:solidFill>
                <a:latin typeface="Arial"/>
              </a:defRPr>
            </a:pPr>
            <a:r>
              <a:t>Mobile revenue +10% YoY | Market share gain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4320" y="2560320"/>
            <a:ext cx="11338560" cy="548640"/>
          </a:xfrm>
          <a:prstGeom prst="rect">
            <a:avLst/>
          </a:prstGeom>
          <a:solidFill>
            <a:srgbClr val="FDED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65760" y="2697480"/>
            <a:ext cx="411480" cy="27432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84048" y="2706624"/>
            <a:ext cx="3840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FFFFF"/>
                </a:solidFill>
                <a:latin typeface="Arial"/>
              </a:defRPr>
            </a:pPr>
            <a:r>
              <a:t>P0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2706624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27AE60"/>
                </a:solidFill>
                <a:latin typeface="Arial"/>
              </a:defRPr>
            </a:pPr>
            <a:r>
              <a:t>Business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103120" y="2633472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C3E50"/>
                </a:solidFill>
                <a:latin typeface="Arial"/>
              </a:defRPr>
            </a:pPr>
            <a:r>
              <a:t>Accelerate Fixed Broadband Growth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103120" y="2880360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7F8C8D"/>
                </a:solidFill>
                <a:latin typeface="Arial"/>
              </a:defRPr>
            </a:pPr>
            <a:r>
              <a:t>Fixed Broadband at €43M showing strong momentum — invest to scale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0" y="269748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66C73"/>
                </a:solidFill>
                <a:latin typeface="Arial"/>
              </a:defRPr>
            </a:pPr>
            <a:r>
              <a:t>Fixed Broadband revenue +10% YoY | Market share gain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74320" y="3154680"/>
            <a:ext cx="11338560" cy="548640"/>
          </a:xfrm>
          <a:prstGeom prst="rect">
            <a:avLst/>
          </a:prstGeom>
          <a:solidFill>
            <a:srgbClr val="FEF5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365760" y="3291840"/>
            <a:ext cx="411480" cy="27432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84048" y="3300984"/>
            <a:ext cx="3840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FFFFF"/>
                </a:solidFill>
                <a:latin typeface="Arial"/>
              </a:defRPr>
            </a:pPr>
            <a:r>
              <a:t>P1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" y="3300984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27AE60"/>
                </a:solidFill>
                <a:latin typeface="Arial"/>
              </a:defRPr>
            </a:pPr>
            <a:r>
              <a:t>Business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103120" y="3227832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C3E50"/>
                </a:solidFill>
                <a:latin typeface="Arial"/>
              </a:defRPr>
            </a:pPr>
            <a:r>
              <a:t>Opportunity Portfolio Execution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103120" y="3474720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7F8C8D"/>
                </a:solidFill>
                <a:latin typeface="Arial"/>
              </a:defRPr>
            </a:pPr>
            <a:r>
              <a:t>14 grow/invest opportunities identified — establish execution office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15200" y="329184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66C73"/>
                </a:solidFill>
                <a:latin typeface="Arial"/>
              </a:defRPr>
            </a:pPr>
            <a:r>
              <a:t>Launch 3+ priority initiatives | Pipeline contribution tracking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74320" y="3749040"/>
            <a:ext cx="11338560" cy="548640"/>
          </a:xfrm>
          <a:prstGeom prst="rect">
            <a:avLst/>
          </a:prstGeom>
          <a:solidFill>
            <a:srgbClr val="FEF5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365760" y="3886200"/>
            <a:ext cx="411480" cy="27432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84048" y="3895344"/>
            <a:ext cx="3840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FFFFF"/>
                </a:solidFill>
                <a:latin typeface="Arial"/>
              </a:defRPr>
            </a:pPr>
            <a:r>
              <a:t>P1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14400" y="3895344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8E44AD"/>
                </a:solidFill>
                <a:latin typeface="Arial"/>
              </a:defRPr>
            </a:pPr>
            <a:r>
              <a:t>Customer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103120" y="3822192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C3E50"/>
                </a:solidFill>
                <a:latin typeface="Arial"/>
              </a:defRPr>
            </a:pPr>
            <a:r>
              <a:t>Customer Experience Enhancement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103120" y="4069080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7F8C8D"/>
                </a:solidFill>
                <a:latin typeface="Arial"/>
              </a:defRPr>
            </a:pPr>
            <a:r>
              <a:t>Improve digital touchpoints and service resolution to boost NPS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315200" y="388620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66C73"/>
                </a:solidFill>
                <a:latin typeface="Arial"/>
              </a:defRPr>
            </a:pPr>
            <a:r>
              <a:t>NPS +5 points | First-call resolution rate 80%+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74320" y="4343400"/>
            <a:ext cx="11338560" cy="548640"/>
          </a:xfrm>
          <a:prstGeom prst="rect">
            <a:avLst/>
          </a:prstGeom>
          <a:solidFill>
            <a:srgbClr val="EAFB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365760" y="4480560"/>
            <a:ext cx="411480" cy="27432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84048" y="4489704"/>
            <a:ext cx="3840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FFFFF"/>
                </a:solidFill>
                <a:latin typeface="Arial"/>
              </a:defRPr>
            </a:pPr>
            <a:r>
              <a:t>P2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14400" y="4489704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E67E22"/>
                </a:solidFill>
                <a:latin typeface="Arial"/>
              </a:defRPr>
            </a:pPr>
            <a:r>
              <a:t>Efficiency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103120" y="4416552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C3E50"/>
                </a:solidFill>
                <a:latin typeface="Arial"/>
              </a:defRPr>
            </a:pPr>
            <a:r>
              <a:t>Operational Efficiency &amp; Automation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103120" y="4663440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7F8C8D"/>
                </a:solidFill>
                <a:latin typeface="Arial"/>
              </a:defRPr>
            </a:pPr>
            <a:r>
              <a:t>EBITDA margin 43.5% — maintain through smart automation and resource reallocatio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315200" y="448056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66C73"/>
                </a:solidFill>
                <a:latin typeface="Arial"/>
              </a:defRPr>
            </a:pPr>
            <a:r>
              <a:t>Process automation 30%+ | Cost-to-serve reduction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6 critical tasks: 3 P0 (immediate), 2 P1 (1-2 years), 1 P2 (3-5 years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Decision 3: Define Execution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QUARTERLY ROADMAP &amp; GOVERNANCE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43</a:t>
            </a:r>
          </a:p>
        </p:txBody>
      </p:sp>
      <p:pic>
        <p:nvPicPr>
          <p:cNvPr id="6" name="Picture 5" descr="execution_tim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188720"/>
            <a:ext cx="11430000" cy="25603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40233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33333"/>
                </a:solidFill>
                <a:latin typeface="Arial"/>
              </a:defRPr>
            </a:pPr>
            <a:r>
              <a:t>Governance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38912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C3E50"/>
                </a:solidFill>
                <a:latin typeface="Arial"/>
              </a:defRPr>
            </a:pPr>
            <a:r>
              <a:t>- Monthly Progress Review (Monthly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75488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C3E50"/>
                </a:solidFill>
                <a:latin typeface="Arial"/>
              </a:defRPr>
            </a:pPr>
            <a:r>
              <a:t>- Quarterly Strategic Checkpoint (Quarterly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512064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C3E50"/>
                </a:solidFill>
                <a:latin typeface="Arial"/>
              </a:defRPr>
            </a:pPr>
            <a:r>
              <a:t>- Mid-Year Strategic Adjustment (Semi-annual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402336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C0392B"/>
                </a:solidFill>
                <a:latin typeface="Arial"/>
              </a:defRPr>
            </a:pPr>
            <a:r>
              <a:t>Strategic Traps to Avoid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438912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0392B"/>
                </a:solidFill>
                <a:latin typeface="Arial"/>
              </a:defRPr>
            </a:pPr>
            <a:r>
              <a:t>x Enter a price war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475488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0392B"/>
                </a:solidFill>
                <a:latin typeface="Arial"/>
              </a:defRPr>
            </a:pPr>
            <a:r>
              <a:t>x Attempt premium repositioning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512064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0392B"/>
                </a:solidFill>
                <a:latin typeface="Arial"/>
              </a:defRPr>
            </a:pPr>
            <a:r>
              <a:t>x Delay core transformation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530352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333333"/>
                </a:solidFill>
                <a:latin typeface="Arial"/>
              </a:defRPr>
            </a:pPr>
            <a:r>
              <a:t>Key Risks &amp; Mitigation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5623560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66C73"/>
                </a:solidFill>
                <a:latin typeface="Arial"/>
              </a:defRPr>
            </a:pPr>
            <a:r>
              <a:t>! Resource constraints delay P0 initiatives -- Ring-fence P0 budgets; establish escalation path for blockers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5897880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66C73"/>
                </a:solidFill>
                <a:latin typeface="Arial"/>
              </a:defRPr>
            </a:pPr>
            <a:r>
              <a:t>! Macro-economic slowdown reduces consumer spending -- Prepare value-tier offerings; shift mix toward B2B resilience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Execute with discipline: monthly reviews, quarterly checkpoints, annual refresh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Analysis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KEY TAKEAWAYS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44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80160"/>
            <a:ext cx="73152" cy="5486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298448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01 Trends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0" y="1298448"/>
            <a:ext cx="8686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Arial"/>
              </a:defRPr>
            </a:pPr>
            <a:r>
              <a:t>Macro environment: Favorable. Key opportunities: Regulatory Environment, National Digital Strategy. Key risks: Regulatory Environment, Fiber Broadband Penetration Industry is in late growth phase. (+2.4% YoY (CQ2_2025 -&gt; CQ4_2025)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920240"/>
            <a:ext cx="73152" cy="5486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938528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02 Market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26080" y="1938528"/>
            <a:ext cx="8686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Arial"/>
              </a:defRPr>
            </a:pPr>
            <a:r>
              <a:t>Panama telecom market totals USD 435.0M in quarterly revenue; competitive strengths in Availability; Market outlook is favorable with more opportunities than threats.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2560320"/>
            <a:ext cx="73152" cy="5486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2578608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03 Competition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26080" y="2578608"/>
            <a:ext cx="8686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Arial"/>
              </a:defRPr>
            </a:pPr>
            <a:r>
              <a:t>In a 3-player market with medium competition intensity, Claro Panama leads with 51% revenue share. Target operator holds 37% share. Strongest competitive force: Existing Competitors.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3200400"/>
            <a:ext cx="73152" cy="5486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3218688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04 Self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26080" y="3218688"/>
            <a:ext cx="8686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Arial"/>
              </a:defRPr>
            </a:pPr>
            <a:r>
              <a:t>Ranked #2 of 3 operators in market; revenue USD 161.0M; EBITDA margin 43.5%; stable but facing challenges; key strength: Brand Strength; key challenge: 5G coverage gap at only 0.0%; Management outlook: Panama mobile growth driven by data monetization in high-ARPU market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3840480"/>
            <a:ext cx="73152" cy="5486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3858768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SWOT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26080" y="3858768"/>
            <a:ext cx="8686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Arial"/>
              </a:defRPr>
            </a:pPr>
            <a:r>
              <a:t>SWOT analysis identifies 12 strengths, 3 weaknesses, 5 opportunities, and 5 threats. The recommended strategic posture is offensive (SO-dominant).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4480560"/>
            <a:ext cx="73152" cy="5486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4498848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05 Opportunities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926080" y="4498848"/>
            <a:ext cx="8686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Arial"/>
              </a:defRPr>
            </a:pPr>
            <a:r>
              <a:t>SPAN matrix positions 24 opportunities: 14 grow/invest, 3 acquire skills, 4 harvest, 3 avoid/exit. Focus resources on the 14 grow/invest items for maximum strategic impact.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Complete Five Looks analysis — see opportunity priorities for next steps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Data Provenance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SOURCES &amp; METHODOLOGY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45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8288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08080"/>
                </a:solidFill>
                <a:latin typeface="Arial"/>
              </a:defRPr>
            </a:pPr>
            <a:r>
              <a:t>No provenance data recorded for this analysis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All data points are traceable to original sources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0" y="22860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  <a:latin typeface="Arial"/>
              </a:defRPr>
            </a:pPr>
            <a: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36576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FFDCDC"/>
                </a:solidFill>
                <a:latin typeface="Arial"/>
              </a:defRPr>
            </a:pPr>
            <a:r>
              <a:t>BLM Five Looks Strategic Analysis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