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Play Pl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Poland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(+5.9%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Poland telecom market totals PLN 10.1B in quarterly revenue; competitive strengths in Availability, Performance; gaps in Assurances; Market presents a balanced mix of opportunities and challenges.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Orange Polska leads with 34% revenue share. Target operator holds 27%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PLN 2,730M; EBITDA margin 40.3%; overall healthy operations; key strength: Digital Experience; key challenge: Distribution; Management outlook: FY2024: Revenue PLN 10,190M (~EUR 2,398M). Q4 growth 3.2%. 13.3M mobile + 2.1M fixed subscribers. UPC Poland integration complete. PSO open access fiber JV operational.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5 strengths, 5 weaknesses, 3 opportunities, and 5 threats. The recommended strategic posture is cautious (WT-dominant).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23 opportunities: 6 grow/invest, 9 acquire skills, 4 harvest, 4 avoid/exit. Focus resources on the 6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PLN 10.1B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+5.9%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(Orange Polska: 34.2%, Play (Iliad Poland): 27.0%, T-Mobile Polska: 20.0%, Plus (Polkomtel / Cyfrowy Polsat): 18.8%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(+5.9%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(+5.9%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10,110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51,590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9,170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T-Mobile Polska revenue increase 5.2% QoQ (PLN 2,020M vs PLN 1,920M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Plus (Polkomtel / Cyfrowy Polsat) revenue increase 6.7% QoQ (PLN 1,900M vs PLN 1,780M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Polsat Plus Group leadership change — Solorz succession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Poland telecom market totals PLN 10.1B in quarterly revenue; competitive strengths in Availability, Performance; gaps in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Premium Convergent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True quad-play convergence (mobile + broadband + TV + fixed line), Reliable fiber broadband across smaller cities and rural areas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~20.7M subscribers | Trend: stable | Our Share: ~29%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Better mobile data allowances at competitive prices, Affordable unlimited mobile plans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Price-Sensitive / Prepaid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Low-cost prepaid connectivity, Flexible no-contract plans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Government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Private 5G networks for manufacturing and logistics, Cloud and cybersecurity managed services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Poland telecom market totals PLN 10.1B in quarterly revenue; competitive strengths in Availability, Performance; gaps in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Poland telecom market totals PLN 10.1B in quarterly revenue; competitive strengths in Availability, Performance; gaps in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Polsat Plus Group leadership change — Solorz succession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T-Mobile Polska revenue increase 5.2% QoQ (PLN 2,020M vs PLN 1,920M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Plus (Polkomtel / Cyfrowy Polsat) revenue increase 6.7% QoQ (PLN 1,900M vs PLN 1,780M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Poland telecom market totals PLN 10.1B in quarterly revenue; competitive strengths in Availability, Performance; gaps in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Orange Polska leads with 34% revenue share. Target operator holds 27%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Plus 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€1,900M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+2.4%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€674M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35.5%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78 (market avg 83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72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72 (market avg 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68 (market avg 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Market share expansion (investing for growth); ARPU-led value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Plus Pl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Tmobile 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€2,020M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+2.8%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€760M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37.6%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Tmobile Pl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Orange 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€3,460M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+1.9%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€1,130M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32.7%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88 (market avg 83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90 (market avg 69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82 (market avg 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65 (market avg 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focus; strong B2B/enterprise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Orange Pl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Orange Polska leads with 34% revenue share. Target operator holds 27% share. Strongest competitive force: Existing Competitors.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Play Pl vs Orange 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Orange Pl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€2,730M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+3.41%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€1,100M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+4.3%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40.3%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20.5%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CAGR: +5.6% | Accelerating Growth</a:t>
            </a:r>
          </a:p>
        </p:txBody>
      </p:sp>
      <p:pic>
        <p:nvPicPr>
          <p:cNvPr id="22" name="Picture 21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PLN 2,730M; EBITDA margin 40.3%; overall healthy operations; key strength: Digital Experience; key challenge: Distribution; Management outlook: FY2024: Revenue PLN 10,190M (~EUR 2,398M). Q4 growth 3.2%. 13.3M mobile + 2.1M fixed subscribers. UPC Poland integration complete. PSO open access fiber JV operational.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Share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REVENUE SHARE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Orange Polska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34.2%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-0.2pp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Play (Iliad Poland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27.0%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-0.2pp stable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T-Mobile Polska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20.0%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+0.1pp stable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Plus (Polkomtel / Cyfrowy Polsat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18.8% 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+0.3pp stable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Concentration: HHI 2,653 (Highly Concentrated) | CR3: 81.2% | Trend: Stable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Subscriber share: Mobile: 26.8% (+1.1pp) | Broadband: 24.5% (+1.5pp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share: 27.0% (#2); stable (-0.2pp); market is highly concentrated (HHI 2,653).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Momentum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MULTI-QUARTER TREND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+5.6%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Accelerating Growth (51/100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+8.1%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Accelerating Growth (50/100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+2.3%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Flat (49/100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Dominant momentum: Accelerating Growth — based on 3 KPI trend analyses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Broadband, B2B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€1,740M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€13,800M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€10,800M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Poland's #1 mobile operator with highest net adds. 5G rollout accelerating. Iliad Group procurement synergies reducing equipment costs. Play Box launched using Freebox technology platform.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FY2024: Revenue PLN 10,190M (~EUR 2,398M). Q4 growth 3.2%. 13.3M mobile + 2.1M fixed subscribers. UPC Poland integration complete. PSO open access fiber JV operational.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4.2%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1,740M; up 3.0% YoY; ARPU 34.5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€585M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€2,250M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50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FY2024: Revenue PLN 10,190M (~EUR 2,398M). Q4 growth 3.2%. 13.3M mobile + 2.1M fixed subscribers. UPC Poland integration complete. PSO open access fiber JV operational.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3.5%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2.3%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585.0M; growth +5.4% YoY; Fiber subs 830K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€205M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€143M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7.5%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10.8%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 increased 2.9%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205.0M; 7.5% of total revenue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€1,170M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1170K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Nokia/Ericsson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310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Nokia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Docsis: 3.1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Homepass K: 3200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Notes: UPC Poland cable integrated Aug 2023; PSO open fiber access JV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increasing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6,200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['Jean-Marc Harion (CEO, Play (P4))']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High-investment posture; Challenger culture reinforced by Iliad ownership. Dynamic and commercially aggressive. Engineering-focused. Digital-first operations.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Jean-Marc Harion: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85 (market avg 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82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40.3%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Top 2 in revenue market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78 (market avg 83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50 (market avg 69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 gap at only 45.0%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No owned fixed broadband infrastructure: Cannot offer true converged bundles without wholesale dependency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Iliad Group managing 3 markets (France, Italy, Poland) with different dynamics: Capital allocation competition between markets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PLN 2,730M; EBITDA margin 40.3%; overall healthy operations; key strength: Digital Experience; key challenge: Distribution; Management outlook: FY2024: Revenue PLN 10,190M (~EUR 2,398M). Q4 growth 3.2%. 13.3M mobile + 2.1M fixed subscribers. UPC Poland integration complete. PSO open access fiber JV operational.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85 (market avg 80)' t...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'Distribution: score 78 (market avg 83)'...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'Digital Experience: score 85 (market avg 80...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'Distribution: score 78 (market avg 83)...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5 strengths, 5 weaknesses, 3 opportunities, and 5 threats. The recommended strategic posture is cautious (WT-dominant).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6 grow/invest, 9 acquire skills, 4 harvest, 4 avoid/exit. Focus resources on the 6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6 grow/invest, 9 acquire skills, 4 harvest, 4 avoid/exit. Focus resources on the 6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85 (market avg 80)' to capture the opportunity of 'Regulatory Environment: Compliance requirements and spectrum policies directly affect play_pl'.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'Price Competitiveness: score 82 (market avg 72)' to capture the opportunity of 'National Digital Strategy: Fiber/5G coverage mandates may require play_pl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40.3%' to capture the opportunity of 'Polsat Plus Group leadership change — Solorz succession'.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Polsat Plus Group leadership change — Solorz succession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Polsat Plus Group leadership change — Solorz succession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6 grow/invest, 9 acquire skills, 4 harvest, 4 avoid/exit. Focus resources on the 6 grow/invest items for maximum strategic impact.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Squeezed Middle: stabilize core business, then selectively invest for turnaround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Close the gap to market leader — accelerate Mobile, Fixed Broadband,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Gain 1-2pp revenue share</a:t>
            </a:r>
            <a:br/>
            <a:r>
              <a:t>- Grow Mobile, Fixed Broadband, B2B double-digit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Shore up competitive position — address: Distribution: score 78 (market avg 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Close Distribution: score 78 (market avg 83) gap within 12 months</a:t>
            </a:r>
            <a:br/>
            <a:r>
              <a:t>- Reduce customer churn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TV/Convergence,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TV/Convergence,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Squeezed Middle, the strategic posture is Defensive. As The Squeezed Middle: stabilize core business, then select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3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€1,740M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€585M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5G Coverage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Expand 5G population coverage to strengthen mobile competitive 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5G pop coverage target | 5G attach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6 grow/invest opportunities identified — establish execution office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3776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507492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50840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0840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50109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5257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40.3% — maintain through smart automation and resource reallocatio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7 critical tasks: 3 P0 (immediate), 3 P1 (1-2 years), 1 P2 (3-5 years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(+5.9%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Poland telecom market totals PLN 10.1B in quarterly revenue; competitive strengths in Availability, Performance; gaps in Assurances; Market presents a balanced mix of opportunities and challenges.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Orange Polska leads with 34% revenue share. Target operator holds 27%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PLN 2,730M; EBITDA margin 40.3%; overall healthy operations; key strength: Digital Experience; key challenge: Distribution; Management outlook: FY2024: Revenue PLN 10,190M (~EUR 2,398M). Q4 growth 3.2%. 13.3M mobile + 2.1M fixed subscribers. UPC Poland integration complete. PSO open access fiber JV operational.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5 strengths, 5 weaknesses, 3 opportunities, and 5 threats. The recommended strategic posture is cautious (WT-dominant).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23 opportunities: 6 grow/invest, 9 acquire skills, 4 harvest, 4 avoid/exit. Focus resources on the 6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