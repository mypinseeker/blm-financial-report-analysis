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Salt 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Switzerland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(+2.0%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Swisscom leads with 67% revenue share. Target operator holds 8%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CHF 245.0M; EBITDA margin 58.8%; stable but facing challenges; key strength: Digital Experience; key challenge: Brand Strength; Management outlook: FY2024 revenue CHF 973.2M (+4.4%), operating EBITDA margin ~60%, among highest in Europe. Mobile postpaid base exceeds 1.7M. Salt Connect magazine network score 952/1000 ('outstanding').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5 strengths, 7 weaknesses, 3 opportunities, and 2 threats. The recommended strategic posture is improvement-focused (WO-dominant).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19 opportunities: 3 grow/invest, 11 acquire skills, 2 harvest, 3 avoid/exit. Focus resources on the 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CHF 3.1B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+2.0%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(Swisscom: 66.9%, Sunrise: 25.2%, Salt Mobile: 7.9%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(+2.0%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(+2.0%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11,580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3,530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Sunrise announces ~190 job cuts post-spin-off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Seamless quad-play convergence at competitive prices, True 10 Gbps fiber speeds delivered consistently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Value-Seeking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More affordable unlimited mobile plans, Better price-to-quality ratio vs EU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Digital-First / Young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eSIM and fully digital onboarding, Flexible SIM-only plans with no contract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SME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Private 5G networks for pharmaceutical and financial sectors, Cloud and cybersecurity managed services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Limited data to assess value migration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Sunrise announces ~190 job cuts post-spin-off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Swisscom leads with 67% revenue share. Target operator holds 8%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Sunrise 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€785M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€265M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33.8%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75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75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82 (market avg 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Sunrise 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Swisscom 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€935M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95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85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95 (market avg 81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95 (market avg 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45 (market avg 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Swisscom 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Swisscom leads with 67% revenue share. Target operator holds 8% share. Strongest competitive force: Substitutes.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Salt Ch vs Swisscom 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Swisscom 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€245M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+3.38%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€144M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+-2.7%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58.8%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18.0%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+5.0% | Decelerating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CHF 245.0M; EBITDA margin 58.8%; stable but facing challenges; key strength: Digital Experience; key challenge: Brand Strength; Management outlook: FY2024 revenue CHF 973.2M (+4.4%), operating EBITDA margin ~60%, among highest in Europe. Mobile postpaid base exceeds 1.7M. Salt Connect magazine network score 952/1000 ('outstanding').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Swisscom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66.9%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-0.2pp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Sunrise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25.2%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-0.1pp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Salt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7.9%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+0.3pp 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5,172 (Highly Concentrated) | CR3: 100.0% | Trend: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17.7% (+0.6pp) | Broadband: 7.5% (+2.0pp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7.9% (#3); stable (+0.3pp); market is highly concentrated (HHI 5,172).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+5.0%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(44/100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+2.5%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(28/100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-2.4%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Decline (35/100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Decelerating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 | Declining: B2B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€183M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€1,720M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declining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 revenue CHF 973.2M (+4.4%), operating EBITDA margin ~60%, among highest in Europe. Mobile postpaid base exceeds 1.7M. Salt Connect magazine network score 952/1000 ('outstanding').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183.0M; down 0.0% YoY; ARPU 38.5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26.7%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€265M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Salt Home broadband passed 250K subscribers in Q4 2024. Fixed service revenue growing 25%+ YoY. FTTH accessible to ~2.5M households via own-build + wholesale; targeting 3M by end 2025.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2.7%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6.0%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38.0M; growth +26.7% YoY; Fiber subs 265K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3.7%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9.0M; 3.7%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Nokia/Ericsson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280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Access: Own-build + Swiss Fibre Net wholesale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Band: 3500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decreasing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['Max Nunziata (CEO)', 'Franck Bernard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Challenger culture reinforced by NJJ/Niel ownership. Agile, commercially aggressive. Engineering-focused. Digital-first operations.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Max Nunziata: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Franck Bernard: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85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88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92 (market avg 69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58.8%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65 (market avg 81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45 (market avg 71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Limited owned fixed broadband infrastructure vs Swisscom: Cannot compete on equal terms in fiber broadband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Smallest mobile operator in a 3-player market: Scale disadvantage in procurement and content deals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CHF 245.0M; EBITDA margin 58.8%; stable but facing challenges; key strength: Digital Experience; key challenge: Brand Strength; Management outlook: FY2024 revenue CHF 973.2M (+4.4%), operating EBITDA margin ~60%, among highest in Europe. Mobile postpaid base exceeds 1.7M. Salt Connect magazine network score 952/1000 ('outstanding').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80)' 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65 (market avg 79...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'Digital Experience: score 85 (market avg 80...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65 (market avg 7...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5 strengths, 7 weaknesses, 3 opportunities, and 2 threats. The recommended strategic posture is improvement-focused (WO-dominant).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3 grow/invest, 11 acquire skills, 2 harvest, 3 avoid/exit. Focus resources on the 3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3 grow/invest, 11 acquire skills, 2 harvest, 3 avoid/exit. Focus resources on the 3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80)' to capture the opportunity of 'Regulatory Environment: Compliance requirements and spectrum policies directly affect salt_ch'.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88 (market avg 80)' to capture the opportunity of 'National Digital Strategy: Fiber/5G coverage mandates may require salt_ch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92 (market avg 69)' to capture the opportunity of 'Sunrise announces ~190 job cuts post-spin-off'.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Sunrise announces ~190 job cuts post-spin-off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Sunrise announces ~190 job cuts post-spin-off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3 grow/invest, 11 acquire skills, 2 harvest, 3 avoid/exit. Focus resources on the 3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Distant Third: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Fixed Broadband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Fixed Broadband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Brand Strength: score 65 (market avg 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Brand Strength: score 65 (market avg 79)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Mobile, B2B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Mobile, B2B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Distant Third, the strategic posture is Turnaround. As The Distant Third: stabilize core business, then selective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2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€38M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58.8% — maintain through smart automation and resource reallocatio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critical tasks: 2 P0 (immediate), 2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(+2.0%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Switzerland telecom market totals CHF 3,110M in quarterly revenue; competitive strengths in Availability, Performance;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Swisscom leads with 67% revenue share. Target operator holds 8%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CHF 245.0M; EBITDA margin 58.8%; stable but facing challenges; key strength: Digital Experience; key challenge: Brand Strength; Management outlook: FY2024 revenue CHF 973.2M (+4.4%), operating EBITDA margin ~60%, among highest in Europe. Mobile postpaid base exceeds 1.7M. Salt Connect magazine network score 952/1000 ('outstanding').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5 strengths, 7 weaknesses, 3 opportunities, and 2 threats. The recommended strategic posture is improvement-focused (WO-dominant).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19 opportunities: 3 grow/invest, 11 acquire skills, 2 harvest, 3 avoid/exit. Focus resources on the 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