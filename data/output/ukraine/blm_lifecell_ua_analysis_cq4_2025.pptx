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Default BLM Strategic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BLM (Business Leadership Model) Five Looks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Target 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Lifecell Ua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Ukraine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Analysis Period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CQ4_2025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Report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2026-02-15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46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  <a:latin typeface="Arial"/>
              </a:defRPr>
            </a:pPr>
            <a:r>
              <a:t>01 Trends (PEST) | 02 Market/Customer ($APPEALS) | 03 Competition (Porter) | 04 Self (BMC) | SWOT Synthesis | 05 Opportunities (SPAN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Report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TABLE OF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447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3898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45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Key findings and recommendations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01168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848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0299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Trends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2860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PEST Framework — macro environment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265176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249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6700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Market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926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$APPEALS — market changes &amp; customer needs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329184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3649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3101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Tariff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566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Pricing comparison — mobile, fixed &amp; convergence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393192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0050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9502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Competition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206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Porter's Five Forces — competitive landscape</a:t>
            </a:r>
          </a:p>
        </p:txBody>
      </p:sp>
      <p:sp>
        <p:nvSpPr>
          <p:cNvPr id="26" name="Oval 25"/>
          <p:cNvSpPr/>
          <p:nvPr/>
        </p:nvSpPr>
        <p:spPr>
          <a:xfrm>
            <a:off x="731520" y="457200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6451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5902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Self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8463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BMC + Capability — internal assessment</a:t>
            </a:r>
          </a:p>
        </p:txBody>
      </p:sp>
      <p:sp>
        <p:nvSpPr>
          <p:cNvPr id="30" name="Oval 29"/>
          <p:cNvSpPr/>
          <p:nvPr/>
        </p:nvSpPr>
        <p:spPr>
          <a:xfrm>
            <a:off x="731520" y="521208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2852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2303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SWOT Synthesis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54864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Strengths, Weaknesses, Opportunities, Threats</a:t>
            </a:r>
          </a:p>
        </p:txBody>
      </p:sp>
      <p:sp>
        <p:nvSpPr>
          <p:cNvPr id="34" name="Oval 33"/>
          <p:cNvSpPr/>
          <p:nvPr/>
        </p:nvSpPr>
        <p:spPr>
          <a:xfrm>
            <a:off x="731520" y="585216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9253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58704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Opportunities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6126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SPAN Matrix — opportunity selection</a:t>
            </a:r>
          </a:p>
        </p:txBody>
      </p:sp>
      <p:sp>
        <p:nvSpPr>
          <p:cNvPr id="38" name="Oval 37"/>
          <p:cNvSpPr/>
          <p:nvPr/>
        </p:nvSpPr>
        <p:spPr>
          <a:xfrm>
            <a:off x="731520" y="649224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65653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Summary &amp; Provenance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67665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Conclusions and data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Data Quality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DATA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Data 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High Confidence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148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Medium Confidence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Low/Estimated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260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Arial"/>
              </a:defRPr>
            </a:pPr>
            <a:r>
              <a:t>Unique Sources: 0</a:t>
            </a:r>
            <a:br/>
            <a:r>
              <a:t>Data Conflicts: 0</a:t>
            </a:r>
            <a:br/>
            <a:r>
              <a:t>Coverage: Partial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20 data points tracked, 0 high-confidence (0%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Trends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3716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Macro environment: Favorable. Key opportunities: Regulatory Environment, National Digital Strategy. Key risks: Regulatory Environment, War infrastructure damage: 4,300+ base stations destroyed since 2022 Industry is in late growth phase. (+6.5% YoY (CQ2_2025 -&gt; CQ4_2025)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Market/Customer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0116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Ukraine telecom market totals UAH 19.9B in quarterly revenue; gaps in Social/Brand; Market presents a balanced mix of opportunities and challenges.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6032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51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6517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In a 3-player market with medium competition intensity, Kyivstar leads with 49% revenue share. Target operator holds 19% share. Strongest competitive force: Existing Competitors.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0040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Self Assessment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32918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Ranked #3 of 3 operators in market; revenue UAH 3,800M; EBITDA margin 55.8%; stable but facing challenges; key strength: Price Competitiveness; key challenge: Brand Strength; Management outlook: FY2023 revenue UAH 11.7B (+24.4%), EBITDA UAH 6.81B (margin 58.2%), net profit UAH 2.57B. Mobile subs 9.9M (3-month active). ARPU UAH 110.9 (+21.2% YoY). FY2024 estimated ~UAH 14B.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4048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931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SWOT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39319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SWOT analysis identifies 3 strengths, 9 weaknesses, 4 opportunities, and 8 threats. The recommended strategic posture is cautious (WT-dominant).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48056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572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Opportunities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45720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SPAN matrix positions 23 opportunities: 2 grow/invest, 14 acquire skills, 3 harvest, 4 avoid/exit. Focus resources on the 2 grow/invest items for maximum strategic impact.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Five Looks analysis completed — see details in following sections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01 Look at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PEST Framework — Macro Environment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PEST Analysis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MACRO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6</a:t>
            </a:r>
          </a:p>
        </p:txBody>
      </p:sp>
      <p:pic>
        <p:nvPicPr>
          <p:cNvPr id="6" name="Picture 5" descr="pes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War infrastructure damage: 4,300+ base stations destroyed since 2022.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Industry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INDUSTRY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 Size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UAH 19.9B (quarterly, CQ4_2025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Growth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+6.5% YoY (CQ2_2025 -&gt; CQ4_2025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Concentration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CR4 = 100% (Kyivstar: 49.1%, Vodafone Ukraine: 31.8%, lifecell (DVL Group): 19.1%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Lifecycle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late_growth</a:t>
            </a:r>
          </a:p>
        </p:txBody>
      </p:sp>
      <p:pic>
        <p:nvPicPr>
          <p:cNvPr id="18" name="Picture 17" descr="pest_factor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651760"/>
            <a:ext cx="5486400" cy="28346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943600" y="265176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New Business Models: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FWA (Fixed Wireless Access) as fiber alternative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Network-as-a-Service for enterprise verticals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Wholesale/MVNO partnerships for coverage monetization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Technology Revolution: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5G SA enabling network slicing and enterprise services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AI/ML for network optimization and customer experience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Open RAN for vendor diversification and cost reduction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War infrastructure damage: 4,300+ base stations destroyed since 2022 Industry is in late growth phase. (+6.5% YoY (CQ2_2025 -&gt; CQ4_2025)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Value Transfer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VALUE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Value shifting from voice/SMS to data and digital services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B2B/ICT growing faster than consumer segment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Fiber displacing copper and cable broadband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War infrastructure damage: 4,300+ base stations destroyed since 2022 Industry is in late growth phase. (+6.5% YoY (CQ2_2025 -&gt; CQ4_2025)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02 Look at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$APPEALS — Market Changes &amp; Customer Needs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Market Change Panorama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MARKET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Revenue (€M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19,910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Mobile Subs (K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50,100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Broadband Subs (K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5,200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Operators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</a:t>
            </a:r>
          </a:p>
        </p:txBody>
      </p:sp>
      <p:pic>
        <p:nvPicPr>
          <p:cNvPr id="18" name="Picture 17" descr="marke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743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Market Changes: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0175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Kyivstar EBITDA margin improvement: 60.4% vs 57.3% (+3.1pp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Vodafone Ukraine revenue growth 9.3% YoY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lifecell (DVL Group) revenue increase 5.6% QoQ (UAH 3,800M vs UAH 3,600M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lifecell (DVL Group) revenue growth 24.6% YoY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Ukraine telecom market totals UAH 19.9B in quarterly revenue; gaps in Social/Brand; Market presents a balanced mix of opportunities and challenges.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Customer Segments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Consumer Urban Connected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Trend: stable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Reliable connectivity despite wartime infrastructure damage, Affordable converged fixed-mobile bundles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4884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Consumer Price-Sensitive / Prepaid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688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Trend: stable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5176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Ultra-affordable prepaid data connectivity, Resilient connectivity during power outages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1752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063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Consumer Displaced / Refugee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3756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Trend: stable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52044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Easy number portability and activation in new locations, Affordable roaming for those displaced abroad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8620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931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Enterprise &amp; Government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20624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Trend: stable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38912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Resilient communications infrastructure for businesses, Cloud and cybersecurity services (heightened need</a:t>
            </a:r>
          </a:p>
        </p:txBody>
      </p:sp>
      <p:pic>
        <p:nvPicPr>
          <p:cNvPr id="22" name="Picture 21" descr="appeals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188720"/>
            <a:ext cx="5029200" cy="438912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Ukraine telecom market totals UAH 19.9B in quarterly revenue; gaps in Social/Brand; Market presents a balanced mix of opportunities and challenges.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$APPEALS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CUSTOMER NEEDS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12</a:t>
            </a:r>
          </a:p>
        </p:txBody>
      </p:sp>
      <p:pic>
        <p:nvPicPr>
          <p:cNvPr id="6" name="Picture 5" descr="appeals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5156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Ukraine telecom market totals UAH 19.9B in quarterly revenue; gaps in Social/Brand; Market presents a balanced mix of opportunities and challenges.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Customer Value Migration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VALUE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Value migration trending upward: customers willing to pay more for premium connectivity and convergent bundles. Focus on upselling and cross-selling opportunities.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00"/>
                </a:solidFill>
                <a:latin typeface="Arial"/>
              </a:defRPr>
            </a:pPr>
            <a:r>
              <a:t>Opportunities: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lifecell (DVL Group) revenue increase 5.6% QoQ (UAH 3,800M vs UAH 3,600M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lifecell (DVL Group) revenue growth 24.6% YoY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200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80000"/>
                </a:solidFill>
                <a:latin typeface="Arial"/>
              </a:defRPr>
            </a:pPr>
            <a:r>
              <a:t>Threats: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34747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Kyivstar EBITDA margin improvement: 60.4% vs 57.3% (+3.1pp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Vodafone Ukraine revenue growth 9.3% YoY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Kyivstar lists on NASDAQ as KYIV — first Ukrainian company on US exchange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Ukraine telecom market totals UAH 19.9B in quarterly revenue; gaps in Social/Brand; Market presents a balanced mix of opportunities and challenges.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Tariff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Mobile, Fixed &amp; Convergence Pricing Landscape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Fixed &amp; Convergence Pricing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DSL / CABLE / FIBER / FMC BUNDLES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Fixed and convergence pricing overview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03 Look at 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Porter's Five Forces — Competitive Landscape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Porter's Five Forces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COMPETITIVE FORCES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17</a:t>
            </a:r>
          </a:p>
        </p:txBody>
      </p:sp>
      <p:pic>
        <p:nvPicPr>
          <p:cNvPr id="6" name="Picture 5" descr="porter_for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097280"/>
            <a:ext cx="640080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71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Overall Intensity: MEDIUM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In a 3-player market with medium competition intensity, Kyivstar leads with 49% revenue share. Target operator holds 19% share. Strongest competitive force: Existing Competitors.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Competitor Analysis: Vodafone Ua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COMPETITOR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€6,340M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+9.8%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€3,070M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48.4%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25.2%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Brand Strength: score 80 (market avg 75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Enterprise Solutions: score 70 (market avg 77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Strategy: Market share expansion (investing for growth); subscriber acquisition focus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Competitor analysis: Vodafone Ua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Competitor Analysis: Kyivstar Ua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COMPETITOR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€9,770M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+11.8%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€5,900M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60.4%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27.8%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Brand Strength: score 90 (market avg 75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 Service: score 80 (market avg 72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Digital Experience: score 82 (market avg 76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Distribution: score 92 (market avg 77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Price Competitiveness: score 65 (market avg 73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Strategy: Market share expansion (investing for growth); subscriber acquisition focus; strong B2B/enterprise push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Competitor analysis: Kyivstar Ua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Competitive Landscape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20</a:t>
            </a:r>
          </a:p>
        </p:txBody>
      </p:sp>
      <p:pic>
        <p:nvPicPr>
          <p:cNvPr id="6" name="Picture 5" descr="comp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In a 3-player market with medium competition intensity, Kyivstar leads with 49% revenue share. Target operator holds 19% share. Strongest competitive force: Existing Competitors.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Gap Analysis: Lifecell Ua vs Kyivstar Ua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COMPETITIVE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21</a:t>
            </a:r>
          </a:p>
        </p:txBody>
      </p:sp>
      <p:pic>
        <p:nvPicPr>
          <p:cNvPr id="6" name="Picture 5" descr="gap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Gap analysis vs market leader Kyivstar Ua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New Entrants Threat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MARKET ENTRY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Entry barriers: High barriers: spectrum licensing, massive capex for network build, regulatory approvals, established brand loyalty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New entrants threat level: low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04 Look at 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BMC + Capability Assessment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Operating Health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FINANCIAL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24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€3,800M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+24.59%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€2,120M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+18.4% YoY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 Margin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55.8%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19.7%</a:t>
            </a:r>
          </a:p>
        </p:txBody>
      </p:sp>
      <p:pic>
        <p:nvPicPr>
          <p:cNvPr id="20" name="Picture 19" descr="revenu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651760"/>
            <a:ext cx="5486400" cy="28346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65760" y="2286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CAGR: +24.2% | Accelerating Growth</a:t>
            </a:r>
          </a:p>
        </p:txBody>
      </p:sp>
      <p:pic>
        <p:nvPicPr>
          <p:cNvPr id="22" name="Picture 21" descr="revenue_break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651760"/>
            <a:ext cx="5760720" cy="283464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Ranked #3 of 3 operators in market; revenue UAH 3,800M; EBITDA margin 55.8%; stable but facing challenges; key strength: Price Competitiveness; key challenge: Brand Strength; Management outlook: FY2023 revenue UAH 11.7B (+24.4%), EBITDA UAH 6.81B (margin 58.2%), net profit UAH 2.57B. Mobile subs 9.9M (3-month active). ARPU UAH 110.9 (+21.2% YoY). FY2024 estimated ~UAH 14B.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Market Share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REVENUE SHARE TREND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74320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Kyivstar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49.1% #1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-0.9pp losing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371600"/>
            <a:ext cx="274320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Vodafone Ukraine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31.8% #2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1488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-1.5pp losing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371600"/>
            <a:ext cx="274320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lifecell (DVL Group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19.1% #3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1488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+2.4pp gaining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926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 Concentration: HHI 3,786 (Highly Concentrated) | CR3: 100.0% | Trend: Fragmenting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474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Subscriber share: Mobile: 20.0% (+0.5pp) | Broadband: 76.9% (-3.4pp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Revenue share: 19.1% (#3); gaining (+2.4pp); market is highly concentrated (HHI 3,786); fragmenting.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Momentum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MULTI-QUARTER TREND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743200" cy="1280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+24.2% CAGR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Accelerating Growth (54/100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371600"/>
            <a:ext cx="2743200" cy="1280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+20.9% CAGR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1488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Accelerating Growth (40/100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371600"/>
            <a:ext cx="2743200" cy="1280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-2.7% CAGR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1488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Accelerating Decline (39/100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Dominant momentum: Accelerating Growth — based on 3 KPI trend analyses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Revenue Composition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REVENUE MIX OVER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27</a:t>
            </a:r>
          </a:p>
        </p:txBody>
      </p:sp>
      <p:pic>
        <p:nvPicPr>
          <p:cNvPr id="6" name="Picture 5" descr="revenue_composition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0972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Growing: Mobile, Fixed Broadband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Revenue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COMPETITIVE BENCHMARKING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28</a:t>
            </a:r>
          </a:p>
        </p:txBody>
      </p:sp>
      <p:pic>
        <p:nvPicPr>
          <p:cNvPr id="6" name="Picture 5" descr="revenu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760720" cy="4389120"/>
          </a:xfrm>
          <a:prstGeom prst="rect">
            <a:avLst/>
          </a:prstGeom>
        </p:spPr>
      </p:pic>
      <p:pic>
        <p:nvPicPr>
          <p:cNvPr id="7" name="Picture 6" descr="margin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486400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Revenue and margin benchmarking across operators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29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€3,210M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23.9%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€10,000M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Postpaid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€2,850M</a:t>
            </a:r>
          </a:p>
        </p:txBody>
      </p:sp>
      <p:pic>
        <p:nvPicPr>
          <p:cNvPr id="18" name="Picture 17" descr="segment_0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STRONG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arpu: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FY2023 revenue UAH 11.7B (+24.4%), EBITDA UAH 6.81B (margin 58.2%), net profit UAH 2.57B. Mobile subs 9.9M (3-month active). ARPU UAH 110.9 (+21.2% YoY). FY2024 estimated ~UAH 14B.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 increased 5.6% QoQ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arpu increased 4.0% QoQ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Mobile service revenue at 3,210M; up 23.9% YoY; ARPU 130.0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Fixed Broadband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€390M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50.0%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€4,000M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Net Adds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30</a:t>
            </a:r>
          </a:p>
        </p:txBody>
      </p:sp>
      <p:pic>
        <p:nvPicPr>
          <p:cNvPr id="18" name="Picture 17" descr="segment_1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STRONG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arpu: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NJJ acquisition completed Sep 2024 for $524M. Merging with Datagroup-Volia (#1 fixed ISP, 4M HH). EBRD/IFC $435M financing secured. Plans: 10,000+ km fiber, 1,000+ new base stations. Creating Ukraine'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 increased 8.3% QoQ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Fixed service revenue 390.0M; growth +50.0% YoY; Fiber subs 1850K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B2B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€100M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Customers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86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Share Of Revenue Pct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2.6%</a:t>
            </a:r>
          </a:p>
        </p:txBody>
      </p:sp>
      <p:pic>
        <p:nvPicPr>
          <p:cNvPr id="18" name="Picture 17" descr="segment_2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customers: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customers increased 2.4% QoQ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B2B revenue 100.0M; 2.6% of total revenue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TV/Convergence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€1,250M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Net Adds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Fmc Total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fmc_subscribers: stable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TV subscribers 1250K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Network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33</a:t>
            </a:r>
          </a:p>
        </p:txBody>
      </p:sp>
      <p:pic>
        <p:nvPicPr>
          <p:cNvPr id="6" name="Picture 5" descr="coverage_gau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657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Technology Mix: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Mobile Vendor: Mixed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Spectrum Mhz: 110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Fixed Network: Datagroup-Volia fiber/cable ~4M HH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Base Stations On Fiber: 350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6576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rial"/>
              </a:defRPr>
            </a:pPr>
            <a:r>
              <a:t>Investment Direction: increasing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Network infrastructure and coverage assessment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Business Model Canvas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BMC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34</a:t>
            </a:r>
          </a:p>
        </p:txBody>
      </p:sp>
      <p:pic>
        <p:nvPicPr>
          <p:cNvPr id="6" name="Picture 5" descr="bmc_can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44805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Business model canvas overview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Organization &amp; Talent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PEOPLE &amp; CULTURE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Employees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5,100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 Suite 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Avg Tenure Years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1.5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Key Leaders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['Mykhailo Shelemba (CEO (DVL Group))']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651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Organization Culture: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718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Leadership in transition (avg tenure &lt;1.5 years); Transforming under Western ownership. Investment-focused despite wartime. Convergence-oriented. NJJ bringing Iliad Group operational know-how.</a:t>
            </a:r>
          </a:p>
        </p:txBody>
      </p:sp>
      <p:pic>
        <p:nvPicPr>
          <p:cNvPr id="20" name="Picture 19" descr="talent_s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651760"/>
            <a:ext cx="5486400" cy="27432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57200" y="4572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Leadership Changes: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846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Mykhailo Shelemba: (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Organization and talent assessment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Strengths, Weaknesses &amp; Exposure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SELF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Price Competitiveness: score 82 (market avg 73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Strong EBITDA margin at 55.8%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 on growth trajectory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Brand Strength: score 55 (market avg 75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 Service: score 65 (market avg 72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Digital Experience: score 70 (market avg 76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Distribution: score 60 (market avg 77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Network Coverage: score 65 (market avg 81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Network Quality: score 68 (market avg 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A500"/>
                </a:solidFill>
                <a:latin typeface="Arial"/>
              </a:defRPr>
            </a:pPr>
            <a:r>
              <a:t>Exposure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Active wartime environment with ongoing infrastructure damage: Network outages, tower destruction, power grid attacks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Smallest mobile operator integrating newly acquired Datagroup-Volia: Complex integration during wartime conditions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Ranked #3 of 3 operators in market; revenue UAH 3,800M; EBITDA margin 55.8%; stable but facing challenges; key strength: Price Competitiveness; key challenge: Brand Strength; Management outlook: FY2023 revenue UAH 11.7B (+24.4%), EBITDA UAH 6.81B (margin 58.2%), net profit UAH 2.57B. Mobile subs 9.9M (3-month active). ARPU UAH 110.9 (+21.2% YoY). FY2024 estimated ~UAH 14B.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SWOT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Strengths, Weaknesses, Opportunities &amp; Threats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SWOT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STRATEGIC 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38</a:t>
            </a:r>
          </a:p>
        </p:txBody>
      </p:sp>
      <p:pic>
        <p:nvPicPr>
          <p:cNvPr id="6" name="Picture 5" descr="swot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6858000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12801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8000"/>
                </a:solidFill>
                <a:latin typeface="Arial"/>
              </a:defRPr>
            </a:pPr>
            <a:r>
              <a:t>SO: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2801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Leverage 'Price Competitiveness: score 82 (market avg 73)...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920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682B4"/>
                </a:solidFill>
                <a:latin typeface="Arial"/>
              </a:defRPr>
            </a:pPr>
            <a:r>
              <a:t>WO: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9202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Address weakness 'Brand Strength: score 55 (market avg 75...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5603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A500"/>
                </a:solidFill>
                <a:latin typeface="Arial"/>
              </a:defRPr>
            </a:pPr>
            <a:r>
              <a:t>ST: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5603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Use strength 'Price Competitiveness: score 82 (market avg...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2004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80000"/>
                </a:solidFill>
                <a:latin typeface="Arial"/>
              </a:defRPr>
            </a:pPr>
            <a:r>
              <a:t>WT: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2004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Mitigate weakness 'Brand Strength: score 55 (market avg 7...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SWOT analysis identifies 3 strengths, 9 weaknesses, 4 opportunities, and 8 threats. The recommended strategic posture is cautious (WT-dominant).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05 Look at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SPAN Matrix — Opportunity Selection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SPAN Matrix — Opportunity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OPPORTUNITY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40</a:t>
            </a:r>
          </a:p>
        </p:txBody>
      </p:sp>
      <p:pic>
        <p:nvPicPr>
          <p:cNvPr id="6" name="Picture 5" descr="span_bub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05156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23 opportunities: 2 grow/invest, 14 acquire skills, 3 harvest, 4 avoid/exit. Focus resources on the 2 grow/invest items for maximum strategic impact.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Opportunity Priority Ranking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PRIORITIES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41</a:t>
            </a:r>
          </a:p>
        </p:txBody>
      </p:sp>
      <p:pic>
        <p:nvPicPr>
          <p:cNvPr id="6" name="Picture 5" descr="priority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23 opportunities: 2 grow/invest, 14 acquire skills, 3 harvest, 4 avoid/exit. Focus resources on the 2 grow/invest items for maximum strategic impact.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Opportunity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457200" cy="32004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898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325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SO-1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0020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'Price Competitiveness: score 82 (market avg 73)' to capture the opportunity of 'Regulatory Environment: Compliance requirements and spectrum policies directly affect lifecell_ua'.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3172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423160"/>
            <a:ext cx="457200" cy="32004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4414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377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SO-2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6517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880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'Strong EBITDA margin at 55.8%' to capture the opportunity of 'National Digital Strategy: Fiber/5G coverage mandates may require lifecell_ua investment but also enable subsidy access'.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8328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474720"/>
            <a:ext cx="457200" cy="32004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49300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429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SO-3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7033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931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'Revenue on growth trajectory' to capture the opportunity of 'lifecell (DVL Group) revenue increase 5.6% QoQ (UAH 3,800M vs UAH 3,600M)'.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43484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526280"/>
            <a:ext cx="457200" cy="32004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54456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480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lifecell (DVL Group) revenue increase 5.6% QoQ (UAH 3,800M vs UAH 3,600M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7548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4983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lifecell (DVL Group) revenue increase 5.6% QoQ (UAH 3,800M vs UAH 3,600M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23 opportunities: 2 grow/invest, 14 acquire skills, 3 harvest, 4 avoid/exit. Focus resources on the 2 grow/invest items for maximum strategic impact.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Three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Strategy — Key Tasks — Execution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Decision 1: Define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CAUTIOUS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682B4"/>
                </a:solidFill>
                <a:latin typeface="Arial"/>
              </a:defRPr>
            </a:pPr>
            <a:r>
              <a:t>As The Squeezed Middle: differentiate and grow through focused investment in competitive advantages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920240"/>
            <a:ext cx="2743200" cy="3200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93192" y="1993392"/>
            <a:ext cx="411480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Growth 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Focused growth in high-momentum segments: Mobile, Fixed Broadband, B2B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Grow Mobile, Fixed Broadband, B2B above market rate</a:t>
            </a:r>
            <a:br/>
            <a:r>
              <a:t>- Improve segment profitability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920240"/>
            <a:ext cx="2743200" cy="32004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73552" y="1993392"/>
            <a:ext cx="411480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1012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Competitive Strategy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Differentiate on quality and innovation to justify premium positioning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Improve NPS by 5 points</a:t>
            </a:r>
            <a:br/>
            <a:r>
              <a:t>- Launch 2+ differentiating services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1920240"/>
            <a:ext cx="2743200" cy="3200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53912" y="1993392"/>
            <a:ext cx="411480" cy="2560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048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Transformation 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Accelerate fiber transition — converged network as competitive moat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Fiber homepass coverage +20%</a:t>
            </a:r>
            <a:br/>
            <a:r>
              <a:t>- FMC bundle attach rate 50%+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61120" y="1920240"/>
            <a:ext cx="2743200" cy="32004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34272" y="1993392"/>
            <a:ext cx="411480" cy="2560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7084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Customer Strategy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Optimize value extraction in stable segments: TV/Convergence, Wholesale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Upsell rate +10% in TV/Convergence, Wholesale</a:t>
            </a:r>
            <a:br/>
            <a:r>
              <a:t>- Cross-sell convergence bundles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As The Squeezed Middle, the strategic posture is Cautious. As The Squeezed Middle: differentiate and grow through focuse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Decision 2: Define Key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3 P0 (IMMEDIATE), 1 P1 (1-2 YEARS), 1 P2 (3-5 YEARS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45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11338560" cy="54864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41148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51790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51790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980B9"/>
                </a:solidFill>
                <a:latin typeface="Arial"/>
              </a:defRPr>
            </a:pPr>
            <a:r>
              <a:t>Network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44475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Accelerate Fixed Network Upgrade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16916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Drive DOCSIS/Fiber rollout to increase homepass and improve quality scores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5087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Homepass coverage +15% | Speed tier upgrades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965960"/>
            <a:ext cx="11338560" cy="54864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103120"/>
            <a:ext cx="41148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211226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11226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  <a:latin typeface="Arial"/>
              </a:defRPr>
            </a:pPr>
            <a:r>
              <a:t>Business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203911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Accelerate Mobile Growth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22860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Mobile at €3,210M showing strong momentum — invest to 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103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Mobile revenue +10% YoY | Market share gain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560320"/>
            <a:ext cx="11338560" cy="54864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2697480"/>
            <a:ext cx="41148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270662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270662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  <a:latin typeface="Arial"/>
              </a:defRPr>
            </a:pPr>
            <a:r>
              <a:t>Business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263347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Accelerate Fixed Broadband Growth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28803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Fixed Broadband at €390M showing strong momentum — invest to scale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26974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Fixed Broadband revenue +10% YoY | Market share gain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154680"/>
            <a:ext cx="11338560" cy="548640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3291840"/>
            <a:ext cx="41148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" y="330098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330098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E44AD"/>
                </a:solidFill>
                <a:latin typeface="Arial"/>
              </a:defRPr>
            </a:pPr>
            <a:r>
              <a:t>Customer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20" y="322783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Customer Experience Enhancement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20" y="34747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Improve digital touchpoints and service resolution to boost NPS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32918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NPS +5 points | First-call resolution rate 80%+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749040"/>
            <a:ext cx="11338560" cy="548640"/>
          </a:xfrm>
          <a:prstGeom prst="rect">
            <a:avLst/>
          </a:prstGeom>
          <a:solidFill>
            <a:srgbClr val="EA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886200"/>
            <a:ext cx="411480" cy="274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389534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38953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67E22"/>
                </a:solidFill>
                <a:latin typeface="Arial"/>
              </a:defRPr>
            </a:pPr>
            <a:r>
              <a:t>Efficiency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03120" y="382219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Operational Efficiency &amp; Automation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03120" y="40690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EBITDA margin 55.8% — maintain through smart automation and resource reallocatio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3886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Process automation 30%+ | Cost-to-serve reduction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5 critical tasks: 3 P0 (immediate), 1 P1 (1-2 years), 1 P2 (3-5 years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Decision 3: Define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QUARTERLY ROADMAP &amp;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46</a:t>
            </a:r>
          </a:p>
        </p:txBody>
      </p:sp>
      <p:pic>
        <p:nvPicPr>
          <p:cNvPr id="6" name="Picture 5" descr="execution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430000" cy="2560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023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89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Arial"/>
              </a:defRPr>
            </a:pPr>
            <a:r>
              <a:t>- Monthly Progress Review (Monthly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Arial"/>
              </a:defRPr>
            </a:pPr>
            <a:r>
              <a:t>- Quarterly Strategic Checkpoint (Quarterly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Arial"/>
              </a:defRPr>
            </a:pPr>
            <a:r>
              <a:t>- Mid-Year Strategic Adjustment (Semi-annual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023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Arial"/>
              </a:defRPr>
            </a:pPr>
            <a:r>
              <a:t>Strategic Traps to Avoid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389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392B"/>
                </a:solidFill>
                <a:latin typeface="Arial"/>
              </a:defRPr>
            </a:pPr>
            <a:r>
              <a:t>x Enter a price war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754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392B"/>
                </a:solidFill>
                <a:latin typeface="Arial"/>
              </a:defRPr>
            </a:pPr>
            <a:r>
              <a:t>x Attempt premium repositioning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120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392B"/>
                </a:solidFill>
                <a:latin typeface="Arial"/>
              </a:defRPr>
            </a:pPr>
            <a:r>
              <a:t>x Delay core transformation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03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Arial"/>
              </a:defRPr>
            </a:pPr>
            <a:r>
              <a:t>Key Risks &amp; Mitigation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62356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! Resource constraints delay P0 initiatives -- Ring-fence P0 budgets; establish escalation path for blockers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8978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! Macro-economic slowdown reduces consumer spending -- Prepare value-tier offerings; shift mix toward B2B resilience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Execute with discipline: monthly reviews, quarterly checkpoints, annual refresh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Analysis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984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01 Trends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29844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Macro environment: Favorable. Key opportunities: Regulatory Environment, National Digital Strategy. Key risks: Regulatory Environment, War infrastructure damage: 4,300+ base stations destroyed since 2022 Industry is in late growth phase. (+6.5% YoY (CQ2_2025 -&gt; CQ4_2025)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385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02 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93852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Ukraine telecom market totals UAH 19.9B in quarterly revenue; gaps in Social/Brand; Market presents a balanced mix of opportunities and challenges.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6032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786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03 Competition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57860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In a 3-player market with medium competition intensity, Kyivstar leads with 49% revenue share. Target operator holds 19% share. Strongest competitive force: Existing Competitors.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0040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2186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04 Self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21868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Ranked #3 of 3 operators in market; revenue UAH 3,800M; EBITDA margin 55.8%; stable but facing challenges; key strength: Price Competitiveness; key challenge: Brand Strength; Management outlook: FY2023 revenue UAH 11.7B (+24.4%), EBITDA UAH 6.81B (margin 58.2%), net profit UAH 2.57B. Mobile subs 9.9M (3-month active). ARPU UAH 110.9 (+21.2% YoY). FY2024 estimated ~UAH 14B.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4048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8587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SWOT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85876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SWOT analysis identifies 3 strengths, 9 weaknesses, 4 opportunities, and 8 threats. The recommended strategic posture is cautious (WT-dominant).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48056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4988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05 Opportunities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49884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SPAN matrix positions 23 opportunities: 2 grow/invest, 14 acquire skills, 3 harvest, 4 avoid/exit. Focus resources on the 2 grow/invest items for maximum strategic impact.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Complete Five Looks analysis — see opportunity priorities for next steps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Data Provenance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SOURCES &amp;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  <a:latin typeface="Arial"/>
              </a:defRPr>
            </a:pPr>
            <a:r>
              <a:t>No provenance data recorded for this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All data points are traceable to original sources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DCDC"/>
                </a:solidFill>
                <a:latin typeface="Arial"/>
              </a:defRPr>
            </a:pPr>
            <a:r>
              <a:t>BLM Five Looks Strategic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