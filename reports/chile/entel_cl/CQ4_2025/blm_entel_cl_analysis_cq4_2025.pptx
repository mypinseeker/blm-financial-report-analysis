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Entel Cl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16 strengths, 2 weaknesses, 9 opportunities, and 10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23 opportunities: 21 grow/invest, 2 acquire skills, 0 harvest, 0 avoid/exit. Focus resources on the 21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CLP 1391.0B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+7.2%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(Entel Chile: 58.3%, Movistar Chile: 17.6%, WOM Chile: 13.3%, Claro Chile: 10.8%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late_growth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1,391,000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Postpaid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Trend: 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5G coverage and experiences, Premium convergent bundles (fiber+mobile+streaming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~10.2M subscribers | Trend: stable | Our Share: ~39%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mobile plans, Reliable home broadband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~8.3M subscribers | Trend: shrinking | Our Share: ~31%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Ultra-low-cost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~5K customers (top 5%) | Trend: growing | Our Share: ~39% of B2B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SD-WAN and multi-cloud solutions, Private 5G for mining and logistics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trending upward: customers willing to pay more for premium connectivity and convergent bundles. Focus on upselling and cross-selling opportunities.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FY2025: total revenue +4.2% to CLP 2.1T, mobile ARPU stable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Chilean peso strengthens 8% against USD, easing equipment costs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SUBTEL mandates infrastructure sharing for 5G deployment in rural areas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Threats: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Tigo Chile pivots to MVNO model, exits direct network investment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5000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6000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8000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12000 gap — cheapest WOM Chile, most expensive Entel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00"/>
                </a:solidFill>
                <a:latin typeface="Arial"/>
              </a:defRPr>
            </a:pPr>
            <a:r>
              <a:t>All mobile postpaid plans now include 5G — premium fully eroded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WOM Chile at EUR 212.38/GB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1000: EUR 24990/mo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500: EUR 18990/mo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200: EUR 13990/mo 200.0Mbps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1000: EUR 25990/mo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Movistar Chile Movistar Fibra 1000: EUR 27990/mo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Entel Chile Entel Fibra 1000: EUR 29990/mo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500: EUR 19990/mo 500.0Mbps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Premium: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Total: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Total: EUR 54990/mo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Duo: EUR 22990/mo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Duo: EUR 24990/mo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Hogar: EUR 27990/mo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Claro Chile ClaroVTR Pack Duo at EUR 22990/mo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Claro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€150,000M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€33,000M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6.0/100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6.0/100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Claro Cl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Tigo Chile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-18.0%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Tigo Chile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Wom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€185,000M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+6.8%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€37,000M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Wom Cl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Entel Cl vs Movistar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Movistar Cl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€811,000M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+15.86%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€243,000M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15.4%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€538,000M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€10,900M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538000.0M; up 6.2% YoY; ARPU 9500.0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€560M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128000.0M; growth +3.2% YoY; Fiber subs 440K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€66,000M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8.1%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66000.0M; growth +5.0% YoY; 8.1%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€220M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120K; FMC 220K; FMC penetration 39.3%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SA trial in Santiago, NSA commercial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1900: 30, 2100: 20, 2600: 40, 3500: 80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(5G NSA + SA trial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4200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increasing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80 (market avg 58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Quality: score 90 (market avg 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60 (market avg 70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 gap at only 65.0%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'Pricing Competitiveness: score 60 (mark...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'5G Deployment: score 80 (market avg 65)' to...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'Pricing Competitiveness: score 60 (mar...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16 strengths, 2 weaknesses, 9 opportunities, and 10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23 opportunities: 21 grow/invest, 2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23 opportunities: 21 grow/invest, 2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capture the opportunity of 'Regulatory Environment: Compliance requirements and spectrum policies directly affect entel_cl'.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90 (market avg 72)' to capture the opportunity of 'National Digital Strategy: Fiber/5G coverage mandates may require entel_cl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'Customer Service: score 80 (market avg 65)' to capture the opportunity of 'SUBTEL mandates infrastructure sharing for 5G deployment in rural areas: Potential impact on entel_cl'.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80 (market avg 58)' to capture the opportunity of 'Entel Chile revenue growth 15.9% YoY'.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23 opportunities: 21 grow/invest, 2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16 strengths, 2 weaknesses, 9 opportunities, and 10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23 opportunities: 21 grow/invest, 2 acquire skills, 0 harvest, 0 avoid/exit. Focus resources on the 21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