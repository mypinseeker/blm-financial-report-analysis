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Default BLM Strategic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(Business Leadership Model) Five Looks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Target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Entel Cl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Chile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Analysis 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CQ4_2025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2026-02-11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01 Trends (PEST) | 02 Market/Customer ($APPEALS) | 03 Competition (Porter) | 04 Self (BMC) | SWOT Synthesis | 05 Opportunities (SPAN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Report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9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Key findings and recommendations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029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86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24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700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26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649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101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566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Pricing comparison — mobile, fixed &amp; convergence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050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950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06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5902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Self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BMC + Capability — internal assessment</a:t>
            </a:r>
          </a:p>
        </p:txBody>
      </p:sp>
      <p:sp>
        <p:nvSpPr>
          <p:cNvPr id="30" name="Oval 29"/>
          <p:cNvSpPr/>
          <p:nvPr/>
        </p:nvSpPr>
        <p:spPr>
          <a:xfrm>
            <a:off x="731520" y="52120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0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4864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Strengths, Weaknesses, Opportunities, Threats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58521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253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8704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Opportunities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6126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  <p:sp>
        <p:nvSpPr>
          <p:cNvPr id="38" name="Oval 37"/>
          <p:cNvSpPr/>
          <p:nvPr/>
        </p:nvSpPr>
        <p:spPr>
          <a:xfrm>
            <a:off x="731520" y="64922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5653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65105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Summary &amp; Provenance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6766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Conclusions and data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Quality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DATA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Data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High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Medium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Low/Estimated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Arial"/>
              </a:defRPr>
            </a:pPr>
            <a:r>
              <a:t>Unique Sources: 0</a:t>
            </a:r>
            <a:br/>
            <a:r>
              <a:t>Data Conflicts: 0</a:t>
            </a:r>
            <a:br/>
            <a:r>
              <a:t>Coverage: 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19 data points tracked, 0 high-confidence (0%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371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Market/Customer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651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5-player market with medium competition intensity, Entel Chile leads with 58% revenue share. Target operator holds 58% share. Strongest competitive force: Existing Competitors.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#1 of 5 operators in market; revenue EUR 811000.0M; EBITDA margin 30.0%; overall healthy operations; key strength: 5G Deployment; key challenge: Pricing Competitiveness; Management outlook: FY2025 total revenue CLP 2.1T (+4.2% YoY). EBITDA margin improved to 32.8% (+0.7pp). Management reaffirms FY2026 guidanc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9319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18 strengths, 3 weaknesses, 9 opportunities, and 10 threats. The recommended strategic posture is offensive (SO-dominant).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24 opportunities: 21 grow/invest, 3 acquire skills, 0 harvest, 0 avoid/exit. Focus resources on the 21 grow/invest items for maximum strategic impact.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Five Looks analysis completed — see details in following sections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01 Look at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PEST Analysis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MACRO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6" name="Picture 5" descr="pes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Industry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INDUSTRY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CLP 1391.0B (quarterly, CQ4_2025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+7.2% YoY (CQ2_2025 -&gt; CQ4_2025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Concentration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CR4 = 100% (Entel Chile: 58.3%, Movistar Chile: 17.6%, WOM Chile: 13.3%, Claro Chile: 10.8%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late_growth</a:t>
            </a:r>
          </a:p>
        </p:txBody>
      </p:sp>
      <p:pic>
        <p:nvPicPr>
          <p:cNvPr id="18" name="Picture 17" descr="pest_factor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43600" y="26517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New Business Models: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FWA (Fixed Wireless Access) as fiber alternative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Network-as-a-Service for enterprise verticals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Wholesale/MVNO partnerships for coverage monetization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Technology Revolution: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5G SA enabling network slicing and enterprise services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AI/ML for network optimization and customer experience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Open RAN for vendor diversification and cost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Value Transfer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Value shifting from voice/SMS to data and digital services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B2B/ICT growing faster than consumer segment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Fiber displacing copper and cable broadband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02 Look at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Market Change 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Revenue (€M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1,391,000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 Subs (K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30,500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Broadband Subs (K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4,180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pic>
        <p:nvPicPr>
          <p:cNvPr id="18" name="Picture 17" descr="marke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743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Market Changes: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175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Entel Chile revenue growth 15.9%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Movistar Chile revenue growth 8.9%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WOM Chile revenue growth 6.9%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Claro Chile revenue growth 8.7% 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Postpaid Premium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Trend: 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5G coverage and experiences, Premium convergent bundles (fiber+mobile+streaming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Mainstream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~10.2M subscribers | Trend: stable | Our Share: ~39% of postpaid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Better value mobile plans, Reliable home broadband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Price-Sensitive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375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~8.3M subscribers | Trend: shrinking | Our Share: ~31% of prepaid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Ultra-low-cost data plans, No-contract flexibility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20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Enterprise Large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~5K customers (top 5%) | Trend: growing | Our Share: ~39% of B2B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SD-WAN and multi-cloud solutions, Private 5G for mining and logistics</a:t>
            </a:r>
          </a:p>
        </p:txBody>
      </p:sp>
      <p:pic>
        <p:nvPicPr>
          <p:cNvPr id="22" name="Picture 21" descr="appeal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029200" cy="438912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$APPEALS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CUSTOMER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6" name="Picture 5" descr="appeal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Value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Arial"/>
              </a:defRPr>
            </a:pPr>
            <a:r>
              <a:t>Value migration trending upward: customers willing to pay more for premium connectivity and convergent bundles. Focus on upselling and cross-selling opportunities.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Opportunities: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revenue growth 15.9%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FY2025: total revenue +4.2% to CLP 2.1T, mobile ARPU stable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Chilean peso strengthens 8% against USD, easing equipment costs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SUBTEL mandates infrastructure sharing for 5G deployment in rural areas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0000"/>
                </a:solidFill>
                <a:latin typeface="Arial"/>
              </a:defRPr>
            </a:pPr>
            <a:r>
              <a:t>Threats: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revenue growth 8.9%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WOM Chile revenue growth 6.9%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revenue growth 8.7%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Tigo Chile pivots to MVNO model, exits direct network investment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Mobile, Fixed &amp; Convergence Pricing Landscape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Mobile Postpaid Price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CROSS-OPERATOR TIER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15</a:t>
            </a:r>
          </a:p>
        </p:txBody>
      </p:sp>
      <p:pic>
        <p:nvPicPr>
          <p:cNvPr id="6" name="Picture 5" descr="tariff_mobile_post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Price Gaps: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S: EUR 5000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M: EUR 6000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L: EUR 8000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XL: EUR 12000 gap — cheapest WOM Chile, most expensive Entel Chile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postpaid tier comparison across all operators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EUR/GB Value Analysis &amp; 5G Premium Erosion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PRICING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16</a:t>
            </a:r>
          </a:p>
        </p:txBody>
      </p:sp>
      <p:pic>
        <p:nvPicPr>
          <p:cNvPr id="6" name="Picture 5" descr="tariff_eur_per_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432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8000"/>
                </a:solidFill>
                <a:latin typeface="Arial"/>
              </a:defRPr>
            </a:pPr>
            <a:r>
              <a:t>All mobile postpaid plans now include 5G — premium fully eroded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Best value: WOM Chile at EUR 212.38/GB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Price Evolution — Mobile Postpaid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H1_2023 TO H1_2026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6" name="Picture 5" descr="tariff_evoluti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Price evolution across 7 snapshots — H1_2023 to H1_2026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Fixed &amp; Convergence Pricing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DSL / CABLE / FIBER / FMC BUNDLES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Cable: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188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1000: EUR 24990/mo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500: EUR 18990/mo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200: EUR 13990/mo 200.0Mbps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Fiber: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331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Fibra 1000: EUR 25990/mo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Movistar Chile Movistar Fibra 1000: EUR 27990/mo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Entel Chile Entel Fibra 1000: EUR 29990/mo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Fibra 500: EUR 19990/mo 500.0Mbps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188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FMC Bundles: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5544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Entel Pack Premium: EUR 49990/mo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ClaroVTR Pack Total: EUR 49990/mo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Movistar Pack Total: EUR 54990/mo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ClaroVTR Pack Duo: EUR 22990/mo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Movistar Pack Duo: EUR 24990/mo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Entel Pack Hogar: EUR 27990/mo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Cheapest FMC bundle: Claro Chile ClaroVTR Pack Duo at EUR 22990/mo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03 Look at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Porter's Five 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20</a:t>
            </a:r>
          </a:p>
        </p:txBody>
      </p:sp>
      <p:pic>
        <p:nvPicPr>
          <p:cNvPr id="6" name="Picture 5" descr="porter_fo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4008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Overall Intensity: MEDIUM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5-player market with medium competition intensity, Entel Chile leads with 58% revenue share. Target operator holds 58% share. Strongest competitive force: Existing Competitors.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Claro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€150,000M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+2.2%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€33,000M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22.0%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6.0/100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6.0/100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Claro Cl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Tigo Chile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-18.0%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16.0%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6.4%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Tigo Chile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Wom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€185,000M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+6.8%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€37,000M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20.0%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15.1%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7.0/100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7.0/100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7.0/100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8.0/100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Wom Cl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Competitive Landscape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24</a:t>
            </a:r>
          </a:p>
        </p:txBody>
      </p:sp>
      <p:pic>
        <p:nvPicPr>
          <p:cNvPr id="6" name="Picture 5" descr="com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5-player market with medium competition intensity, Entel Chile leads with 58% revenue share. Target operator holds 58% share. Strongest competitive force: Existing Competitors.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Gap Analysis: Entel Cl vs Movistar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25</a:t>
            </a:r>
          </a:p>
        </p:txBody>
      </p:sp>
      <p:pic>
        <p:nvPicPr>
          <p:cNvPr id="6" name="Picture 5" descr="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Gap analysis vs market leader Movistar Cl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New Entrants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Entry barriers: High barriers: spectrum licensing, massive capex for network build, regulatory approvals, established brand loyalty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New entrants threat level: low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04 Look at 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BMC + Capability Assessment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Operating Health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FINANCIAL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€811,000M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+15.86%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€243,000M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+6.5% YoY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15.4%</a:t>
            </a:r>
          </a:p>
        </p:txBody>
      </p:sp>
      <p:pic>
        <p:nvPicPr>
          <p:cNvPr id="20" name="Picture 19" descr="revenu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pic>
        <p:nvPicPr>
          <p:cNvPr id="21" name="Picture 20" descr="revenu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651760"/>
            <a:ext cx="576072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#1 of 5 operators in market; revenue EUR 811000.0M; EBITDA margin 30.0%; overall healthy operations; key strength: 5G Deployment; key challenge: Pricing Competitiveness; Management outlook: FY2025 total revenue CLP 2.1T (+4.2% YoY). EBITDA margin improved to 32.8% (+0.7pp). Management reaffirms FY2026 guidanc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Revenue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29</a:t>
            </a:r>
          </a:p>
        </p:txBody>
      </p:sp>
      <p:pic>
        <p:nvPicPr>
          <p:cNvPr id="6" name="Picture 5" descr="revenu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marg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Revenue and margin benchmarking across operators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€538,000M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6.2%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€10,900M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Postpaid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€7,200M</a:t>
            </a:r>
          </a:p>
        </p:txBody>
      </p:sp>
      <p:pic>
        <p:nvPicPr>
          <p:cNvPr id="18" name="Picture 17" descr="segment_0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service revenue at EUR 538000.0M; up 6.2% YoY; ARPU EUR 9500.0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Fixed Broadband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€128,000M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3.2%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€560M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10</a:t>
            </a:r>
          </a:p>
        </p:txBody>
      </p:sp>
      <p:pic>
        <p:nvPicPr>
          <p:cNvPr id="18" name="Picture 17" descr="segment_1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Fixed service revenue EUR 128000.0M; growth +3.2% YoY; Fiber subs 440K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B2B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€66,000M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Customers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Share Of Revenue Pct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8.1%</a:t>
            </a:r>
          </a:p>
        </p:txBody>
      </p:sp>
      <p:pic>
        <p:nvPicPr>
          <p:cNvPr id="18" name="Picture 17" descr="segment_2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B2B revenue EUR 66000.0M; growth +5.0% YoY; 8.1% of total revenue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TV/Convergence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Fmc Total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€220M</a:t>
            </a:r>
          </a:p>
        </p:txBody>
      </p:sp>
      <p:pic>
        <p:nvPicPr>
          <p:cNvPr id="18" name="Picture 17" descr="segment_3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fmc_subscribers: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TV subscribers 120K; FMC 220K; FMC penetration 39.3%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Network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34</a:t>
            </a:r>
          </a:p>
        </p:txBody>
      </p:sp>
      <p:pic>
        <p:nvPicPr>
          <p:cNvPr id="6" name="Picture 5" descr="coverage_gau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Technology Mix: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Edge Nodes: 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Core Vendor: Ericsson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Sa Status: SA trial in Santiago, NSA commercial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Spectrum Mhz: 700: 20, 1900: 30, 2100: 20, 2600: 40, 3500: 80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Mobile Vendor: Ericsson (5G NSA + SA trial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Base Stations: 4200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Virtualization Pct: 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657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Investment Direction: increasing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Network infrastructure and coverage assessment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Business Model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BMC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35</a:t>
            </a:r>
          </a:p>
        </p:txBody>
      </p:sp>
      <p:pic>
        <p:nvPicPr>
          <p:cNvPr id="6" name="Picture 5" descr="bmc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480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Business model canvas overview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Organization &amp;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PEOPLE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Employees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5,400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Organization and talent assessment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Strengths, Weaknesses &amp; Exposure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score 80 (market avg 65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score 90 (market avg 72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score 80 (market avg 65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Enterprise Solutions: score 80 (market avg 58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score 90 (market avg 72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Quality: score 90 (market avg 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score 60 (market avg 70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pricing_competitiveness: score 60 (market avg 70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coverage gap at only 65.0%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  <a:latin typeface="Arial"/>
              </a:defRPr>
            </a:pPr>
            <a:r>
              <a:t>Exposure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#1 of 5 operators in market; revenue EUR 811000.0M; EBITDA margin 30.0%; overall healthy operations; key strength: 5G Deployment; key challenge: Pricing Competitiveness; Management outlook: FY2025 total revenue CLP 2.1T (+4.2% YoY). EBITDA margin improved to 32.8% (+0.7pp). Management reaffirms FY2026 guidanc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Strengths, Weaknesses, Opportunities &amp; Threats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SWOT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STRATEGIC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39</a:t>
            </a:r>
          </a:p>
        </p:txBody>
      </p:sp>
      <p:pic>
        <p:nvPicPr>
          <p:cNvPr id="6" name="Picture 5" descr="swo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85800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SO: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2801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Leverage '5G Deployment: score 80 (market avg 65)' to cap...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20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682B4"/>
                </a:solidFill>
                <a:latin typeface="Arial"/>
              </a:defRPr>
            </a:pPr>
            <a:r>
              <a:t>WO: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Address weakness 'Pricing Competitiveness: score 60 (mark...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603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A500"/>
                </a:solidFill>
                <a:latin typeface="Arial"/>
              </a:defRPr>
            </a:pPr>
            <a:r>
              <a:t>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Use strength '5G Deployment: score 80 (market avg 65)' to...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WT: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Mitigate weakness 'Pricing Competitiveness: score 60 (mar...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SWOT analysis identifies 18 strengths, 3 weaknesses, 9 opportunities, and 10 threats. The recommended strategic posture is offensive (SO-dominant).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05 Look at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SPAN Matrix — Opportunity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41</a:t>
            </a:r>
          </a:p>
        </p:txBody>
      </p:sp>
      <p:pic>
        <p:nvPicPr>
          <p:cNvPr id="6" name="Picture 5" descr="spa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24 opportunities: 21 grow/invest, 3 acquire skills, 0 harvest, 0 avoid/exit. Focus resources on the 21 grow/invest items for maximum strategic impact.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Priority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PRIORITIES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42</a:t>
            </a:r>
          </a:p>
        </p:txBody>
      </p:sp>
      <p:pic>
        <p:nvPicPr>
          <p:cNvPr id="6" name="Picture 5" descr="priorit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24 opportunities: 21 grow/invest, 3 acquire skills, 0 harvest, 0 avoid/exit. Focus resources on the 21 grow/invest items for maximum strategic impact.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6002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28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'5G Deployment: score 80 (market avg 65)' to capture the opportunity of 'Regulatory Environment: Compliance requirements and spectrum policies directly affect entel_cl'.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42316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377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6517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80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'Brand Strength: score 90 (market avg 72)' to capture the opportunity of 'National Digital Strategy: Fiber/5G coverage mandates may require entel_cl investment but also enable subsidy access'.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7472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930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033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931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'Customer Service: score 80 (market avg 65)' to capture the opportunity of 'SUBTEL mandates infrastructure sharing for 5G deployment in rural areas: Potential impact on entel_cl'.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3484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44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75488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983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'Enterprise Solutions: score 80 (market avg 58)' to capture the opportunity of 'Entel Chile revenue growth 15.9% YoY'.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24 opportunities: 21 grow/invest, 3 acquire skills, 0 harvest, 0 avoid/exit. Focus resources on the 21 grow/invest items for maximum strategic impact.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01 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2984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02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3852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786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03 Competition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57860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5-player market with medium competition intensity, Entel Chile leads with 58% revenue share. Target operator holds 58% share. Strongest competitive force: Existing Competitors.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186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04 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1868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#1 of 5 operators in market; revenue EUR 811000.0M; EBITDA margin 30.0%; overall healthy operations; key strength: 5G Deployment; key challenge: Pricing Competitiveness; Management outlook: FY2025 total revenue CLP 2.1T (+4.2% YoY). EBITDA margin improved to 32.8% (+0.7pp). Management reaffirms FY2026 guidanc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587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85876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18 strengths, 3 weaknesses, 9 opportunities, and 10 threats. The recommended strategic posture is offensive (SO-dominant).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05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988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05 Opportunities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4988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24 opportunities: 21 grow/invest, 3 acquire skills, 0 harvest, 0 avoid/exit. Focus resources on the 21 grow/invest items for maximum strategic impact.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Complete Five Looks analysis — see opportunity priorities for next steps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SOURCES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08080"/>
                </a:solidFill>
                <a:latin typeface="Arial"/>
              </a:defRPr>
            </a:pPr>
            <a:r>
              <a:t>No provenance data recorded for this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All data points are traceable to original sources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Five Looks Strategic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