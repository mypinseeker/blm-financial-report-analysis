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Default BLM Strategic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BLM (Business Leadership Model) Five Looks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200400"/>
            <a:ext cx="2651760" cy="1188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32918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Target Operator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5661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Arial"/>
              </a:defRPr>
            </a:pPr>
            <a:r>
              <a:t>Entel Cl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3200400"/>
            <a:ext cx="2651760" cy="1188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29000" y="32918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Market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35661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Arial"/>
              </a:defRPr>
            </a:pPr>
            <a:r>
              <a:t>Chile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3200400"/>
            <a:ext cx="2651760" cy="1188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32918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Analysis Period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35661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Arial"/>
              </a:defRPr>
            </a:pPr>
            <a:r>
              <a:t>CQ4_2025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0" y="3200400"/>
            <a:ext cx="2651760" cy="1188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280" y="32918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Report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280" y="35661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Arial"/>
              </a:defRPr>
            </a:pPr>
            <a:r>
              <a:t>2026-02-11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46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08080"/>
                </a:solidFill>
                <a:latin typeface="Arial"/>
              </a:defRPr>
            </a:pPr>
            <a:r>
              <a:t>01 Trends (PEST) | 02 Market/Customer ($APPEALS) | 03 Competition (Porter) | 04 Self (BMC) | SWOT Synthesis | 05 Opportunities (SPAN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Report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TABLE OF 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137160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4475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3898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Executive 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6459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Key findings and recommendations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201168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08483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02996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Look at Trends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2860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PEST Framework — macro environment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265176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72491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67004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Look at Market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926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$APPEALS — market changes &amp; customer needs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329184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36499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31012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Tariff Analysis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5661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Pricing comparison — mobile, fixed &amp; convergence</a:t>
            </a:r>
          </a:p>
        </p:txBody>
      </p:sp>
      <p:sp>
        <p:nvSpPr>
          <p:cNvPr id="22" name="Oval 21"/>
          <p:cNvSpPr/>
          <p:nvPr/>
        </p:nvSpPr>
        <p:spPr>
          <a:xfrm>
            <a:off x="731520" y="393192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00507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395020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Look at Competition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4206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Porter's Five Forces — competitive landscape</a:t>
            </a:r>
          </a:p>
        </p:txBody>
      </p:sp>
      <p:sp>
        <p:nvSpPr>
          <p:cNvPr id="26" name="Oval 25"/>
          <p:cNvSpPr/>
          <p:nvPr/>
        </p:nvSpPr>
        <p:spPr>
          <a:xfrm>
            <a:off x="731520" y="457200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64515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5902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Look at Self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48463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BMC + Capability — internal assessment</a:t>
            </a:r>
          </a:p>
        </p:txBody>
      </p:sp>
      <p:sp>
        <p:nvSpPr>
          <p:cNvPr id="30" name="Oval 29"/>
          <p:cNvSpPr/>
          <p:nvPr/>
        </p:nvSpPr>
        <p:spPr>
          <a:xfrm>
            <a:off x="731520" y="521208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28523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523036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SWOT Synthesis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54864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Strengths, Weaknesses, Opportunities, Threats</a:t>
            </a:r>
          </a:p>
        </p:txBody>
      </p:sp>
      <p:sp>
        <p:nvSpPr>
          <p:cNvPr id="34" name="Oval 33"/>
          <p:cNvSpPr/>
          <p:nvPr/>
        </p:nvSpPr>
        <p:spPr>
          <a:xfrm>
            <a:off x="731520" y="585216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592531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587044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Look at Opportunities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6126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SPAN Matrix — opportunity selection</a:t>
            </a:r>
          </a:p>
        </p:txBody>
      </p:sp>
      <p:sp>
        <p:nvSpPr>
          <p:cNvPr id="38" name="Oval 37"/>
          <p:cNvSpPr/>
          <p:nvPr/>
        </p:nvSpPr>
        <p:spPr>
          <a:xfrm>
            <a:off x="731520" y="649224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656539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71600" y="651052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Summary &amp; Provenance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71600" y="67665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Conclusions and data sources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Data Quality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DATA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63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Total Data Points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83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19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37160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463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High Confidence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783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21488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0000"/>
                </a:solidFill>
                <a:latin typeface="Arial"/>
              </a:defRPr>
            </a:pPr>
            <a:r>
              <a:t>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37160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1463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Medium Confidence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783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137160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3960" y="1463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Low/Estimated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1783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92608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Arial"/>
              </a:defRPr>
            </a:pPr>
            <a:r>
              <a:t>Unique Sources: 0</a:t>
            </a:r>
            <a:br/>
            <a:r>
              <a:t>Data Conflicts: 0</a:t>
            </a:r>
            <a:br/>
            <a:r>
              <a:t>Coverage: Partial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19 data points tracked, 0 high-confidence (0%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20116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Trends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13716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Macro environment: Favorable. Key opportunities: Regulatory Environment, National Digital Strategy. Key risks: Regulatory Environment, Fiber Broadband Penetration.. Industry is in late growth phase. (+7.2% YoY (CQ2_2025 -&gt; CQ4_2025)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920240"/>
            <a:ext cx="20116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Market/Customer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20116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German telecom market totals EUR 1391000.0M in quarterly revenue; entel_cl holds 58.3% market share; gaps in Price, Availability; Market presents a balanced mix of opportunities and challenges.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560320"/>
            <a:ext cx="20116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517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6517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In a 5-player market with medium competition intensity, Entel Chile leads with 58% revenue share. Target operator holds 58% share. Strongest competitive force: Existing Competitors.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00400"/>
            <a:ext cx="20116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18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Self Assessment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2918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Ranked #1 of 5 operators in market; revenue EUR 811000.0M; EBITDA margin 30.0%; overall healthy operations; key strength: Revenue on growth trajectory; key challenge: 5G coverage gap at only 65.0%; Management outlook: FY2025 total revenue CLP 2.1T (+4.2% YoY). EBITDA margin improved to 32.8% (+0.7pp). Management reaffirms FY2026 guidanc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40480"/>
            <a:ext cx="20116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931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SWOT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39319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SWOT analysis identifies 2 strengths, 2 weaknesses, 9 opportunities, and 10 threats. The recommended strategic posture is cautious (WT-dominant).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480560"/>
            <a:ext cx="20116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5720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Opportunities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0" y="45720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SPAN matrix positions 21 opportunities: 19 grow/invest, 2 acquire skills, 0 harvest, 0 avoid/exit. Focus resources on the 19 grow/invest items for maximum strategic impact.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Five Looks analysis completed — see details in following sections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01 Look at Trends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PEST Framework — Macro Environment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PEST Analysis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MACRO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6</a:t>
            </a:r>
          </a:p>
        </p:txBody>
      </p:sp>
      <p:pic>
        <p:nvPicPr>
          <p:cNvPr id="6" name="Picture 5" descr="pest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972800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Macro environment: Favorable. Key opportunities: Regulatory Environment, National Digital Strategy. Key risks: Regulatory Environment, Fiber Broadband Penetration.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Industry Environment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INDUSTRY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Market Size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EUR 1391.0B (quarterly, CQ4_2025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Growth 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+7.2% YoY (CQ2_2025 -&gt; CQ4_2025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Concentration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CR4 = 100% (Entel Chile: 58.3%, Movistar Chile: 17.6%, WOM Chile: 13.3%, Claro Chile: 10.8%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Lifecycle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late_growth</a:t>
            </a:r>
          </a:p>
        </p:txBody>
      </p:sp>
      <p:pic>
        <p:nvPicPr>
          <p:cNvPr id="18" name="Picture 17" descr="pest_factor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651760"/>
            <a:ext cx="5486400" cy="28346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943600" y="265176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New Business Models: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FWA (Fixed Wireless Access) as fiber alternative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Network-as-a-Service for enterprise verticals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Wholesale/MVNO partnerships for coverage monetization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Technology Revolution: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5G SA enabling network slicing and enterprise services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AI/ML for network optimization and customer experience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Open RAN for vendor diversification and cost reduction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Macro environment: Favorable. Key opportunities: Regulatory Environment, National Digital Strategy. Key risks: Regulatory Environment, Fiber Broadband Penetration.. Industry is in late growth phase. (+7.2% YoY (CQ2_2025 -&gt; CQ4_2025)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Value Transfer Trends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VALUE MIGRATION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• Value shifting from voice/SMS to data and digital services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• B2B/ICT growing faster than consumer segment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• Fiber displacing copper and cable broadband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Macro environment: Favorable. Key opportunities: Regulatory Environment, National Digital Strategy. Key risks: Regulatory Environment, Fiber Broadband Penetration.. Industry is in late growth phase. (+7.2% YoY (CQ2_2025 -&gt; CQ4_2025)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02 Look at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$APPEALS — Market Changes &amp; Customer Needs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Market Change Panorama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MARKET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Total Revenue (€M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1,391,000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Mobile Subs (K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30,500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Broadband Subs (K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4,180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Operators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5</a:t>
            </a:r>
          </a:p>
        </p:txBody>
      </p:sp>
      <p:pic>
        <p:nvPicPr>
          <p:cNvPr id="18" name="Picture 17" descr="market_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60320"/>
            <a:ext cx="5486400" cy="2926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27432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Market Changes: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0175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Entel Chile revenue growth 15.9% YoY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Movistar Chile revenue growth 8.9% YoY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WOM Chile revenue growth 6.9% YoY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Claro Chile revenue growth 8.7% YoY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German telecom market totals EUR 1391000.0M in quarterly revenue; entel_cl holds 58.3% market share; gaps in Price, Availability; Market presents a balanced mix of opportunities and challenges.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Customer Segments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5943600" cy="77724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Consumer Postpaid Premium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Trend: stable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Needs: 5G coverage and experiences, Premium convergent bundles (fiber+mobile+streaming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48840"/>
            <a:ext cx="5943600" cy="77724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1945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Consumer Mainstream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46888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Size: ~10.2M subscribers | Trend: stable | Our Share: ~39% of postpaid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5176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Needs: Better value mobile plans, Reliable home broadband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17520"/>
            <a:ext cx="5943600" cy="77724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0632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Consumer Price-Sensitive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33756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Size: ~8.3M subscribers | Trend: shrinking | Our Share: ~31% of prepaid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52044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Needs: Ultra-low-cost data plans, No-contract flexibility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200"/>
            <a:ext cx="5943600" cy="77724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9319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Enterprise Large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20624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Size: ~5K customers (top 5%) | Trend: growing | Our Share: ~39% of B2B base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38912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Needs: SD-WAN and multi-cloud solutions, Private 5G for mining and logistics</a:t>
            </a:r>
          </a:p>
        </p:txBody>
      </p:sp>
      <p:pic>
        <p:nvPicPr>
          <p:cNvPr id="22" name="Picture 21" descr="appeals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188720"/>
            <a:ext cx="5029200" cy="438912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German telecom market totals EUR 1391000.0M in quarterly revenue; entel_cl holds 58.3% market share; gaps in Price, Availability; Market presents a balanced mix of opportunities and challenges.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$APPEALS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CUSTOMER NEEDS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12</a:t>
            </a:r>
          </a:p>
        </p:txBody>
      </p:sp>
      <p:pic>
        <p:nvPicPr>
          <p:cNvPr id="6" name="Picture 5" descr="appeals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515600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German telecom market totals EUR 1391000.0M in quarterly revenue; entel_cl holds 58.3% market share; gaps in Price, Availability; Market presents a balanced mix of opportunities and challenges.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Customer Value Migration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VALUE MIGRATION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Arial"/>
              </a:defRPr>
            </a:pPr>
            <a:r>
              <a:t>Value migration trending upward: customers willing to pay more for premium connectivity and convergent bundles. Focus on upselling and cross-selling opportunities.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00"/>
                </a:solidFill>
                <a:latin typeface="Arial"/>
              </a:defRPr>
            </a:pPr>
            <a:r>
              <a:t>Opportunities: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747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Entel Chile revenue growth 15.9% YoY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Entel FY2025: total revenue +4.2% to CLP 2.1T, mobile ARPU stable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Chilean peso strengthens 8% against USD, easing equipment costs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SUBTEL mandates infrastructure sharing for 5G deployment in rural areas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32004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80000"/>
                </a:solidFill>
                <a:latin typeface="Arial"/>
              </a:defRPr>
            </a:pPr>
            <a:r>
              <a:t>Threats: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34747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Movistar Chile revenue growth 8.9% YoY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WOM Chile revenue growth 6.9% YoY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Claro Chile revenue growth 8.7% YoY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Tigo Chile pivots to MVNO model, exits direct network investment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German telecom market totals EUR 1391000.0M in quarterly revenue; entel_cl holds 58.3% market share; gaps in Price, Availability; Market presents a balanced mix of opportunities and challenges.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Tariff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Mobile, Fixed &amp; Convergence Pricing Landscape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Mobile Postpaid Price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CROSS-OPERATOR TIER BENCHMARKING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15</a:t>
            </a:r>
          </a:p>
        </p:txBody>
      </p:sp>
      <p:pic>
        <p:nvPicPr>
          <p:cNvPr id="6" name="Picture 5" descr="tariff_mobile_postpa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777240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1280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Price Gaps: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645920"/>
            <a:ext cx="3474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Tier S: EUR 5000 gap — cheapest WOM Chile, most expensive Entel Chile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Tier M: EUR 6000 gap — cheapest WOM Chile, most expensive Entel Chile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Tier L: EUR 8000 gap — cheapest WOM Chile, most expensive Entel Chile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Tier XL: EUR 12000 gap — cheapest WOM Chile, most expensive Entel Chile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Mobile postpaid tier comparison across all operators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EUR/GB Value Analysis &amp; 5G Premium Erosion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PRICING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16</a:t>
            </a:r>
          </a:p>
        </p:txBody>
      </p:sp>
      <p:pic>
        <p:nvPicPr>
          <p:cNvPr id="6" name="Picture 5" descr="tariff_eur_per_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576072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274320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8000"/>
                </a:solidFill>
                <a:latin typeface="Arial"/>
              </a:defRPr>
            </a:pPr>
            <a:r>
              <a:t>All mobile postpaid plans now include 5G — premium fully eroded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Best value: WOM Chile at EUR 212.38/GB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Price Evolution — Mobile Postpaid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H1_2023 TO H1_2026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17</a:t>
            </a:r>
          </a:p>
        </p:txBody>
      </p:sp>
      <p:pic>
        <p:nvPicPr>
          <p:cNvPr id="6" name="Picture 5" descr="tariff_evolution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Price evolution across 7 snapshots — H1_2023 to H1_2026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Fixed &amp; Convergence Pricing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DSL / CABLE / FIBER / FMC BUNDLES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3366"/>
                </a:solidFill>
                <a:latin typeface="Arial"/>
              </a:defRPr>
            </a:pPr>
            <a:r>
              <a:t>Cable: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11887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Claro Chile ClaroVTR Cable 1000: EUR 24990/mo 1000.0Mbps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Claro Chile ClaroVTR Cable 500: EUR 18990/mo 500.0Mbps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Claro Chile ClaroVTR Cable 200: EUR 13990/mo 200.0Mbps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31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3366"/>
                </a:solidFill>
                <a:latin typeface="Arial"/>
              </a:defRPr>
            </a:pPr>
            <a:r>
              <a:t>Fiber: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23317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Claro Chile ClaroVTR Fibra 1000: EUR 25990/mo 1000.0Mbps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Movistar Chile Movistar Fibra 1000: EUR 27990/mo 1000.0Mbps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Entel Chile Entel Fibra 1000: EUR 29990/mo 1000.0Mbps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Claro Chile ClaroVTR Fibra 500: EUR 19990/mo 500.0Mbps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18872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FMC Bundles: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1554480"/>
            <a:ext cx="4389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Entel Chile Entel Pack Premium: EUR 49990/mo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Claro Chile ClaroVTR Pack Total: EUR 49990/mo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Movistar Chile Movistar Pack Total: EUR 54990/mo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Claro Chile ClaroVTR Pack Duo: EUR 22990/mo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Movistar Chile Movistar Pack Duo: EUR 24990/mo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Entel Chile Entel Pack Hogar: EUR 27990/mo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Cheapest FMC bundle: Claro Chile ClaroVTR Pack Duo at EUR 22990/mo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03 Look at 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Porter's Five Forces — Competitive Landscape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Porter's Five Forces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COMPETITIVE FORCES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20</a:t>
            </a:r>
          </a:p>
        </p:txBody>
      </p:sp>
      <p:pic>
        <p:nvPicPr>
          <p:cNvPr id="6" name="Picture 5" descr="porter_for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97280"/>
            <a:ext cx="640080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71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Overall Intensity: MEDIUM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In a 5-player market with medium competition intensity, Entel Chile leads with 58% revenue share. Target operator holds 58% share. Strongest competitive force: Existing Competitors.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Competitor Analysis: Claro Cl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COMPETITOR 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€150,000M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57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8000"/>
                </a:solidFill>
                <a:latin typeface="Arial"/>
              </a:defRPr>
            </a:pPr>
            <a:r>
              <a:t>+2.2% YoY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EBITDA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€33,000M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Margin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22.0%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Capex/Rev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20.0%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560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000"/>
                </a:solidFill>
                <a:latin typeface="Arial"/>
              </a:defRPr>
            </a:pPr>
            <a:r>
              <a:t>Strengths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346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943600" y="2560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80000"/>
                </a:solidFill>
                <a:latin typeface="Arial"/>
              </a:defRPr>
            </a:pPr>
            <a:r>
              <a:t>Weaknesses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28346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5G Deployment: 5.0/100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Brand Strength: 6.0/100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Customer Service: 5.0/100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Digital Services: 6.0/100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Competitor analysis: Claro Cl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Competitor Analysis: Tigo Chile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COMPETITOR 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€12M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57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0000"/>
                </a:solidFill>
                <a:latin typeface="Arial"/>
              </a:defRPr>
            </a:pPr>
            <a:r>
              <a:t>-18.0% YoY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EBITDA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€2M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Margin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16.0%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Capex/Rev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6.4%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560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000"/>
                </a:solidFill>
                <a:latin typeface="Arial"/>
              </a:defRPr>
            </a:pPr>
            <a:r>
              <a:t>Strengths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346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943600" y="2560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80000"/>
                </a:solidFill>
                <a:latin typeface="Arial"/>
              </a:defRPr>
            </a:pPr>
            <a:r>
              <a:t>Weaknesses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28346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23" name="Rectangle 22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Competitor analysis: Tigo Chile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Competitor Analysis: Wom Cl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COMPETITOR 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€185,000M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57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8000"/>
                </a:solidFill>
                <a:latin typeface="Arial"/>
              </a:defRPr>
            </a:pPr>
            <a:r>
              <a:t>+6.8% YoY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EBITDA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€37,000M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Margin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20.0%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Capex/Rev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15.1%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560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000"/>
                </a:solidFill>
                <a:latin typeface="Arial"/>
              </a:defRPr>
            </a:pPr>
            <a:r>
              <a:t>Strengths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346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943600" y="2560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80000"/>
                </a:solidFill>
                <a:latin typeface="Arial"/>
              </a:defRPr>
            </a:pPr>
            <a:r>
              <a:t>Weaknesses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28346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5G Deployment: 7.0/100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Brand Strength: 7.0/100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Customer Service: 7.0/100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Digital Services: 8.0/100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Competitor analysis: Wom Cl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Competitive Landscape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24</a:t>
            </a:r>
          </a:p>
        </p:txBody>
      </p:sp>
      <p:pic>
        <p:nvPicPr>
          <p:cNvPr id="6" name="Picture 5" descr="comp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97280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In a 5-player market with medium competition intensity, Entel Chile leads with 58% revenue share. Target operator holds 58% share. Strongest competitive force: Existing Competitors.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Gap Analysis: Entel Cl vs Movistar Cl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COMPETITIVE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25</a:t>
            </a:r>
          </a:p>
        </p:txBody>
      </p:sp>
      <p:pic>
        <p:nvPicPr>
          <p:cNvPr id="6" name="Picture 5" descr="gap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972800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Gap analysis vs market leader Movistar Cl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New Entrants Threat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MARKET ENTRY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• Entry barriers: High barriers: spectrum licensing, massive capex for network build, regulatory approvals, established brand loyalty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New entrants threat level: low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04 Look at 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BMC + Capability Assessment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Operating Health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FINANCIAL 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28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€811,000M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57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8000"/>
                </a:solidFill>
                <a:latin typeface="Arial"/>
              </a:defRPr>
            </a:pPr>
            <a:r>
              <a:t>+15.86% YoY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EBITDA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€243,000M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2057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8000"/>
                </a:solidFill>
                <a:latin typeface="Arial"/>
              </a:defRPr>
            </a:pPr>
            <a:r>
              <a:t>+6.5% YoY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EBITDA Margin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30.0%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Capex/Rev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15.4%</a:t>
            </a:r>
          </a:p>
        </p:txBody>
      </p:sp>
      <p:pic>
        <p:nvPicPr>
          <p:cNvPr id="20" name="Picture 19" descr="revenue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651760"/>
            <a:ext cx="5486400" cy="2834640"/>
          </a:xfrm>
          <a:prstGeom prst="rect">
            <a:avLst/>
          </a:prstGeom>
        </p:spPr>
      </p:pic>
      <p:pic>
        <p:nvPicPr>
          <p:cNvPr id="21" name="Picture 20" descr="revenue_breakd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2651760"/>
            <a:ext cx="5760720" cy="283464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Ranked #1 of 5 operators in market; revenue EUR 811000.0M; EBITDA margin 30.0%; overall healthy operations; key strength: Revenue on growth trajectory; key challenge: 5G coverage gap at only 65.0%; Management outlook: FY2025 total revenue CLP 2.1T (+4.2% YoY). EBITDA margin improved to 32.8% (+0.7pp). Management reaffirms FY2026 guidanc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Revenue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COMPETITIVE BENCHMARKING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29</a:t>
            </a:r>
          </a:p>
        </p:txBody>
      </p:sp>
      <p:pic>
        <p:nvPicPr>
          <p:cNvPr id="6" name="Picture 5" descr="revenu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760720" cy="4389120"/>
          </a:xfrm>
          <a:prstGeom prst="rect">
            <a:avLst/>
          </a:prstGeom>
        </p:spPr>
      </p:pic>
      <p:pic>
        <p:nvPicPr>
          <p:cNvPr id="7" name="Picture 6" descr="margin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486400" cy="43891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Revenue and margin benchmarking across operators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Segment Analysis: Mobile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SEGMENT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Service 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€538,000M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Service Growth Pct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6.2%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Total 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€10,900M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Postpaid 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€7,200M</a:t>
            </a:r>
          </a:p>
        </p:txBody>
      </p:sp>
      <p:pic>
        <p:nvPicPr>
          <p:cNvPr id="18" name="Picture 17" descr="segment_0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60320"/>
            <a:ext cx="5486400" cy="2926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2560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Health: STRONG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9260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revenue: improving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subscribers: stable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arpu: improving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Mobile service revenue at EUR 538000.0M; up 6.2% YoY; ARPU EUR 9500.0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Segment Analysis: Fixed Broadband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SEGMENT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Service 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€128,000M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Service Growth Pct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3.2%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Total 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€560M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Net Adds 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10</a:t>
            </a:r>
          </a:p>
        </p:txBody>
      </p:sp>
      <p:pic>
        <p:nvPicPr>
          <p:cNvPr id="18" name="Picture 17" descr="segment_1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60320"/>
            <a:ext cx="5486400" cy="2926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2560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Health: STRONG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9260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revenue: improving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subscribers: improving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arpu: improving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Fixed service revenue EUR 128000.0M; growth +3.2% YoY; Fiber subs 440K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Segment Analysis: B2B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SEGMENT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€66,000M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Growth Pct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5.0%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Customers 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42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Share Of Revenue Pct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8.1%</a:t>
            </a:r>
          </a:p>
        </p:txBody>
      </p:sp>
      <p:pic>
        <p:nvPicPr>
          <p:cNvPr id="18" name="Picture 17" descr="segment_2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60320"/>
            <a:ext cx="5486400" cy="2926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2560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Health: STRONG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9260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revenue: improving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customers: improving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B2B revenue EUR 66000.0M; growth +5.0% YoY; 8.1% of total revenue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Segment Analysis: TV/Convergence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SEGMENT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€7,000M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Total 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€120M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Net Adds 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Fmc Total 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€220M</a:t>
            </a:r>
          </a:p>
        </p:txBody>
      </p:sp>
      <p:pic>
        <p:nvPicPr>
          <p:cNvPr id="18" name="Picture 17" descr="segment_3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60320"/>
            <a:ext cx="5486400" cy="2926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2560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Health: STRONG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9260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revenue: improving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subscribers: improving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fmc_subscribers: improving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TV subscribers 120K; FMC 220K; FMC penetration 39.3%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Network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INFRASTRUCTURE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34</a:t>
            </a:r>
          </a:p>
        </p:txBody>
      </p:sp>
      <p:pic>
        <p:nvPicPr>
          <p:cNvPr id="6" name="Picture 5" descr="coverage_gau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972800" cy="228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657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Technology Mix: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3192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Edge Nodes: 5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Core Vendor: Ericsson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5G Sa Status: SA trial in Santiago, NSA commercial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Spectrum Mhz: 700: 20, 1900: 30, 2100: 20, 2600: 40, 3500: 80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Mobile Vendor: Ericsson (5G NSA + SA trial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5G Base Stations: 4200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Virtualization Pct: 40%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365760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Arial"/>
              </a:defRPr>
            </a:pPr>
            <a:r>
              <a:t>Investment Direction: increasing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Network infrastructure and coverage assessment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Business Model Canvas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BMC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35</a:t>
            </a:r>
          </a:p>
        </p:txBody>
      </p:sp>
      <p:pic>
        <p:nvPicPr>
          <p:cNvPr id="6" name="Picture 5" descr="bmc_can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44805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Business model canvas overview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Organization &amp; Talent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PEOPLE &amp; CULTURE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Employees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5,400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Organization and talent assessment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Strengths, Weaknesses &amp; Exposure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SELF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000"/>
                </a:solidFill>
                <a:latin typeface="Arial"/>
              </a:defRPr>
            </a:pPr>
            <a:r>
              <a:t>Strengths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4592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Revenue on growth trajectory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Top 1 in revenue market ranking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280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80000"/>
                </a:solidFill>
                <a:latin typeface="Arial"/>
              </a:defRPr>
            </a:pPr>
            <a:r>
              <a:t>Weaknesses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164592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5G coverage gap at only 65.0%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1280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A500"/>
                </a:solidFill>
                <a:latin typeface="Arial"/>
              </a:defRPr>
            </a:pPr>
            <a:r>
              <a:t>Exposure Points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164592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Intensifying market competition: Pressure on margins and market share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Ranked #1 of 5 operators in market; revenue EUR 811000.0M; EBITDA margin 30.0%; overall healthy operations; key strength: Revenue on growth trajectory; key challenge: 5G coverage gap at only 65.0%; Management outlook: FY2025 total revenue CLP 2.1T (+4.2% YoY). EBITDA margin improved to 32.8% (+0.7pp). Management reaffirms FY2026 guidanc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SWOT 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Strengths, Weaknesses, Opportunities &amp; Threats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SWOT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STRATEGIC SYNTHESIS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39</a:t>
            </a:r>
          </a:p>
        </p:txBody>
      </p:sp>
      <p:pic>
        <p:nvPicPr>
          <p:cNvPr id="6" name="Picture 5" descr="swot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6858000" cy="4480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8000"/>
                </a:solidFill>
                <a:latin typeface="Arial"/>
              </a:defRPr>
            </a:pPr>
            <a:r>
              <a:t>SO: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2801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Leverage 'Revenue on growth trajectory' to capture the op...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9202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4682B4"/>
                </a:solidFill>
                <a:latin typeface="Arial"/>
              </a:defRPr>
            </a:pPr>
            <a:r>
              <a:t>WO: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9202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Address weakness '5G coverage gap at only 65.0%' to unloc...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5603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A500"/>
                </a:solidFill>
                <a:latin typeface="Arial"/>
              </a:defRPr>
            </a:pPr>
            <a:r>
              <a:t>ST: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5603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Use strength 'Revenue on growth trajectory' to counter th...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32004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80000"/>
                </a:solidFill>
                <a:latin typeface="Arial"/>
              </a:defRPr>
            </a:pPr>
            <a:r>
              <a:t>WT: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32004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Mitigate weakness '5G coverage gap at only 65.0%' and def...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SWOT analysis identifies 2 strengths, 2 weaknesses, 9 opportunities, and 10 threats. The recommended strategic posture is cautious (WT-dominant).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05 Look at Opportunities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SPAN Matrix — Opportunity Selection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SPAN Matrix — Opportunity Positioning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OPPORTUNITY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41</a:t>
            </a:r>
          </a:p>
        </p:txBody>
      </p:sp>
      <p:pic>
        <p:nvPicPr>
          <p:cNvPr id="6" name="Picture 5" descr="span_bub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0515600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SPAN matrix positions 21 opportunities: 19 grow/invest, 2 acquire skills, 0 harvest, 0 avoid/exit. Focus resources on the 19 grow/invest items for maximum strategic impact.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Opportunity Priority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PRIORITIES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42</a:t>
            </a:r>
          </a:p>
        </p:txBody>
      </p:sp>
      <p:pic>
        <p:nvPicPr>
          <p:cNvPr id="6" name="Picture 5" descr="priority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97280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SPAN matrix positions 21 opportunities: 19 grow/invest, 2 acquire skills, 0 harvest, 0 avoid/exit. Focus resources on the 19 grow/invest items for maximum strategic impact.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Opportunity Details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0972800" cy="9144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457200" cy="3200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8988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325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SO-1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6002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Market: N/A | Window: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828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Leverage 'Revenue on growth trajectory' to capture the opportunity of 'Regulatory Environment: Compliance requirements and spectrum policies directly affect entel_cl'.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31720"/>
            <a:ext cx="10972800" cy="9144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423160"/>
            <a:ext cx="457200" cy="3200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4414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3774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SO-2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6517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Market: N/A | Window: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880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Leverage 'Top 1 in revenue market ranking' to capture the opportunity of 'National Digital Strategy: Fiber/5G coverage mandates may require entel_cl investment but also enable subsidy access'.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383280"/>
            <a:ext cx="10972800" cy="9144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474720"/>
            <a:ext cx="457200" cy="3200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49300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4290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Entel Chile revenue growth 15.9% YoY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70332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Market: N/A | Window: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3931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Entel Chile revenue growth 15.9% YoY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434840"/>
            <a:ext cx="10972800" cy="9144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4526280"/>
            <a:ext cx="457200" cy="3200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54456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44805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Entel FY2025: total revenue +4.2% to CLP 2.1T, mobile ARPU 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475488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Market: N/A | Window: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4983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Entel FY2025: total revenue +4.2% to CLP 2.1T, mobile ARPU stable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SPAN matrix positions 21 opportunities: 19 grow/invest, 2 acquire skills, 0 harvest, 0 avoid/exit. Focus resources on the 19 grow/invest items for maximum strategic impact.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Analysis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44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73152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29844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01 Trends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129844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Macro environment: Favorable. Key opportunities: Regulatory Environment, National Digital Strategy. Key risks: Regulatory Environment, Fiber Broadband Penetration.. Industry is in late growth phase. (+7.2% YoY (CQ2_2025 -&gt; CQ4_2025)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20240"/>
            <a:ext cx="73152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9385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02 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193852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German telecom market totals EUR 1391000.0M in quarterly revenue; entel_cl holds 58.3% market share; gaps in Price, Availability; Market presents a balanced mix of opportunities and challenges.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560320"/>
            <a:ext cx="73152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57860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03 Competition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257860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In a 5-player market with medium competition intensity, Entel Chile leads with 58% revenue share. Target operator holds 58% share. Strongest competitive force: Existing Competitors.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200400"/>
            <a:ext cx="73152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21868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04 Self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321868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Ranked #1 of 5 operators in market; revenue EUR 811000.0M; EBITDA margin 30.0%; overall healthy operations; key strength: Revenue on growth trajectory; key challenge: 5G coverage gap at only 65.0%; Management outlook: FY2025 total revenue CLP 2.1T (+4.2% YoY). EBITDA margin improved to 32.8% (+0.7pp). Management reaffirms FY2026 guidanc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40480"/>
            <a:ext cx="73152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85876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SWOT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385876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SWOT analysis identifies 2 strengths, 2 weaknesses, 9 opportunities, and 10 threats. The recommended strategic posture is cautious (WT-dominant).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480560"/>
            <a:ext cx="73152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49884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05 Opportunities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449884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SPAN matrix positions 21 opportunities: 19 grow/invest, 2 acquire skills, 0 harvest, 0 avoid/exit. Focus resources on the 19 grow/invest items for maximum strategic impact.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Complete Five Looks analysis — see opportunity priorities for next steps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Data Provenance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SOURCES &amp;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08080"/>
                </a:solidFill>
                <a:latin typeface="Arial"/>
              </a:defRPr>
            </a:pPr>
            <a:r>
              <a:t>No provenance data recorded for this analysis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All data points are traceable to original sources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Arial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657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DCDC"/>
                </a:solidFill>
                <a:latin typeface="Arial"/>
              </a:defRPr>
            </a:pPr>
            <a:r>
              <a:t>BLM Five Looks Strategic Analysis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