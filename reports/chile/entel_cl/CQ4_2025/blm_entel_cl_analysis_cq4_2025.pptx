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Default BLM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(Business Leadership Model) Five Looks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Target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Entel Cl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Chile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Analysis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2026-02-12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01 Trends (PEST) | 02 Market/Customer ($APPEALS) | 03 Competition (Porter) | 04 Self (BMC) | SWOT Synthesis | 05 Opportunities (SPAN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Key findings and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Pricing comparison — mobile, fixed &amp; convergence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05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Competition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45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Self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BMC + Capability — internal assessment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85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Strengths, Weaknesses, Opportunities, Threats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8521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Opportunities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" y="64922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565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Summary &amp; Provenance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6766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Conclusions and data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Quality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Data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High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Medium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Low/Estimated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Unique Sources: 36</a:t>
            </a:r>
            <a:br/>
            <a:r>
              <a:t>Data Conflicts: 0</a:t>
            </a:r>
            <a:br/>
            <a:r>
              <a:t>Coverage: 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20 data points tracked, 0 high-confidence (0%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 Industry is in late growth phase. (+7.2% YoY (CQ2_2025 -&gt; CQ4_2025)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Market/Customer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Chile telecom market totals CLP 1.39T in quarterly revenue; competitive strengths in Availability, Performance; Market presents a balanced mix of opportunities and challenges.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651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5-player market with medium competition intensity, Entel Chile leads with 58% revenue share. Target operator holds 58% share. Strongest competitive force: Existing Competitors.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#1 of 5 operators in market; revenue CLP 811.0B; EBITDA margin 30.0%; overall healthy operations; key strength: 5G Deployment; key challenge: Pricing Competitiveness; Management outlook: FY2025 total revenue CLP 2.1T (+4.2% YoY). EBITDA margin improved to 32.8% (+0.7pp). Management reaffirms FY2026 guidance: revenue growth 4-5%, EBITDA margin 33-34%. Capex/revenue expected at 16-18% as 5G build-out phase peaks.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17 strengths, 5 weaknesses, 18 opportunities, and 16 threats. The recommended strategic posture is offensive (SO-dominant).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48 opportunities: 36 grow/invest, 4 acquire skills, 4 harvest, 4 avoid/exit. Focus resources on the 36 grow/invest items for maximum strategic impact.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Five Looks analysis completed — see details in following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Look at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MACRO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p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Industry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CLP 1.4T (quarterly, CQ4_2025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+7.2% YoY (CQ2_2025 -&gt; 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CR4 = 100% (Entel Chile: 58.3%, Movistar Chile: 17.6%, WOM Chile: 13.3%, Claro Chile: 10.8%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late_growth</a:t>
            </a:r>
          </a:p>
        </p:txBody>
      </p:sp>
      <p:pic>
        <p:nvPicPr>
          <p:cNvPr id="18" name="Picture 17" descr="pest_factor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0" y="2651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New Business Models: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FWA (Fixed Wireless Access) as fiber alternative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Network-as-a-Service for enterprise verticals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Wholesale/MVNO partnerships for coverage monetization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Technology Revolution: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5G SA enabling network slicing and enterprise services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AI/ML for network optimization and customer experience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Open RAN for vendor diversification and cost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 Industry is in late growth phase. (+7.2% YoY (CQ2_2025 -&gt; CQ4_2025)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Value Transfer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Value shifting from voice/SMS to data and digital services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B2B/ICT growing faster than consumer segment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Fiber displacing copper and cable broadband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 Industry is in late growth phase. (+7.2% YoY (CQ2_2025 -&gt; CQ4_2025)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Look at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Change 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 (€M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1,391,000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 (K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30,500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Subs (K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4,180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</a:t>
            </a:r>
          </a:p>
        </p:txBody>
      </p:sp>
      <p:pic>
        <p:nvPicPr>
          <p:cNvPr id="18" name="Picture 17" descr="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Market Changes: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Entel Chile revenue growth 15.9% YoY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Movistar Chile revenue growth 8.9% YoY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WOM Chile revenue growth 6.9% YoY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Claro Chile revenue growth 8.7%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Chile telecom market totals CLP 1.39T in quarterly revenue; competitive strengths in Availability, Performance; Market presents a balanced mix of opportunities and challenges.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Postpaid Premium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~2.8M subscribers | Trend: growing | Our Share: ~39% of postpaid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5G coverage and experiences, Premium convergent bundles (fiber+mobile+streaming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Mainstream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~10.2M subscribers | Trend: stable | Our Share: ~39% of postpaid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Better value mobile plans, Reliable home broadband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Price-Sensitive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~8.3M subscribers | Trend: shrinking | Our Share: ~31% of prepaid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Ultra-low-cost data plans, No-contract flexibility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Enterprise Large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~5K customers (top 5%) | Trend: growing | Our Share: ~39% of B2B 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SD-WAN and multi-cloud solutions, Private 5G for mining and logistics</a:t>
            </a:r>
          </a:p>
        </p:txBody>
      </p:sp>
      <p:pic>
        <p:nvPicPr>
          <p:cNvPr id="22" name="Picture 21" descr="appeal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5029200" cy="438912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Chile telecom market totals CLP 1.39T in quarterly revenue; competitive strengths in Availability, Performance; Market presents a balanced mix of opportunities and challenges.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$APPEALS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CUSTOMER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6" name="Picture 5" descr="appea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Chile telecom market totals CLP 1.39T in quarterly revenue; competitive strengths in Availability, Performance; Market presents a balanced mix of opportunities and challenges.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Value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Value migration trending upward: customers willing to pay more for premium connectivity and convergent bundles. Focus on upselling and cross-selling opportunities.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Entel Chile revenue growth 15.9%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Entel FY2025: total revenue +4.2% to CLP 2.1T, mobile ARPU stable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Chile telecom sector capex reaches $1.8B in 2025, highest ever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Chile GDP growth 2.8% in 2025, consumer spending up 3.5%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0000"/>
                </a:solidFill>
                <a:latin typeface="Arial"/>
              </a:defRPr>
            </a:pPr>
            <a:r>
              <a:t>Threats: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Movistar Chile revenue growth 8.9%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WOM Chile revenue growth 6.9%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Claro Chile revenue growth 8.7%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WOM Chile post-restructuring: aggressive pricing returns to market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Chile telecom market totals CLP 1.39T in quarterly revenue; competitive strengths in Availability, Performance; Market presents a balanced mix of opportunities and challenges.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Mobile, Fixed &amp; Convergence Pricing Landscape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Mobile Postpaid Price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CROSS-OPERATOR TIER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pic>
        <p:nvPicPr>
          <p:cNvPr id="6" name="Picture 5" descr="tariff_mobile_postpa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77240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Price Gaps: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64592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S: EUR 5000 gap — cheapest WOM Chile, most expensive Entel Chile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M: EUR 6000 gap — cheapest WOM Chile, most expensive Entel Chile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L: EUR 8000 gap — cheapest WOM Chile, most expensive Entel Chile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XL: EUR 12000 gap — cheapest WOM Chile, most expensive Entel Chile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postpaid tier comparison across all operators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EUR/GB Value Analysis &amp; 5G Premium Erosion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PRICING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16</a:t>
            </a:r>
          </a:p>
        </p:txBody>
      </p:sp>
      <p:pic>
        <p:nvPicPr>
          <p:cNvPr id="6" name="Picture 5" descr="tariff_eur_per_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576072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27432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8000"/>
                </a:solidFill>
                <a:latin typeface="Arial"/>
              </a:defRPr>
            </a:pPr>
            <a:r>
              <a:t>All mobile postpaid plans now include 5G — premium fully eroded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Best value: WOM Chile at EUR 212.38/GB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Price Evolution — Mobile Postpaid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H1_2023 TO H1_2026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6" name="Picture 5" descr="tariff_evolutio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Price evolution across 7 snapshots — H1_2023 to H1_2026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Fixed &amp; Convergence Pricing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DSL / CABLE / FIBER / FMC BUNDLES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  <a:latin typeface="Arial"/>
              </a:defRPr>
            </a:pPr>
            <a:r>
              <a:t>Cable: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188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Claro Chile ClaroVTR Cable 1000: EUR 24990/mo 1000.0Mbps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Claro Chile ClaroVTR Cable 500: EUR 18990/mo 500.0Mbps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Claro Chile ClaroVTR Cable 200: EUR 13990/mo 200.0Mbps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  <a:latin typeface="Arial"/>
              </a:defRPr>
            </a:pPr>
            <a:r>
              <a:t>Fiber: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331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Claro Chile ClaroVTR Fibra 1000: EUR 25990/mo 1000.0Mbps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Movistar Chile Movistar Fibra 1000: EUR 27990/mo 1000.0Mbps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Entel Chile Entel Fibra 1000: EUR 29990/mo 1000.0Mbps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Claro Chile ClaroVTR Fibra 500: EUR 19990/mo 500.0Mbps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188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FMC Bundles: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55448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Entel Chile Entel Pack Premium: EUR 49990/mo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Claro Chile ClaroVTR Pack Total: EUR 49990/mo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Movistar Chile Movistar Pack Total: EUR 54990/mo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Claro Chile ClaroVTR Pack Duo: EUR 22990/mo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Movistar Chile Movistar Pack Duo: EUR 24990/mo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Entel Chile Entel Pack Hogar: EUR 27990/mo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Cheapest FMC bundle: Claro Chile ClaroVTR Pack Duo at EUR 22990/mo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Look at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Porter's Five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pic>
        <p:nvPicPr>
          <p:cNvPr id="6" name="Picture 5" descr="porter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Overall Intensity: 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5-player market with medium competition intensity, Entel Chile leads with 58% revenue share. Target operator holds 58% share. Strongest competitive force: Existing Competitors.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Claro 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€150,000M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+2.2%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€33,000M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22.0%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score 70 (market avg 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Deployment: score 50 (market avg 56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60 (market avg 66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Experience: score 50 (market avg 65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50 (market avg 62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Revenue-led profitable growth; subscriber acquisition focus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Claro Cl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Tigo Chile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-18.0%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16.0%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6.4%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Deployment: score 20 (market avg 56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40 (market avg 66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50 (market avg 62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Services: score 50 (market avg 66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Defensive cost restructuring; ARPU-led value strategy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Tigo Chile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Wom 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€185,000M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+6.8%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€37,000M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15.1%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Deployment: score 70 (market avg 56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Experience: score 70 (market avg 65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70 (market avg 62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Capabilities: score 80 (market avg 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30 (market avg 56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Financial Strength: score 40 (market avg 65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Market Share: score 60 (market avg 68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score 50 (market avg 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Revenue-led profitable growth; subscriber acquisition focus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Wom Cl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Competitive Landscape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24</a:t>
            </a:r>
          </a:p>
        </p:txBody>
      </p:sp>
      <p:pic>
        <p:nvPicPr>
          <p:cNvPr id="6" name="Picture 5" descr="com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5-player market with medium competition intensity, Entel Chile leads with 58% revenue share. Target operator holds 58% share. Strongest competitive force: Existing Competitors.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Gap Analysis: Entel Cl vs Movistar 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pic>
        <p:nvPicPr>
          <p:cNvPr id="6" name="Picture 5" descr="ga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Gap analysis vs market leader Movistar Cl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New Entrants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Entry barriers: High barriers: spectrum licensing, massive capex for network build, regulatory approvals, established brand loyalty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New entrants threat level: low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Look at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BMC + Capability Assessment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Operating 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FINANCIAL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€811,000M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+15.86%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€243,000M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+6.5%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30.0%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15.4%</a:t>
            </a:r>
          </a:p>
        </p:txBody>
      </p:sp>
      <p:pic>
        <p:nvPicPr>
          <p:cNvPr id="20" name="Picture 19" descr="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pic>
        <p:nvPicPr>
          <p:cNvPr id="21" name="Picture 20" descr="revenu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51760"/>
            <a:ext cx="5760720" cy="28346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#1 of 5 operators in market; revenue CLP 811.0B; EBITDA margin 30.0%; overall healthy operations; key strength: 5G Deployment; key challenge: Pricing Competitiveness; Management outlook: FY2025 total revenue CLP 2.1T (+4.2% YoY). EBITDA margin improved to 32.8% (+0.7pp). Management reaffirms FY2026 guidance: revenue growth 4-5%, EBITDA margin 33-34%. Capex/revenue expected at 16-18% as 5G build-out phase peaks.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29</a:t>
            </a:r>
          </a:p>
        </p:txBody>
      </p:sp>
      <p:pic>
        <p:nvPicPr>
          <p:cNvPr id="6" name="Picture 5" descr="reven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4389120"/>
          </a:xfrm>
          <a:prstGeom prst="rect">
            <a:avLst/>
          </a:prstGeom>
        </p:spPr>
      </p:pic>
      <p:pic>
        <p:nvPicPr>
          <p:cNvPr id="7" name="Picture 6" descr="margi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and margin benchmarking across operators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€538,000M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6.2%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€10,900M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Postpaid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€7,200M</a:t>
            </a:r>
          </a:p>
        </p:txBody>
      </p:sp>
      <p:pic>
        <p:nvPicPr>
          <p:cNvPr id="18" name="Picture 17" descr="segment_0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EBITDA margin expanded 70bps to 32.8%. Opex-to-revenue improved to 67.2%. Operational efficiency program delivered CLP 45B savings. Energy costs down 8% via renewable energy contracts. Capex/revenue a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revenue grew 8.5% YoY driven by cloud (+22%), cybersecurity (+35%), and private 5G contracts with BHP and Codelco. B2B now 28% of total revenue. Won 3 new private 5G network contracts worth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Postpaid subscriber base grew 5.8% YoY to 5.1M. Blended mobile ARPU stable at CLP 8,200 despite WOM competition. Premium tier (&gt;CLP 25K) grew 12%, now 22% of postpaid base. 5G users reached 1.2M with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service revenue at 538.0B; up 6.2% YoY; ARPU 9500.0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Fixed Broadband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€128,000M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3.2%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€560M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10</a:t>
            </a:r>
          </a:p>
        </p:txBody>
      </p:sp>
      <p:pic>
        <p:nvPicPr>
          <p:cNvPr id="18" name="Picture 17" descr="segment_1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FTTH subscriber base reached 820K (+28% YoY). Copper-to-fiber migration 65% complete, full sunset targeted end-2027. Fiber ARPU 15% higher than legacy copper. Homes passed reached 2.8M. FMC penetratio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increased 3.2% QoQ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 increased 3.7%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service revenue 128.0B; growth +3.2% YoY; Fiber subs 440K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€66,000M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5.0%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Customers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Share Of Revenue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8.1%</a:t>
            </a:r>
          </a:p>
        </p:txBody>
      </p:sp>
      <p:pic>
        <p:nvPicPr>
          <p:cNvPr id="18" name="Picture 17" descr="segment_2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revenue grew 8.5% YoY driven by cloud (+22%), cybersecurity (+35%), and private 5G contracts with BHP and Codelco. B2B now 28% of total revenue. Won 3 new private 5G network contracts worth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SA network launched covering 45% population. Network slicing tested with 3 mining enterprise customers. 5G FWA serves 50K rural households. SUBTEL infrastructure sharing regulation is net positive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increased 3.1%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B2B revenue 66.0B; growth +5.0% YoY; 8.1% of total revenue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TV/Convergence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€7,000M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€120M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Fmc Total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€220M</a:t>
            </a:r>
          </a:p>
        </p:txBody>
      </p:sp>
      <p:pic>
        <p:nvPicPr>
          <p:cNvPr id="18" name="Picture 17" descr="segment_3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increased 7.7% QoQ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 increased 9.1% QoQ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 increased 4.8%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TV subscribers 120K; FMC 220K; FMC penetration 39.3%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34</a:t>
            </a:r>
          </a:p>
        </p:txBody>
      </p:sp>
      <p:pic>
        <p:nvPicPr>
          <p:cNvPr id="6" name="Picture 5" descr="coverage_gau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Technology Mix: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Edge Nodes: 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Core Vendor: Ericsson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Sa Status: SA trial in Santiago, NSA commercial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Spectrum Mhz: 700: 20, 1900: 30, 2100: 20, 2600: 40, 3500: 80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Vendor: Ericsson (5G NSA + SA trial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Base Stations: 4200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Virtualization Pct: 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Investment Direction: increasing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Network infrastructure and coverage assessment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BMC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35</a:t>
            </a:r>
          </a:p>
        </p:txBody>
      </p:sp>
      <p:pic>
        <p:nvPicPr>
          <p:cNvPr id="6" name="Picture 5" descr="bmc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Business model canvas overview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Organization &amp;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PEOPLE &amp;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5,400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 Suite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Avg Tenure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5.9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Key Leaders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['Antonio Büchi (CEO)', 'Emilio Novoa (CFO)', 'Carlos Zenteno (CTO)']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Organization Culture: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71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Stable leadership team (avg tenure &gt;3 years); Growth-oriented strategic posture; Innovation-led culture; strong engineering focus; premium brand DNA; long-tenured leadership team; Chilean market champion identity.</a:t>
            </a:r>
          </a:p>
        </p:txBody>
      </p:sp>
      <p:pic>
        <p:nvPicPr>
          <p:cNvPr id="20" name="Picture 19" descr="talent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651760"/>
            <a:ext cx="5486400" cy="2743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Leadership Changes: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Antonio Büchi: (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Emilio Novoa: (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Carlos Zenteno: (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Organization and talent assessment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Strengths, Weaknesses &amp; Exposure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Deployment: score 80 (market avg 56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90 (market avg 69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80 (market avg 62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Services: score 70 (market avg 66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80 (market avg 56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score 90 (market avg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Pricing Competitiveness: score 60 (market avg 69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coverage gap at only 65.0%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Arial"/>
              </a:defRPr>
            </a:pPr>
            <a:r>
              <a:t>Exposure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SA investment competing with established players: Capex pressure during 5G build-out phase (17-19% capex/revenue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WOM's post-restructuring competitive aggression: ARPU pressure in price-sensitive segments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Mining sector cyclicality affecting enterprise revenue: Enterprise segment (28% of revenue) exposed to commodity cycles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#1 of 5 operators in market; revenue CLP 811.0B; EBITDA margin 30.0%; overall healthy operations; key strength: 5G Deployment; key challenge: Pricing Competitiveness; Management outlook: FY2025 total revenue CLP 2.1T (+4.2% YoY). EBITDA margin improved to 32.8% (+0.7pp). Management reaffirms FY2026 guidance: revenue growth 4-5%, EBITDA margin 33-34%. Capex/revenue expected at 16-18% as 5G build-out phase peaks.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Strengths, Weaknesses, Opportunities &amp; Threats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STRATEGIC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39</a:t>
            </a:r>
          </a:p>
        </p:txBody>
      </p:sp>
      <p:pic>
        <p:nvPicPr>
          <p:cNvPr id="6" name="Picture 5" descr="sw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SO: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Leverage '5G Deployment: score 80 (market avg 56)' to cap...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2B4"/>
                </a:solidFill>
                <a:latin typeface="Arial"/>
              </a:defRPr>
            </a:pPr>
            <a:r>
              <a:t>WO: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Address weakness 'Pricing Competitiveness: score 60 (mark...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Use strength '5G Deployment: score 80 (market avg 56)' to...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WT: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Mitigate weakness 'Pricing Competitiveness: score 60 (mar...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SWOT analysis identifies 17 strengths, 5 weaknesses, 18 opportunities, and 16 threats. The recommended strategic posture is offensive (SO-dominant).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Look at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SPAN Matrix — Opportunity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41</a:t>
            </a:r>
          </a:p>
        </p:txBody>
      </p:sp>
      <p:pic>
        <p:nvPicPr>
          <p:cNvPr id="6" name="Picture 5" descr="spa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48 opportunities: 36 grow/invest, 4 acquire skills, 4 harvest, 4 avoid/exit. Focus resources on the 36 grow/invest items for maximum strategic impact.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Priority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42</a:t>
            </a:r>
          </a:p>
        </p:txBody>
      </p:sp>
      <p:pic>
        <p:nvPicPr>
          <p:cNvPr id="6" name="Picture 5" descr="priorit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48 opportunities: 36 grow/invest, 4 acquire skills, 4 harvest, 4 avoid/exit. Focus resources on the 36 grow/invest items for maximum strategic impact.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'5G Deployment: score 80 (market avg 56)' to capture the opportunity of 'Regulatory Environment: Compliance requirements and spectrum policies directly affect entel_cl'.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6517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'Brand Strength: score 90 (market avg 69)' to capture the opportunity of 'National Digital Strategy: Fiber/5G coverage mandates may require entel_cl investment but also enable subsidy access'.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03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'Customer Service: score 80 (market avg 62)' to capture the opportunity of 'SUBTEL approves 700 MHz refarming for 5G rural broadband: SUBTEL approves 700 MHz refarming for 5G rural broadband: may create new market access or subsidy opportunities for entel_cl'.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44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'Digital Services: score 70 (market avg 66)' to capture the opportunity of 'SUBTEL mandates infrastructure sharing for 5G deployment in rural areas: SUBTEL mandates infrastructure sharing for 5G deployment in rural areas: may create new market access or subsidy opportunities for entel_cl'.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48 opportunities: 36 grow/invest, 4 acquire skills, 4 harvest, 4 avoid/exit. Focus resources on the 36 grow/invest items for maximum strategic impact.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01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984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 Industry is in late growth phase. (+7.2% YoY (CQ2_2025 -&gt; CQ4_2025)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02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Chile telecom market totals CLP 1.39T in quarterly revenue; competitive strengths in Availability, Performance; Market presents a balanced mix of opportunities and challenges.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03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786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5-player market with medium competition intensity, Entel Chile leads with 58% revenue share. Target operator holds 58% share. Strongest competitive force: Existing Competitors.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04 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18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#1 of 5 operators in market; revenue CLP 811.0B; EBITDA margin 30.0%; overall healthy operations; key strength: 5G Deployment; key challenge: Pricing Competitiveness; Management outlook: FY2025 total revenue CLP 2.1T (+4.2% YoY). EBITDA margin improved to 32.8% (+0.7pp). Management reaffirms FY2026 guidance: revenue growth 4-5%, EBITDA margin 33-34%. Capex/revenue expected at 16-18% as 5G build-out phase peaks.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587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17 strengths, 5 weaknesses, 18 opportunities, and 16 threats. The recommended strategic posture is offensive (SO-dominant).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98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05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98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48 opportunities: 36 grow/invest, 4 acquire skills, 4 harvest, 4 avoid/exit. Focus resources on the 36 grow/invest items for maximum strategic impact.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Complete Five Looks analysis — see opportunity priorities for next steps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SOURCES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All data points are traceable to original sources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Five Looks Strategic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