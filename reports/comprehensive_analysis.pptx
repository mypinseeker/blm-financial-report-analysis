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AA0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德国电信市场综合分析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FFC8C8"/>
                </a:solidFill>
              </a:defRPr>
            </a:pPr>
            <a:r>
              <a:t>Germany Telecom Market Comprehensive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931920"/>
            <a:ext cx="4572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DCDC"/>
                </a:solidFill>
              </a:defRPr>
            </a:pPr>
            <a:r>
              <a:t>8季度趋势分析 | 经营/业务/战略/网络/资费全维度</a:t>
            </a:r>
            <a:br/>
            <a:r>
              <a:t>数据范围: Q4 FY24 - Q3 FY26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C8C8"/>
                </a:solidFill>
              </a:defRPr>
            </a:pPr>
            <a:r>
              <a:t>2026年2月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AA0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108960"/>
            <a:ext cx="4572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经营层面分析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FFC8C8"/>
                </a:solidFill>
              </a:defRPr>
            </a:pPr>
            <a:r>
              <a:t>Operating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收入规模对比分析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6666"/>
                </a:solidFill>
              </a:defRPr>
            </a:pPr>
            <a:r>
              <a:t>Revenue Scale Comparison (8 Quarters)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C7000B"/>
                </a:solidFill>
              </a:defRPr>
            </a:pPr>
            <a:r>
              <a:t>3</a:t>
            </a:r>
          </a:p>
        </p:txBody>
      </p:sp>
      <p:pic>
        <p:nvPicPr>
          <p:cNvPr id="6" name="Picture 5" descr="revenue_total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669280" cy="2560320"/>
          </a:xfrm>
          <a:prstGeom prst="rect">
            <a:avLst/>
          </a:prstGeom>
        </p:spPr>
      </p:pic>
      <p:pic>
        <p:nvPicPr>
          <p:cNvPr id="7" name="Picture 6" descr="revenue_service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25603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3840480"/>
            <a:ext cx="11612880" cy="27432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7000B"/>
                </a:solidFill>
              </a:defRPr>
            </a:pPr>
            <a:r>
              <a:t>收入洞察 REVENUE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97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【市场格局】DT: €6.2B (51%) &gt; VF: €3.1B (25%) &gt; O2: €2.0B (16%) &gt; 1&amp;1: €1.0B (8%)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17136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457200" y="473659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【Vodafone Germany表现】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95604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总收入: €3092M，8季度增长+1.4% (€3050M→€3092M)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75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服务收入增速: Q4 FY24 -0.8% → Q3 FY26 +0.7%，扭亏为盈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9496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移动服务收入持续增长，固网服务承压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14416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57200" y="583387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【竞争对手动态】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0533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DT Germany: 收入增速放缓但仍保持正增长 (+1.1%)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27278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O2 Germany: 1&amp;1批发用户流失导致收入下滑 (-3.4%)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1&amp;1 AG: 自建网络投资期，收入增长乏力 (+0.1%)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收入增长率趋势分析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6666"/>
                </a:solidFill>
              </a:defRPr>
            </a:pPr>
            <a:r>
              <a:t>Revenue Growth Rate 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C7000B"/>
                </a:solidFill>
              </a:defRPr>
            </a:pPr>
            <a:r>
              <a:t>4</a:t>
            </a:r>
          </a:p>
        </p:txBody>
      </p:sp>
      <p:pic>
        <p:nvPicPr>
          <p:cNvPr id="6" name="Picture 5" descr="service_revenue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669280" cy="2560320"/>
          </a:xfrm>
          <a:prstGeom prst="rect">
            <a:avLst/>
          </a:prstGeom>
        </p:spPr>
      </p:pic>
      <p:pic>
        <p:nvPicPr>
          <p:cNvPr id="7" name="Picture 6" descr="mobile_revenue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840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7000B"/>
                </a:solidFill>
              </a:defRPr>
            </a:pPr>
            <a:r>
              <a:t>服务收入增长率 (季度数据)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14800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>
                <a:solidFill>
                  <a:srgbClr val="333333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932688" y="4114800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>
                <a:solidFill>
                  <a:srgbClr val="333333"/>
                </a:solidFill>
              </a:defRPr>
            </a:pPr>
            <a:r>
              <a:t>Q4</a:t>
            </a:r>
            <a:br/>
            <a:r>
              <a:t>FY24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4114800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>
                <a:solidFill>
                  <a:srgbClr val="333333"/>
                </a:solidFill>
              </a:defRPr>
            </a:pPr>
            <a:r>
              <a:t>Q1</a:t>
            </a:r>
            <a:br/>
            <a:r>
              <a:t>FY25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9424" y="4114800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>
                <a:solidFill>
                  <a:srgbClr val="333333"/>
                </a:solidFill>
              </a:defRPr>
            </a:pPr>
            <a:r>
              <a:t>Q2</a:t>
            </a:r>
            <a:br/>
            <a:r>
              <a:t>FY25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7792" y="4114800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>
                <a:solidFill>
                  <a:srgbClr val="333333"/>
                </a:solidFill>
              </a:defRPr>
            </a:pPr>
            <a:r>
              <a:t>Q3</a:t>
            </a:r>
            <a:br/>
            <a:r>
              <a:t>FY25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4114800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>
                <a:solidFill>
                  <a:srgbClr val="333333"/>
                </a:solidFill>
              </a:defRPr>
            </a:pPr>
            <a:r>
              <a:t>Q4</a:t>
            </a:r>
            <a:br/>
            <a:r>
              <a:t>FY25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8" y="4114800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>
                <a:solidFill>
                  <a:srgbClr val="333333"/>
                </a:solidFill>
              </a:defRPr>
            </a:pPr>
            <a:r>
              <a:t>Q1</a:t>
            </a:r>
            <a:br/>
            <a:r>
              <a:t>FY26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2896" y="4114800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>
                <a:solidFill>
                  <a:srgbClr val="333333"/>
                </a:solidFill>
              </a:defRPr>
            </a:pPr>
            <a:r>
              <a:t>Q2</a:t>
            </a:r>
            <a:br/>
            <a:r>
              <a:t>FY26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41264" y="4114800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>
                <a:solidFill>
                  <a:srgbClr val="333333"/>
                </a:solidFill>
              </a:defRPr>
            </a:pPr>
            <a:r>
              <a:t>Q3</a:t>
            </a:r>
            <a:br/>
            <a:r>
              <a:t>FY26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352544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333333"/>
                </a:solidFill>
              </a:defRPr>
            </a:pPr>
            <a:r>
              <a:t>VF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352544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40000"/>
                </a:solidFill>
              </a:defRPr>
            </a:pPr>
            <a:r>
              <a:t>-0.8%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91056" y="4352544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40000"/>
                </a:solidFill>
              </a:defRPr>
            </a:pPr>
            <a:r>
              <a:t>-0.5%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9424" y="4352544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40000"/>
                </a:solidFill>
              </a:defRPr>
            </a:pPr>
            <a:r>
              <a:t>-0.3%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07792" y="4352544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33333"/>
                </a:solidFill>
              </a:defRPr>
            </a:pPr>
            <a:r>
              <a:t>+0.0%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352544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08000"/>
                </a:solidFill>
              </a:defRPr>
            </a:pPr>
            <a:r>
              <a:t>+0.2%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24528" y="4352544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08000"/>
                </a:solidFill>
              </a:defRPr>
            </a:pPr>
            <a:r>
              <a:t>+0.4%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82896" y="4352544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08000"/>
                </a:solidFill>
              </a:defRPr>
            </a:pPr>
            <a:r>
              <a:t>+0.5%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41264" y="4352544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08000"/>
                </a:solidFill>
              </a:defRPr>
            </a:pPr>
            <a:r>
              <a:t>+0.7%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4590288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333333"/>
                </a:solidFill>
              </a:defRPr>
            </a:pPr>
            <a:r>
              <a:t>DT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590288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08000"/>
                </a:solidFill>
              </a:defRPr>
            </a:pPr>
            <a:r>
              <a:t>+2.8%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91056" y="4590288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08000"/>
                </a:solidFill>
              </a:defRPr>
            </a:pPr>
            <a:r>
              <a:t>+2.5%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9424" y="4590288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08000"/>
                </a:solidFill>
              </a:defRPr>
            </a:pPr>
            <a:r>
              <a:t>+2.2%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07792" y="4590288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08000"/>
                </a:solidFill>
              </a:defRPr>
            </a:pPr>
            <a:r>
              <a:t>+2.0%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590288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08000"/>
                </a:solidFill>
              </a:defRPr>
            </a:pPr>
            <a:r>
              <a:t>+1.8%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24528" y="4590288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08000"/>
                </a:solidFill>
              </a:defRPr>
            </a:pPr>
            <a:r>
              <a:t>+1.5%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82896" y="4590288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08000"/>
                </a:solidFill>
              </a:defRPr>
            </a:pPr>
            <a:r>
              <a:t>+1.3%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41264" y="4590288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08000"/>
                </a:solidFill>
              </a:defRPr>
            </a:pPr>
            <a:r>
              <a:t>+1.1%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4828032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333333"/>
                </a:solidFill>
              </a:defRPr>
            </a:pPr>
            <a:r>
              <a:t>O2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4828032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40000"/>
                </a:solidFill>
              </a:defRPr>
            </a:pPr>
            <a:r>
              <a:t>-1.5%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91056" y="4828032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40000"/>
                </a:solidFill>
              </a:defRPr>
            </a:pPr>
            <a:r>
              <a:t>-2.0%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9424" y="4828032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40000"/>
                </a:solidFill>
              </a:defRPr>
            </a:pPr>
            <a:r>
              <a:t>-2.5%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07792" y="4828032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40000"/>
                </a:solidFill>
              </a:defRPr>
            </a:pPr>
            <a:r>
              <a:t>-3.0%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4828032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40000"/>
                </a:solidFill>
              </a:defRPr>
            </a:pPr>
            <a:r>
              <a:t>-3.2%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24528" y="4828032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40000"/>
                </a:solidFill>
              </a:defRPr>
            </a:pPr>
            <a:r>
              <a:t>-3.4%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82896" y="4828032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40000"/>
                </a:solidFill>
              </a:defRPr>
            </a:pPr>
            <a:r>
              <a:t>-3.4%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41264" y="4828032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40000"/>
                </a:solidFill>
              </a:defRPr>
            </a:pPr>
            <a:r>
              <a:t>-3.4%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5065776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333333"/>
                </a:solidFill>
              </a:defRPr>
            </a:pPr>
            <a:r>
              <a:t>1&amp;1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065776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08000"/>
                </a:solidFill>
              </a:defRPr>
            </a:pPr>
            <a:r>
              <a:t>+1.5%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91056" y="5065776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08000"/>
                </a:solidFill>
              </a:defRPr>
            </a:pPr>
            <a:r>
              <a:t>+1.2%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49424" y="5065776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08000"/>
                </a:solidFill>
              </a:defRPr>
            </a:pPr>
            <a:r>
              <a:t>+0.8%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07792" y="5065776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08000"/>
                </a:solidFill>
              </a:defRPr>
            </a:pPr>
            <a:r>
              <a:t>+0.5%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66160" y="5065776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08000"/>
                </a:solidFill>
              </a:defRPr>
            </a:pPr>
            <a:r>
              <a:t>+0.3%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24528" y="5065776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08000"/>
                </a:solidFill>
              </a:defRPr>
            </a:pPr>
            <a:r>
              <a:t>+0.2%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82896" y="5065776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08000"/>
                </a:solidFill>
              </a:defRPr>
            </a:pPr>
            <a:r>
              <a:t>+0.1%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41264" y="5065776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08000"/>
                </a:solidFill>
              </a:defRPr>
            </a:pPr>
            <a:r>
              <a:t>+0.1%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3840480"/>
            <a:ext cx="5669280" cy="27432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3931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6400"/>
                </a:solidFill>
              </a:defRPr>
            </a:pPr>
            <a:r>
              <a:t>增长趋势洞察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425196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Vodafone Germany增长轨迹: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0" y="448970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服务收入: -0.8% → +0.7% (改善1.5pp)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472744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移动收入: -0.5% → +2.8% (改善3.3pp)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496519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固网收入: -2.8% → -1.1% (改善1.7pp)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520293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</a:p>
        </p:txBody>
      </p:sp>
      <p:sp>
        <p:nvSpPr>
          <p:cNvPr id="61" name="TextBox 60"/>
          <p:cNvSpPr txBox="1"/>
          <p:nvPr/>
        </p:nvSpPr>
        <p:spPr>
          <a:xfrm>
            <a:off x="6400800" y="54406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行业对比: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567842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VF移动增速领先O2 (+5.8pp)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591616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VF固网仍落后DT (-2.0pp)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615391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B2B增速最快 (+8.5%)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收入结构对比分析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6666"/>
                </a:solidFill>
              </a:defRPr>
            </a:pPr>
            <a:r>
              <a:t>Revenue Structure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C7000B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7000B"/>
                </a:solidFill>
              </a:defRPr>
            </a:pPr>
            <a:r>
              <a:t>Q3 FY26 收入结构 (€M)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1645920" cy="320040"/>
          </a:xfrm>
          <a:prstGeom prst="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5087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运营商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463040"/>
            <a:ext cx="1097280" cy="320040"/>
          </a:xfrm>
          <a:prstGeom prst="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15087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总收入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463040"/>
            <a:ext cx="1097280" cy="320040"/>
          </a:xfrm>
          <a:prstGeom prst="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15087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移动服务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1463040"/>
            <a:ext cx="1097280" cy="320040"/>
          </a:xfrm>
          <a:prstGeom prst="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15087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固网服务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1463040"/>
            <a:ext cx="1097280" cy="320040"/>
          </a:xfrm>
          <a:prstGeom prst="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15087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B2B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463040"/>
            <a:ext cx="822960" cy="320040"/>
          </a:xfrm>
          <a:prstGeom prst="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50876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TV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1463040"/>
            <a:ext cx="822960" cy="320040"/>
          </a:xfrm>
          <a:prstGeom prst="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150876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批发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828800"/>
            <a:ext cx="1645920" cy="36576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190195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Vodafone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240" y="1828800"/>
            <a:ext cx="1097280" cy="36576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5960" y="19019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€3,092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1828800"/>
            <a:ext cx="1097280" cy="36576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63240" y="19019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€1,520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1828800"/>
            <a:ext cx="1097280" cy="36576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0520" y="19019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€795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12080" y="1828800"/>
            <a:ext cx="1097280" cy="36576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57800" y="19019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€520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828800"/>
            <a:ext cx="822960" cy="36576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190195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€268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0" y="1828800"/>
            <a:ext cx="822960" cy="36576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78040" y="190195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€380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240280"/>
            <a:ext cx="1645920" cy="3657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231343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Deutsche Telekom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20240" y="2240280"/>
            <a:ext cx="1097280" cy="3657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65960" y="231343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€6,200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17520" y="2240280"/>
            <a:ext cx="1097280" cy="3657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63240" y="231343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€2,555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0" y="2240280"/>
            <a:ext cx="1097280" cy="3657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60520" y="231343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€1,910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12080" y="2240280"/>
            <a:ext cx="1097280" cy="3657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57800" y="231343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€1,230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2240280"/>
            <a:ext cx="822960" cy="3657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231343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€488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32320" y="2240280"/>
            <a:ext cx="822960" cy="3657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78040" y="231343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€356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2651760"/>
            <a:ext cx="1645920" cy="3657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272491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O2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20240" y="2651760"/>
            <a:ext cx="1097280" cy="3657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965960" y="27249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€2,000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17520" y="2651760"/>
            <a:ext cx="1097280" cy="3657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063240" y="27249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€1,285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0" y="2651760"/>
            <a:ext cx="1097280" cy="3657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60520" y="27249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€192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12080" y="2651760"/>
            <a:ext cx="1097280" cy="3657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257800" y="27249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€500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9360" y="2651760"/>
            <a:ext cx="822960" cy="3657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55080" y="272491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€49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32320" y="2651760"/>
            <a:ext cx="822960" cy="3657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78040" y="272491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€65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3063240"/>
            <a:ext cx="1645920" cy="3657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0040" y="31363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1&amp;1 AG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920240" y="3063240"/>
            <a:ext cx="1097280" cy="3657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965960" y="31363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€1,035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063240"/>
            <a:ext cx="1097280" cy="3657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63240" y="31363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€532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0" y="3063240"/>
            <a:ext cx="1097280" cy="3657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60520" y="31363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€287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12080" y="3063240"/>
            <a:ext cx="1097280" cy="3657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257800" y="31363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€92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09360" y="3063240"/>
            <a:ext cx="822960" cy="3657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55080" y="3136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€25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132320" y="3063240"/>
            <a:ext cx="822960" cy="3657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178040" y="3136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€0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4320" y="3474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7000B"/>
                </a:solidFill>
              </a:defRPr>
            </a:pPr>
            <a:r>
              <a:t>Vodafone Germany收入结构变化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3794760"/>
            <a:ext cx="5669280" cy="27432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720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Q4 FY24 → Q3 FY26 结构变化: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7200" y="40965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</a:p>
        </p:txBody>
      </p:sp>
      <p:sp>
        <p:nvSpPr>
          <p:cNvPr id="81" name="TextBox 80"/>
          <p:cNvSpPr txBox="1"/>
          <p:nvPr/>
        </p:nvSpPr>
        <p:spPr>
          <a:xfrm>
            <a:off x="457200" y="430682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【移动服务】 47.5% → 49.2% (+1.7pp)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200" y="4517136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增长驱动: 后付费用户增长, ARPU提升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7200" y="47274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</a:p>
        </p:txBody>
      </p:sp>
      <p:sp>
        <p:nvSpPr>
          <p:cNvPr id="84" name="TextBox 83"/>
          <p:cNvSpPr txBox="1"/>
          <p:nvPr/>
        </p:nvSpPr>
        <p:spPr>
          <a:xfrm>
            <a:off x="457200" y="49377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【固网服务】 26.9% → 25.7% (-1.2pp)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7200" y="514807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下滑原因: 用户流失, Cable竞争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7200" y="535838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</a:p>
        </p:txBody>
      </p:sp>
      <p:sp>
        <p:nvSpPr>
          <p:cNvPr id="87" name="TextBox 86"/>
          <p:cNvSpPr txBox="1"/>
          <p:nvPr/>
        </p:nvSpPr>
        <p:spPr>
          <a:xfrm>
            <a:off x="457200" y="5568696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【B2B业务】 13.4% → 16.8% (+3.4pp)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7200" y="577900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增长亮点: 数字化服务快速增长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57200" y="5989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</a:p>
        </p:txBody>
      </p:sp>
      <p:sp>
        <p:nvSpPr>
          <p:cNvPr id="90" name="TextBox 89"/>
          <p:cNvSpPr txBox="1"/>
          <p:nvPr/>
        </p:nvSpPr>
        <p:spPr>
          <a:xfrm>
            <a:off x="457200" y="619963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【批发收入】 5.9% → 12.3% (+6.4pp)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57200" y="640994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1&amp;1 MVNO批发贡献显著增长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17920" y="3474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7000B"/>
                </a:solidFill>
              </a:defRPr>
            </a:pPr>
            <a:r>
              <a:t>B2B业务高增长分析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217920" y="3794760"/>
            <a:ext cx="5669280" cy="274320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40080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【Vodafone Germany B2B增长 +8.5%】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00800" y="40965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连接服务: 企业移动、固定连接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400800" y="430682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数字化服务: IoT、云、安全、边缘计算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400800" y="4517136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行业方案: 制造业4.0、智慧城市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400800" y="47274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</a:p>
        </p:txBody>
      </p:sp>
      <p:sp>
        <p:nvSpPr>
          <p:cNvPr id="99" name="TextBox 98"/>
          <p:cNvSpPr txBox="1"/>
          <p:nvPr/>
        </p:nvSpPr>
        <p:spPr>
          <a:xfrm>
            <a:off x="6400800" y="49377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【竞争格局】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00800" y="514807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DT B2B: €1230M (+7.5%)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400800" y="535838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VF B2B: €520M (+8.5%)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400800" y="5568696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O2 B2B: €500M (+13.0%)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400800" y="577900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</a:p>
        </p:txBody>
      </p:sp>
      <p:sp>
        <p:nvSpPr>
          <p:cNvPr id="104" name="TextBox 103"/>
          <p:cNvSpPr txBox="1"/>
          <p:nvPr/>
        </p:nvSpPr>
        <p:spPr>
          <a:xfrm>
            <a:off x="6400800" y="5989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【机会】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00800" y="619963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O2 B2B增速最快但基数小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400800" y="640994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数字化转型需求强劲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400800" y="6620256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5G专网/边缘计算是新增长点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盈利能力分析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6666"/>
                </a:solidFill>
              </a:defRPr>
            </a:pPr>
            <a:r>
              <a:t>Profitability Analysis (EBITDA)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C7000B"/>
                </a:solidFill>
              </a:defRPr>
            </a:pPr>
            <a:r>
              <a:t>6</a:t>
            </a:r>
          </a:p>
        </p:txBody>
      </p:sp>
      <p:pic>
        <p:nvPicPr>
          <p:cNvPr id="6" name="Picture 5" descr="ebitda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669280" cy="2377440"/>
          </a:xfrm>
          <a:prstGeom prst="rect">
            <a:avLst/>
          </a:prstGeom>
        </p:spPr>
      </p:pic>
      <p:pic>
        <p:nvPicPr>
          <p:cNvPr id="7" name="Picture 6" descr="ebitda_margin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2377440"/>
          </a:xfrm>
          <a:prstGeom prst="rect">
            <a:avLst/>
          </a:prstGeom>
        </p:spPr>
      </p:pic>
      <p:pic>
        <p:nvPicPr>
          <p:cNvPr id="8" name="Picture 7" descr="ebitda_growth_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657600"/>
            <a:ext cx="5669280" cy="23774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17920" y="3657600"/>
            <a:ext cx="5669280" cy="237744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74903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7000B"/>
                </a:solidFill>
              </a:defRPr>
            </a:pPr>
            <a:r>
              <a:t>盈利能力洞察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06908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【EBITDA Margin对比 Q3 FY26】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279392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DT Germany: 42.1% (行业领先)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48970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VF Germany: 36.2% (差距: -5.9pp)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700016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O2 Germany: 32.5%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910328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1&amp;1 AG: 12.2% (网络投资期)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12064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0" y="5330952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【VF Germany盈利改善】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54126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Margin: 35.4% → 36.2% (+0.8pp)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751576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EBITDA增长: -2.0% → +1.5% (扭亏)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961888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效率提升: 员工减少700人，成本优化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投资与成本分析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6666"/>
                </a:solidFill>
              </a:defRPr>
            </a:pPr>
            <a:r>
              <a:t>Investment Analysis (OPEX &amp; CAPEX)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C7000B"/>
                </a:solidFill>
              </a:defRPr>
            </a:pPr>
            <a:r>
              <a:t>7</a:t>
            </a:r>
          </a:p>
        </p:txBody>
      </p:sp>
      <p:pic>
        <p:nvPicPr>
          <p:cNvPr id="6" name="Picture 5" descr="opex_ratio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669280" cy="2377440"/>
          </a:xfrm>
          <a:prstGeom prst="rect">
            <a:avLst/>
          </a:prstGeom>
        </p:spPr>
      </p:pic>
      <p:pic>
        <p:nvPicPr>
          <p:cNvPr id="7" name="Picture 6" descr="capex_ratio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2377440"/>
          </a:xfrm>
          <a:prstGeom prst="rect">
            <a:avLst/>
          </a:prstGeom>
        </p:spPr>
      </p:pic>
      <p:pic>
        <p:nvPicPr>
          <p:cNvPr id="8" name="Picture 7" descr="employees_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657600"/>
            <a:ext cx="5669280" cy="23774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17920" y="3657600"/>
            <a:ext cx="5669280" cy="237744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74903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6400"/>
                </a:solidFill>
              </a:defRPr>
            </a:pPr>
            <a:r>
              <a:t>投资效率洞察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069080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【OPEX效率】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270248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VF OPEX占比: 64.6% → 63.8% (优化0.8pp)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471416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员工优化: 15.2K → 14.5K (-700人)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672584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DT OPEX最优: 57.9% (规模效应)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873752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400800" y="5074920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【CAPEX投资】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276088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VF: 25.9% (保持较高投资)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477256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DT: 19.4% (投资效率更高)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678424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1&amp;1: 38.6% (自建网络高投入期)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879592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400800" y="6080760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【效率差距】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281928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VF成本结构仍待优化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83096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数字化/自动化是关键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AA0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108960"/>
            <a:ext cx="4572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业务层面分析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FFC8C8"/>
                </a:solidFill>
              </a:defRPr>
            </a:pPr>
            <a:r>
              <a:t>Business Segment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移动业务分析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6666"/>
                </a:solidFill>
              </a:defRPr>
            </a:pPr>
            <a:r>
              <a:t>Mobile Business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C7000B"/>
                </a:solidFill>
              </a:defRPr>
            </a:pPr>
            <a:r>
              <a:t>9</a:t>
            </a:r>
          </a:p>
        </p:txBody>
      </p:sp>
      <p:pic>
        <p:nvPicPr>
          <p:cNvPr id="6" name="Picture 5" descr="consumer_mobil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669280" cy="2377440"/>
          </a:xfrm>
          <a:prstGeom prst="rect">
            <a:avLst/>
          </a:prstGeom>
        </p:spPr>
      </p:pic>
      <p:pic>
        <p:nvPicPr>
          <p:cNvPr id="7" name="Picture 6" descr="mobile_arpu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7000B"/>
                </a:solidFill>
              </a:defRPr>
            </a:pPr>
            <a:r>
              <a:t>Q3 FY26 移动业务KPI对比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977639"/>
            <a:ext cx="5669280" cy="25603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40233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指标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0233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VF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40233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DT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0233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O2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0233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1&amp;1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37083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消费者用户(M)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37083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29.5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37083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46.5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37083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34.0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37083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12.2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7183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IoT连接(M)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71830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3.0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71830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3.5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71830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8.0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71830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0.3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06577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后付费占比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06577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78.6%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506577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82.0%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506577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68.5%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506577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75.0%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4132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ARPU(€)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54132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12.8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54132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14.2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54132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10.5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54132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9.8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7607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新客ARPU增长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" y="57607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+21%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51760" y="57607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+15%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57607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+12%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57607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+8%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1081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月度流失率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45920" y="610819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1.05%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51760" y="610819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0.85%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610819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1.20%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610819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1.35%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3657600"/>
            <a:ext cx="5669280" cy="256032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374903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7000B"/>
                </a:solidFill>
              </a:defRPr>
            </a:pPr>
            <a:r>
              <a:t>移动业务洞察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069080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【用户规模】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4270248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市场格局: DT(46.5M) &gt; O2(34M) &gt; VF(29.5M) &gt; 1&amp;1(12.2M)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4471416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VF 8季度净增+1.3M消费者用户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4672584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IoT连接: O2领先(8M)，工业IoT优势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4873752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6400800" y="5074920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【价值提升】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5276088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VF ARPU €11.8 → €12.8 (+8.5%)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5477256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新客户ARPU增长+21% (价值导向策略)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5678424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后付费占比提升: 77.3% → 78.6%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5879592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</a:p>
        </p:txBody>
      </p:sp>
      <p:sp>
        <p:nvSpPr>
          <p:cNvPr id="57" name="TextBox 56"/>
          <p:cNvSpPr txBox="1"/>
          <p:nvPr/>
        </p:nvSpPr>
        <p:spPr>
          <a:xfrm>
            <a:off x="6400800" y="6080760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【流失控制】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6281928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VF流失率改善: 1.15% → 1.05%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6483096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仍高于DT (0.85%)，需继续优化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固网宽带业务分析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6666"/>
                </a:solidFill>
              </a:defRPr>
            </a:pPr>
            <a:r>
              <a:t>Fixed Broadband Business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C7000B"/>
                </a:solidFill>
              </a:defRPr>
            </a:pPr>
            <a:r>
              <a:t>10</a:t>
            </a:r>
          </a:p>
        </p:txBody>
      </p:sp>
      <p:pic>
        <p:nvPicPr>
          <p:cNvPr id="6" name="Picture 5" descr="broadband_sub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669280" cy="2377440"/>
          </a:xfrm>
          <a:prstGeom prst="rect">
            <a:avLst/>
          </a:prstGeom>
        </p:spPr>
      </p:pic>
      <p:pic>
        <p:nvPicPr>
          <p:cNvPr id="7" name="Picture 6" descr="fixed_revenue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7000B"/>
                </a:solidFill>
              </a:defRPr>
            </a:pPr>
            <a:r>
              <a:t>Q3 FY26 宽带接入类型占比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977639"/>
            <a:ext cx="5669280" cy="256032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40690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运营商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0690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FTTH/B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40690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Cable/HFC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0690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DSL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0690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总用户(M)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4531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VF Germany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4531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4531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72%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4531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4531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9.9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83717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DT Germany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83717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35%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83717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83717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65%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83717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15.2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22122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O2 Germany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22122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25%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522122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522122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75%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522122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2.4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6052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1&amp;1 AG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56052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15%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56052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56052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85%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56052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4.2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657600"/>
            <a:ext cx="5669280" cy="2560320"/>
          </a:xfrm>
          <a:prstGeom prst="rect">
            <a:avLst/>
          </a:prstGeom>
          <a:solidFill>
            <a:srgbClr val="F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74903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5000"/>
                </a:solidFill>
              </a:defRPr>
            </a:pPr>
            <a:r>
              <a:t>固网业务洞察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06908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【Vodafone挑战】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27024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用户流失: 10.32M → 9.94M (-380K)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47141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Cable/HFC网络老化，升级成本高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67258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FTTH覆盖仅8%，远低于DT(35%)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8737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6400800" y="507492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【DT优势】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27608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光纤战略领先，FTTH持续扩容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47725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收入正增长(+0.9%)，VF负增长(-1.1%)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567842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</a:p>
        </p:txBody>
      </p:sp>
      <p:sp>
        <p:nvSpPr>
          <p:cNvPr id="46" name="TextBox 45"/>
          <p:cNvSpPr txBox="1"/>
          <p:nvPr/>
        </p:nvSpPr>
        <p:spPr>
          <a:xfrm>
            <a:off x="6400800" y="587959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【策略建议】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60807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加速FTTH/DOCSIS 4.0升级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628192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推动FMC融合提升粘性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648309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聚焦高价值存量用户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B2B业务分析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6666"/>
                </a:solidFill>
              </a:defRPr>
            </a:pPr>
            <a:r>
              <a:t>B2B Business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C7000B"/>
                </a:solidFill>
              </a:defRPr>
            </a:pPr>
            <a:r>
              <a:t>11</a:t>
            </a:r>
          </a:p>
        </p:txBody>
      </p:sp>
      <p:pic>
        <p:nvPicPr>
          <p:cNvPr id="6" name="Picture 5" descr="b2b_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669280" cy="2377440"/>
          </a:xfrm>
          <a:prstGeom prst="rect">
            <a:avLst/>
          </a:prstGeom>
        </p:spPr>
      </p:pic>
      <p:pic>
        <p:nvPicPr>
          <p:cNvPr id="7" name="Picture 6" descr="b2b_growth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7000B"/>
                </a:solidFill>
              </a:defRPr>
            </a:pPr>
            <a:r>
              <a:t>Vodafone B2B业务构成 (Q3 FY26)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977639"/>
            <a:ext cx="5669280" cy="256032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40690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业务类型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406908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收入(€M)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406908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占比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06908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增长率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3891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企业连接服务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38912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280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38912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53.8%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+5.0%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7091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数字化服务合计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70916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240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70916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46.2%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70916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+12.5%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0292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- IoT/M2M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02920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95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502920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18.3%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02920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+18%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492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- 云服务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534924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72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534924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13.8%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34924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+22%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6692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- 安全服务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566928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566928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9.2%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566928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+15%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9893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- 边缘计算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598932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598932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4.8%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598932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+35%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3657600"/>
            <a:ext cx="5669280" cy="2560320"/>
          </a:xfrm>
          <a:prstGeom prst="rect">
            <a:avLst/>
          </a:prstGeom>
          <a:solidFill>
            <a:srgbClr val="F0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74903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8050"/>
                </a:solidFill>
              </a:defRPr>
            </a:pPr>
            <a:r>
              <a:t>B2B业务洞察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06908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【增长亮点】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27024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B2B整体增速+8.5%，高于消费者业务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47141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数字化服务增长+12.5%，是核心驱动力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67258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边缘计算增长最快(+35%)，5G赋能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48737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</a:p>
        </p:txBody>
      </p:sp>
      <p:sp>
        <p:nvSpPr>
          <p:cNvPr id="45" name="TextBox 44"/>
          <p:cNvSpPr txBox="1"/>
          <p:nvPr/>
        </p:nvSpPr>
        <p:spPr>
          <a:xfrm>
            <a:off x="6400800" y="507492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【竞争格局】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27608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DT B2B: €1.23B (市场第一)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47725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VF B2B: €0.52B (第二)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567842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O2增速最快(+13%)但基数较小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587959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</a:p>
        </p:txBody>
      </p:sp>
      <p:sp>
        <p:nvSpPr>
          <p:cNvPr id="50" name="TextBox 49"/>
          <p:cNvSpPr txBox="1"/>
          <p:nvPr/>
        </p:nvSpPr>
        <p:spPr>
          <a:xfrm>
            <a:off x="6400800" y="60807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【策略方向】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628192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深耕制造业/汽车行业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648309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5G专网+边缘计算组合方案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668426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强化云/安全生态合作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TV与FMC融合业务分析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6666"/>
                </a:solidFill>
              </a:defRPr>
            </a:pPr>
            <a:r>
              <a:t>TV &amp; FMC (Fixed-Mobile Convergence)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C7000B"/>
                </a:solidFill>
              </a:defRPr>
            </a:pPr>
            <a:r>
              <a:t>12</a:t>
            </a:r>
          </a:p>
        </p:txBody>
      </p:sp>
      <p:pic>
        <p:nvPicPr>
          <p:cNvPr id="6" name="Picture 5" descr="tv_sub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669280" cy="2377440"/>
          </a:xfrm>
          <a:prstGeom prst="rect">
            <a:avLst/>
          </a:prstGeom>
        </p:spPr>
      </p:pic>
      <p:pic>
        <p:nvPicPr>
          <p:cNvPr id="7" name="Picture 6" descr="fmc_ratio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7000B"/>
                </a:solidFill>
              </a:defRPr>
            </a:pPr>
            <a:r>
              <a:t>Q3 FY26 TV &amp; FMC KPI对比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977639"/>
            <a:ext cx="5669280" cy="256032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4069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指标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40690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VF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0690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DT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40690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O2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0690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1&amp;1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434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TV用户(M)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4348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9.2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4348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4.8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44348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0.5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4348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0.3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800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IPTV占比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8006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45%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8006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40" y="48006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8006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166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Cable TV占比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1663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55%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1663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40" y="51663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51663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532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FMC融合率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5321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32%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55321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45%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40" y="55321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18%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55321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25%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897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融合ARPU提升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58978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+18%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58978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+22%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9040" y="58978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+15%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58978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+12%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3657600"/>
            <a:ext cx="5669280" cy="2560320"/>
          </a:xfrm>
          <a:prstGeom prst="rect">
            <a:avLst/>
          </a:prstGeom>
          <a:solidFill>
            <a:srgbClr val="FF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374903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00080"/>
                </a:solidFill>
              </a:defRPr>
            </a:pPr>
            <a:r>
              <a:t>TV &amp; FMC洞察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06908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【TV业务】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27024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VF TV用户最多(9.2M)，Cable资产优势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447141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流媒体冲击，传统TV承压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467258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GigaTV融合战略是差异化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48737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</a:p>
        </p:txBody>
      </p:sp>
      <p:sp>
        <p:nvSpPr>
          <p:cNvPr id="47" name="TextBox 46"/>
          <p:cNvSpPr txBox="1"/>
          <p:nvPr/>
        </p:nvSpPr>
        <p:spPr>
          <a:xfrm>
            <a:off x="6400800" y="507492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【FMC融合】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527608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DT融合率最高(45%)，One套餐策略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547725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VF融合率提升: 28% → 32% (+4pp)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67842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融合用户ARPU+18%，流失率-30%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87959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6400800" y="60807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【策略重点】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628192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提升FMC渗透率(目标: 40%+)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648309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内容差异化(体育/独家)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668426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超融合产品(移动+固网+TV+IoT)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AA0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108960"/>
            <a:ext cx="4572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战略与组织分析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FFC8C8"/>
                </a:solidFill>
              </a:defRPr>
            </a:pPr>
            <a:r>
              <a:t>Strategy &amp; Organization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客户战略对比分析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6666"/>
                </a:solidFill>
              </a:defRPr>
            </a:pPr>
            <a:r>
              <a:t>Customer Strategy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C7000B"/>
                </a:solidFill>
              </a:defRPr>
            </a:pPr>
            <a: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74320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Vodafone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2743200" cy="484632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00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33333"/>
                </a:solidFill>
              </a:defRPr>
            </a:pPr>
            <a:r>
              <a:t>【战略定位】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5623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N/A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1226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365760" y="236829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33333"/>
                </a:solidFill>
              </a:defRPr>
            </a:pPr>
            <a:r>
              <a:t>【核心策略】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243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365760" y="28803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33333"/>
                </a:solidFill>
              </a:defRPr>
            </a:pPr>
            <a:r>
              <a:t>【关键举措】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1097280"/>
            <a:ext cx="2743200" cy="365760"/>
          </a:xfrm>
          <a:prstGeom prst="rect">
            <a:avLst/>
          </a:prstGeom>
          <a:solidFill>
            <a:srgbClr val="50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143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Deutsche Telekom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1508760"/>
            <a:ext cx="2743200" cy="484632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1600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33333"/>
                </a:solidFill>
              </a:defRPr>
            </a:pPr>
            <a:r>
              <a:t>【战略定位】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185623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N/A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11226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3291840" y="236829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33333"/>
                </a:solidFill>
              </a:defRPr>
            </a:pPr>
            <a:r>
              <a:t>【核心策略】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26243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3291840" y="28803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33333"/>
                </a:solidFill>
              </a:defRPr>
            </a:pPr>
            <a:r>
              <a:t>【关键举措】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097280"/>
            <a:ext cx="2743200" cy="365760"/>
          </a:xfrm>
          <a:prstGeom prst="rect">
            <a:avLst/>
          </a:prstGeom>
          <a:solidFill>
            <a:srgbClr val="50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1143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O2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1508760"/>
            <a:ext cx="2743200" cy="484632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1600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33333"/>
                </a:solidFill>
              </a:defRPr>
            </a:pPr>
            <a:r>
              <a:t>【战略定位】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85623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N/A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11226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6217920" y="236829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33333"/>
                </a:solidFill>
              </a:defRPr>
            </a:pPr>
            <a:r>
              <a:t>【核心策略】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26243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6217920" y="28803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33333"/>
                </a:solidFill>
              </a:defRPr>
            </a:pPr>
            <a:r>
              <a:t>【关键举措】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52560" y="1097280"/>
            <a:ext cx="2743200" cy="365760"/>
          </a:xfrm>
          <a:prstGeom prst="rect">
            <a:avLst/>
          </a:prstGeom>
          <a:solidFill>
            <a:srgbClr val="50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0" y="1143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1&amp;1 AG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52560" y="1508760"/>
            <a:ext cx="2743200" cy="484632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0" y="1600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33333"/>
                </a:solidFill>
              </a:defRPr>
            </a:pPr>
            <a:r>
              <a:t>【战略定位】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185623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N/A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11226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</a:p>
        </p:txBody>
      </p:sp>
      <p:sp>
        <p:nvSpPr>
          <p:cNvPr id="39" name="TextBox 38"/>
          <p:cNvSpPr txBox="1"/>
          <p:nvPr/>
        </p:nvSpPr>
        <p:spPr>
          <a:xfrm>
            <a:off x="9144000" y="236829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33333"/>
                </a:solidFill>
              </a:defRPr>
            </a:pPr>
            <a:r>
              <a:t>【核心策略】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6243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</a:p>
        </p:txBody>
      </p:sp>
      <p:sp>
        <p:nvSpPr>
          <p:cNvPr id="41" name="TextBox 40"/>
          <p:cNvSpPr txBox="1"/>
          <p:nvPr/>
        </p:nvSpPr>
        <p:spPr>
          <a:xfrm>
            <a:off x="9144000" y="28803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33333"/>
                </a:solidFill>
              </a:defRPr>
            </a:pPr>
            <a:r>
              <a:t>【关键举措】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组织与高管变动分析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6666"/>
                </a:solidFill>
              </a:defRPr>
            </a:pPr>
            <a:r>
              <a:t>Organization &amp; Executive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C7000B"/>
                </a:solidFill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74320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Vodafone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2743200" cy="48463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00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33333"/>
                </a:solidFill>
              </a:defRPr>
            </a:pPr>
            <a:r>
              <a:t>【CEO】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5623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Marcel de Groot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1226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任期: N/A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6829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365760" y="26243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33333"/>
                </a:solidFill>
              </a:defRPr>
            </a:pPr>
            <a:r>
              <a:t>【近期变动】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8803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• 2025-06: Chief Commercial Officer更换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1363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• 2025-03: B2B业务负责人调整 (Skaylink整合)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3924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3200400" y="1097280"/>
            <a:ext cx="2743200" cy="365760"/>
          </a:xfrm>
          <a:prstGeom prst="rect">
            <a:avLst/>
          </a:prstGeom>
          <a:solidFill>
            <a:srgbClr val="3C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1143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Deutsche Telekom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1508760"/>
            <a:ext cx="2743200" cy="48463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1600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33333"/>
                </a:solidFill>
              </a:defRPr>
            </a:pPr>
            <a:r>
              <a:t>【CEO】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185623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Srini Gopalan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211226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任期: N/A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36829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3291840" y="26243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33333"/>
                </a:solidFill>
              </a:defRPr>
            </a:pPr>
            <a:r>
              <a:t>【近期变动】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28803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• 2025-08: 数字化转型负责人新任命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31363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• 2025-02: B2B/T-Systems重组完成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33924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</a:p>
        </p:txBody>
      </p:sp>
      <p:sp>
        <p:nvSpPr>
          <p:cNvPr id="28" name="Rectangle 27"/>
          <p:cNvSpPr/>
          <p:nvPr/>
        </p:nvSpPr>
        <p:spPr>
          <a:xfrm>
            <a:off x="6126480" y="1097280"/>
            <a:ext cx="2743200" cy="365760"/>
          </a:xfrm>
          <a:prstGeom prst="rect">
            <a:avLst/>
          </a:prstGeom>
          <a:solidFill>
            <a:srgbClr val="3C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1143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O2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1508760"/>
            <a:ext cx="2743200" cy="48463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1600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33333"/>
                </a:solidFill>
              </a:defRPr>
            </a:pPr>
            <a:r>
              <a:t>【CEO】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185623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Markus Haas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11226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任期: N/A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236829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6217920" y="26243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33333"/>
                </a:solidFill>
              </a:defRPr>
            </a:pPr>
            <a:r>
              <a:t>【近期变动】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28803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• 2025-09: 企业业务负责人变动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31363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• 2025-05: 消费者业务重组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3924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</a:p>
        </p:txBody>
      </p:sp>
      <p:sp>
        <p:nvSpPr>
          <p:cNvPr id="39" name="Rectangle 38"/>
          <p:cNvSpPr/>
          <p:nvPr/>
        </p:nvSpPr>
        <p:spPr>
          <a:xfrm>
            <a:off x="9052560" y="1097280"/>
            <a:ext cx="2743200" cy="365760"/>
          </a:xfrm>
          <a:prstGeom prst="rect">
            <a:avLst/>
          </a:prstGeom>
          <a:solidFill>
            <a:srgbClr val="3C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0" y="1143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1&amp;1 AG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52560" y="1508760"/>
            <a:ext cx="2743200" cy="48463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1600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33333"/>
                </a:solidFill>
              </a:defRPr>
            </a:pPr>
            <a:r>
              <a:t>【CEO】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185623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Ralph Dommermuth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211226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任期: N/A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236829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</a:p>
        </p:txBody>
      </p:sp>
      <p:sp>
        <p:nvSpPr>
          <p:cNvPr id="46" name="TextBox 45"/>
          <p:cNvSpPr txBox="1"/>
          <p:nvPr/>
        </p:nvSpPr>
        <p:spPr>
          <a:xfrm>
            <a:off x="9144000" y="26243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33333"/>
                </a:solidFill>
              </a:defRPr>
            </a:pPr>
            <a:r>
              <a:t>【近期变动】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28803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• 2025-07: 网络建设负责人更换 (OpenRAN加速)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31363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• 2025-01: 营销负责人新任命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33924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AA0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108960"/>
            <a:ext cx="4572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网络与资费分析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FFC8C8"/>
                </a:solidFill>
              </a:defRPr>
            </a:pPr>
            <a:r>
              <a:t>Network &amp; Tariff Analysis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网络基础设施对比分析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6666"/>
                </a:solidFill>
              </a:defRPr>
            </a:pPr>
            <a:r>
              <a:t>Network Infrastructure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C7000B"/>
                </a:solidFill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7000B"/>
                </a:solidFill>
              </a:defRPr>
            </a:pPr>
            <a:r>
              <a:t>移动网络覆盖与质量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669280" cy="237744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指标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5087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VF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5087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DT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15087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O2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5087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1&amp;1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8562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5G覆盖率(人口)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85623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92%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185623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97%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185623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95%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85623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20370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5G基站数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20370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18K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220370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28K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220370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22K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20370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6K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55117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4G覆盖率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255117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99%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255117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99%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40" y="255117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99%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255117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95%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8986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平均下载速度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28986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85Mbps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8986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120Mbps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40" y="28986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95Mbps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28986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65Mbps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3246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网络质量评分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7360" y="32461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78/100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32461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92/100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9040" y="32461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82/100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32461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68/100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7000B"/>
                </a:solidFill>
              </a:defRPr>
            </a:pPr>
            <a:r>
              <a:t>固定网络覆盖与技术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1417320"/>
            <a:ext cx="5669280" cy="237744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1508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指标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15087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VF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15087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DT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15087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O2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0" y="15087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1&amp;1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18562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FTTH覆盖(户)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185623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2.5M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185623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8.5M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2640" y="185623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0.8M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98480" y="185623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0.3M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220370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Cable/HFC覆盖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80960" y="220370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24M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220370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92640" y="220370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98480" y="220370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0" y="255117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最高速率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80960" y="255117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1Gbps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255117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1Gbps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92640" y="255117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250Mbps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98480" y="255117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250Mbps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9360" y="28986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DOCSIS 4.0计划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80960" y="28986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2026启动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0" y="28986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N/A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N/A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98480" y="28986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N/A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9360" y="3246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网络投资占比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80960" y="32461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26%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86800" y="32461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19%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92640" y="32461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25%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698480" y="32461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39%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4023360"/>
            <a:ext cx="11612880" cy="2560320"/>
          </a:xfrm>
          <a:prstGeom prst="rect">
            <a:avLst/>
          </a:prstGeom>
          <a:solidFill>
            <a:srgbClr val="F8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4114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7000B"/>
                </a:solidFill>
              </a:defRPr>
            </a:pPr>
            <a:r>
              <a:t>网络洞察与建议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" y="443484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【VF移动网络差距】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4654296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5G覆盖率: 92% vs DT 97% (-5pp)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7200" y="4873752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网络质量评分: 78 vs DT 92 (-14分)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7200" y="5093208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需加速5G部署和网络优化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531266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</a:p>
        </p:txBody>
      </p:sp>
      <p:sp>
        <p:nvSpPr>
          <p:cNvPr id="77" name="TextBox 76"/>
          <p:cNvSpPr txBox="1"/>
          <p:nvPr/>
        </p:nvSpPr>
        <p:spPr>
          <a:xfrm>
            <a:off x="457200" y="553212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【1&amp;1网络挑战】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7200" y="5751576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自建网络进度缓慢(50%覆盖)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7200" y="5971032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仍依赖O2批发接入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17920" y="443484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【VF固网优势与挑战】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17920" y="4654296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Cable/HFC 24M覆盖是核心资产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17920" y="4873752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FTTH仅2.5M，落后DT(8.5M)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17920" y="5093208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DOCSIS 4.0升级是关键机会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17920" y="531266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</a:p>
        </p:txBody>
      </p:sp>
      <p:sp>
        <p:nvSpPr>
          <p:cNvPr id="85" name="TextBox 84"/>
          <p:cNvSpPr txBox="1"/>
          <p:nvPr/>
        </p:nvSpPr>
        <p:spPr>
          <a:xfrm>
            <a:off x="6217920" y="553212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【策略建议】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17920" y="5751576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移动: 聚焦5G关键城市覆盖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17920" y="5971032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固网: Cable升级+选择性FTTH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套餐资费对比分析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6666"/>
                </a:solidFill>
              </a:defRPr>
            </a:pPr>
            <a:r>
              <a:t>Tariff &amp; Package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C7000B"/>
                </a:solidFill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7000B"/>
                </a:solidFill>
              </a:defRPr>
            </a:pPr>
            <a:r>
              <a:t>移动主力套餐对比 (无限流量)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669280" cy="2194560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33333"/>
                </a:solidFill>
              </a:defRPr>
            </a:pPr>
            <a:r>
              <a:t>运营商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33333"/>
                </a:solidFill>
              </a:defRPr>
            </a:pPr>
            <a:r>
              <a:t>套餐名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5087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33333"/>
                </a:solidFill>
              </a:defRPr>
            </a:pPr>
            <a:r>
              <a:t>月费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5087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33333"/>
                </a:solidFill>
              </a:defRPr>
            </a:pPr>
            <a:r>
              <a:t>流量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15087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33333"/>
                </a:solidFill>
              </a:defRPr>
            </a:pPr>
            <a:r>
              <a:t>5G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508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33333"/>
                </a:solidFill>
              </a:defRPr>
            </a:pPr>
            <a:r>
              <a:t>特点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8562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VF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85623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GigaMobil XL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185623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€79.99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185623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无限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18562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18562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120Mbps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20370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DT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2037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MagentaM. XL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220370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€84.95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220370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无限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40" y="220370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220370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5G优先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255117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O2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255117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Free Unlim.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255117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€49.99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255117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无限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40" y="255117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255117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最低价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289864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1&amp;1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28986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All-Net XL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289864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€49.99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289864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无限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9040" y="289864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28986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前6月优惠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7000B"/>
                </a:solidFill>
              </a:defRPr>
            </a:pPr>
            <a:r>
              <a:t>固网宽带套餐对比 (1Gbps)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1417320"/>
            <a:ext cx="5669280" cy="2194560"/>
          </a:xfrm>
          <a:prstGeom prst="rect">
            <a:avLst/>
          </a:prstGeom>
          <a:solidFill>
            <a:srgbClr val="FF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15087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33333"/>
                </a:solidFill>
              </a:defRPr>
            </a:pPr>
            <a:r>
              <a:t>运营商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15087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33333"/>
                </a:solidFill>
              </a:defRPr>
            </a:pPr>
            <a:r>
              <a:t>套餐名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15087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33333"/>
                </a:solidFill>
              </a:defRPr>
            </a:pPr>
            <a:r>
              <a:t>月费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0" y="15087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33333"/>
                </a:solidFill>
              </a:defRPr>
            </a:pPr>
            <a:r>
              <a:t>速率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15087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33333"/>
                </a:solidFill>
              </a:defRPr>
            </a:pPr>
            <a:r>
              <a:t>技术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1508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33333"/>
                </a:solidFill>
              </a:defRPr>
            </a:pPr>
            <a:r>
              <a:t>TV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18562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VF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185623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Cable Max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185623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€49.99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0" y="185623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1Gbps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92640" y="18562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Cable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18562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可选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0" y="220370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DT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0" y="22037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MagentaZu. XL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0" y="220370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€59.95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61120" y="220370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1Gbps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92640" y="220370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FTTH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41280" y="220370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MagentaTV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60" y="255117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O2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0" y="255117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my Home XL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38160" y="255117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€44.99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61120" y="255117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250Mbps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92640" y="255117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DSL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41280" y="255117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无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09360" y="289864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1&amp;1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0" y="28986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1&amp;1 Glasfaser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38160" y="289864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€49.99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61120" y="289864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1Gbps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92640" y="289864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FTTH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241280" y="28986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可选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4320" y="38404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7000B"/>
                </a:solidFill>
              </a:defRPr>
            </a:pPr>
            <a:r>
              <a:t>FMC融合套餐策略对比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4160520"/>
            <a:ext cx="11612880" cy="2377440"/>
          </a:xfrm>
          <a:prstGeom prst="rect">
            <a:avLst/>
          </a:prstGeom>
          <a:solidFill>
            <a:srgbClr val="FC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42976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运营商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73736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融合品牌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00400" y="4297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核心优惠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0" y="4297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融合折扣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58000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差异化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200" y="46817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Vodafone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737360" y="46817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GigaKombi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00400" y="46817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移动+固网+TV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0" y="46817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€10-15/月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58000" y="46817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Cable+TV内容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200" y="506577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DT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737360" y="506577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MagentaEINS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200400" y="50657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移动+固网+TV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86400" y="506577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€10/月+StreamOn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58000" y="50657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品牌一体化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7200" y="544982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O2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737360" y="544982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O2 my Home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200400" y="544982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移动+固网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86400" y="544982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€5-10/月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58000" y="54498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低价策略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" y="58338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1&amp;1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737360" y="58338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All-in-One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200400" y="58338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移动+固网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0" y="58338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€5/月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858000" y="58338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价格灵活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7200" y="6309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</a:defRPr>
            </a:pPr>
            <a:r>
              <a:t>【资费策略洞察】VF定价处于中高端，需通过网络质量和服务体验证明价值溢价；O2低价策略抢占价格敏感用户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分析总结与战略建议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6666"/>
                </a:solidFill>
              </a:defRPr>
            </a:pPr>
            <a:r>
              <a:t>Summary &amp; Strategic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C7000B"/>
                </a:solidFill>
              </a:defRPr>
            </a:pPr>
            <a: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7000B"/>
                </a:solidFill>
              </a:defRPr>
            </a:pPr>
            <a:r>
              <a:t>关键发现 KEY FINDINGS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5669280" cy="50292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【经营层面】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0136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收入企稳回升: 服务收入增速 -0.8% → +0.7%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4825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盈利改善: EBITDA Margin 35.4% → 36.2%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9514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成本优化: OPEX占比下降0.8pp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4203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278892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【业务层面】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3580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移动业务: 用户增长+ARPU提升双轮驱动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8269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固网业务: 用户流失压力，Cable升级紧迫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2958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B2B业务: 增速最快(+8.5%)，数字化是引擎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7647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457200" y="402336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【竞争格局】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7024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DT继续领跑，但增速放缓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1713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O2因1&amp;1迁移持续承压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76402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1&amp;1自建网络仍在投入期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01091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457200" y="525780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【核心差距】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50468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5G覆盖率: 92% vs DT 97%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75157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FTTH规模: 2.5M vs DT 8.5M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99846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网络质量评分: 78 vs DT 92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7000B"/>
                </a:solidFill>
              </a:defRPr>
            </a:pPr>
            <a:r>
              <a:t>战略建议 RECOMMENDATIONS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463040"/>
            <a:ext cx="5669280" cy="5029200"/>
          </a:xfrm>
          <a:prstGeom prst="rect">
            <a:avLst/>
          </a:prstGeom>
          <a:solidFill>
            <a:srgbClr val="FF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15544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7000B"/>
                </a:solidFill>
              </a:defRPr>
            </a:pPr>
            <a:r>
              <a:t>【P0 - 网络质量提升】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180136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5G覆盖加速: 目标2026年达95%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04825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Cable升级: DOCSIS 4.0路线图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29514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网络体验: 关键城市NPS改善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54203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6400800" y="278892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【P1 - 价值增长战略】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03580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移动: 后付费渗透+ARPU提升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28269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固网: FMC融合率达40%+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52958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B2B: 数字化服务占比达50%+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77647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</a:p>
        </p:txBody>
      </p:sp>
      <p:sp>
        <p:nvSpPr>
          <p:cNvPr id="39" name="TextBox 38"/>
          <p:cNvSpPr txBox="1"/>
          <p:nvPr/>
        </p:nvSpPr>
        <p:spPr>
          <a:xfrm>
            <a:off x="6400800" y="402336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【P1 - 客户体验优化】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27024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数字化渠道: App/自助服务提升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51713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服务响应: 首次解决率提升至85%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76402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6400800" y="501091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【P2 - 成本效率】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25780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运营自动化: AI/RPA全面应用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550468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• 组织精简: 人均效能提升15%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75157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</a:p>
        </p:txBody>
      </p:sp>
      <p:sp>
        <p:nvSpPr>
          <p:cNvPr id="47" name="TextBox 46"/>
          <p:cNvSpPr txBox="1"/>
          <p:nvPr/>
        </p:nvSpPr>
        <p:spPr>
          <a:xfrm>
            <a:off x="6400800" y="599846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【执行优先级】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624535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  网络 &gt; 价值增长 &gt; 客户体验 &gt; 成本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