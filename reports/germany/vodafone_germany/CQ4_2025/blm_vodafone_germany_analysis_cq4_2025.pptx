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Default BLM Strategic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(Business Leadership Model) Five Looks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Vodafone Germany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Germany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CQ4_2025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Arial"/>
              </a:defRPr>
            </a:pPr>
            <a:r>
              <a:t>2026-02-11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Market/Customer ($APPEALS) | 03 Competition (Porter) | 04 Self (BMC) | SWOT Synthesis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findings and recommendations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29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86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24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6700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926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Pricing comparison — mobile, fixed &amp; convergence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9502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5902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BMC + Capability — internal assessment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521208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230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4864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Strengths, Weaknesses, Opportunities, Threats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85216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704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6126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5653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5105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Arial"/>
              </a:defRPr>
            </a:pPr>
            <a:r>
              <a:t>Summary &amp; Provenance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6766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Conclusions and data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Quality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Data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High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Medium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37160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463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Low/Estimated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Arial"/>
              </a:defRPr>
            </a:pPr>
            <a:r>
              <a:t>Unique Sources: 0</a:t>
            </a:r>
            <a:br/>
            <a:r>
              <a:t>Data Conflicts: 0</a:t>
            </a:r>
            <a:br/>
            <a:r>
              <a:t>Coverage: 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19 data points tracked, 0 high-confidence (0%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371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mature. (+0.3% YoY (CQ2_2025 -&gt; CQ4_2025)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Market/Customer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4-player market with medium competition intensity, Deutsche Telekom leads with 50% revenue share. Target operator holds 25% share. Strongest competitive force: Existing Competitors.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931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7 strengths, 5 weaknesses, 12 opportunities, and 3 threats. The recommended strategic posture is offensive (SO-dominant).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20116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21 opportunities: 17 grow/invest, 4 acquire skills, 0 harvest, 0 avoid/exit. Focus resources on the 17 grow/invest items for maximum strategic 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Looks analysis completed — see details in following sections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6" name="Picture 5" descr="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EUR 12.3B (quarterly, CQ4_2025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+0.3% YoY (CQ2_2025 -&gt; CQ4_2025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Concentration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CR4 = 100% (Deutsche Telekom: 50.3%, Vodafone Germany: 25.1%, Telefonica O2 Germany: 16.2%, 1&amp;1 AG: 8.4%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mature</a:t>
            </a:r>
          </a:p>
        </p:txBody>
      </p:sp>
      <p:pic>
        <p:nvPicPr>
          <p:cNvPr id="18" name="Picture 17" descr="pest_factor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43600" y="2651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New Business Models: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FWA (Fixed Wireless Access) as fiber alternative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Network-as-a-Service for enterprise verticals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Wholesale/MVNO partnerships for coverage monetization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Technology Revolution: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5G SA enabling network slicing and enterprise services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AI/ML for network optimization and customer experience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Open RAN for vendor diversification and cost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mature. (+0.3% YoY (CQ2_2025 -&gt; CQ4_2025)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Value shifting from voice/SMS to data and digital services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B2B/ICT growing faster than consumer segment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Fiber displacing copper and cable broadband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Macro environment: Favorable. Key opportunities: Regulatory Environment, National Digital Strategy. Key risks: Regulatory Environment, Fiber Broadband Penetration.. Industry is mature. (+0.3% YoY (CQ2_2025 -&gt; CQ4_2025)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Change 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Revenue (€M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12,327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 (K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143,100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Broadband Subs (K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31,420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18" name="Picture 17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Market Changes: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175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High-End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~13.9M subscribers | Trend: growing | Our Share: ~25% of postpaid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Premium 5G standalone experiences, Ultra-low latency gaming and VR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~51.2M subscribers | Trend: stable | Our Share: ~25% of postpaid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Better value convergent bundles, Transparent pricing without hidden fees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~35.1M subscribers | Trend: shrinking | Our Share: ~19% of prepaid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Affordable unlimited data plans, No-contract flexibility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200"/>
            <a:ext cx="5943600" cy="77724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Consumer Youth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062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Size: ~17.2M subscribers | Trend: growing | Our Share: ~23% overall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Needs: Social media and streaming-optimized plans, eSIM and digital-first experience</a:t>
            </a:r>
          </a:p>
        </p:txBody>
      </p:sp>
      <p:pic>
        <p:nvPicPr>
          <p:cNvPr id="22" name="Picture 21" descr="appeal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88720"/>
            <a:ext cx="5029200" cy="43891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CUSTOMER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6" name="Picture 5" descr="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Customer Value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Arial"/>
              </a:defRPr>
            </a:pPr>
            <a:r>
              <a:t>Value migration is mixed: some segments trending up while price-sensitive segments face pressure. Differentiated strategy by segment recommended.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Opportunities: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1&amp;1 customer migration: 12M users on network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completes Skaylink acquisition for €175M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German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CROSS-OPERATOR TIER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pic>
        <p:nvPicPr>
          <p:cNvPr id="6" name="Picture 5" descr="tariff_mobile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EUR 25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EUR 30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EUR 35 gap — cheapest Telefonica O2 Germany, most expensive Deutsche Telekom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EUR 45 gap — cheapest 1&amp;1 AG, most expensive Deutsche Telekom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postpaid tier comparison across all operators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&amp; 5G Premium Erosion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pic>
        <p:nvPicPr>
          <p:cNvPr id="6" name="Picture 5" descr="tariff_eur_pe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tariff_5g_ero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Best value: Telefonica O2 Germany at EUR 0.17/GB | 5G premium fully eroded: all plans now include 5G as of H2_2025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Price Evolution — Mobile Postpaid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H1_2023 TO H1_2026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tariff_evolut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Price evolution across 7 snapshots — H1_2023 to H1_2026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&amp; Convergence Pricing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DSL / CABLE / FIBER / FMC BUNDLES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DSL: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1887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L: EUR 35/mo 100.0Mbps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1&amp;1 AG 1&amp;1 DSL 250: EUR 40/mo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L: EUR 45/mo 100.0Mbps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M: EUR 30/mo 50.0Mbps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Cable: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4688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500 Kabel: EUR 40/mo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XL Cable: EUR 50/mo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250 Kabel: EUR 35/mo 250.0Mbps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1000 Kabel: EUR 50/mo 1000.0Mbps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366"/>
                </a:solidFill>
                <a:latin typeface="Arial"/>
              </a:defRPr>
            </a:pPr>
            <a:r>
              <a:t>Fiber: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7490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Vodafone Germany GigaZuhause 500 Glasfaser: EUR 45/mo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Glasfaser L: EUR 45/mo 600.0Mbps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Deutsche Telekom MagentaZuhause L Glasfaser: EUR 55/mo 500.0Mbps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Telefonica O2 Germany O2 my Home Glasfaser M: EUR 35/mo 300.0Mbps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FMC Bundles: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5544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Telefonica O2 Germany O2 All-in-One L: EUR 60/mo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AG 1&amp;1 Kombi XL: EUR 60/mo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Germany GigaKombi Premium: EUR 80/mo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MagentaEINS Premium: EUR 120/mo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Telefonica O2 Germany O2 All-in-One S: EUR 35/mo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AG 1&amp;1 Kombi S: EUR 35/mo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Vodafone Germany GigaKombi Basic: EUR 50/mo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Deutsche Telekom MagentaEINS S: EUR 65/mo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Cheapest FMC bundle: Telefonica O2 Germany O2 All-in-One S at EUR 35/mo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porter_fo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Overall Intensity: MEDIUM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4-player market with medium competition intensity, Deutsche Telekom leads with 50% revenue share. Target operator holds 25% share. Strongest competitive force: Existing Competitors.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Telefonica O2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€2,000M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-3.4%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€650M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32.5%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25.0%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88.0/100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75.0/100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72.0/100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85.0/100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Telefonica O2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Deutsche Telekom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€6,200M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+1.1%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€2,610M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42.1%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19.4%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Deployment: 95.0/100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90.0/100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82.0/100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Digital Services: 85.0/100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Deutsche Telekom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Competitor Analysis: One And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€1,035M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+0.1%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€126M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12.2%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90.0/100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Product Innovation: 72.0/100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Sustainability: 80.0/100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Competitor analysis: One And One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Landscape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24</a:t>
            </a:r>
          </a:p>
        </p:txBody>
      </p:sp>
      <p:pic>
        <p:nvPicPr>
          <p:cNvPr id="6" name="Picture 5" descr="comp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In a 4-player market with medium competition intensity, Deutsche Telekom leads with 50% revenue share. Target operator holds 25% share. Strongest competitive force: Existing Competitors.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Gap Analysis: Vodafone Germany vs Deutsche Telekom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Gap analysis vs market leader Deutsche Telekom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New Entrants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MARKET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Active new entrant: 1&amp;1 AG: 1&amp;1 AG is currently building/expanding its network presence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1&amp;1 completes OpenRAN migration, reaches 25% own network coverage: 1&amp;1OpenRAN 5G1,5004,50025%Q3 2025+4H19CAPEX €2.287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Arial"/>
              </a:defRPr>
            </a:pPr>
            <a:r>
              <a:t>• Entry barriers: High barriers: spectrum licensing, massive capex for network build, regulatory approvals, established brand loyalty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New entrants threat level: medium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€3,092M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+0.72%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€1,120M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057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+1.5% YoY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36.2%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25.9%</a:t>
            </a:r>
          </a:p>
        </p:txBody>
      </p:sp>
      <p:pic>
        <p:nvPicPr>
          <p:cNvPr id="20" name="Picture 19" descr="revenu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834640"/>
          </a:xfrm>
          <a:prstGeom prst="rect">
            <a:avLst/>
          </a:prstGeom>
        </p:spPr>
      </p:pic>
      <p:pic>
        <p:nvPicPr>
          <p:cNvPr id="21" name="Picture 20" descr="revenu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651760"/>
            <a:ext cx="576072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COMPETITIVE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revenu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760720" cy="4389120"/>
          </a:xfrm>
          <a:prstGeom prst="rect">
            <a:avLst/>
          </a:prstGeom>
        </p:spPr>
      </p:pic>
      <p:pic>
        <p:nvPicPr>
          <p:cNvPr id="7" name="Picture 6" descr="marg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4389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Revenue and margin benchmarking across operators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€1,520M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2.8%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€32,500M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Postpaid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€23,200M</a:t>
            </a:r>
          </a:p>
        </p:txBody>
      </p:sp>
      <p:pic>
        <p:nvPicPr>
          <p:cNvPr id="18" name="Picture 17" descr="segment_0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Mobile service revenue at EUR 1520.0M; up 2.8% YoY; ARPU EUR 12.8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Fixed Broadband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€795M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Service 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-1.1%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€9,940M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-63</a:t>
            </a:r>
          </a:p>
        </p:txBody>
      </p:sp>
      <p:pic>
        <p:nvPicPr>
          <p:cNvPr id="18" name="Picture 17" descr="segment_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arpu: stable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Fixed service revenue EUR 795.0M; growth -1.1% YoY; Fiber subs 1480K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B2B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€520M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 Pct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8.5%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Customers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€215M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Share Of Revenue Pct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16.8%</a:t>
            </a:r>
          </a:p>
        </p:txBody>
      </p:sp>
      <p:pic>
        <p:nvPicPr>
          <p:cNvPr id="18" name="Picture 17" descr="segment_2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improving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revenue EUR 520.0M; growth +8.5% YoY; 16.8% of total revenue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Segment Analysis: TV/Convergence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SEGMENT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€268M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Total 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€7,740M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Net Adds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-6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Fmc Total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€4,900M</a:t>
            </a:r>
          </a:p>
        </p:txBody>
      </p:sp>
      <p:pic>
        <p:nvPicPr>
          <p:cNvPr id="18" name="Picture 17" descr="segment_3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60320"/>
            <a:ext cx="5486400" cy="2926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Health: STABLE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260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subscribers: stable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fmc_subscribers: improving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TV subscribers 7740K; FMC 4900K; FMC penetration 49.3%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coverage_gau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Technology Mix: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Edge Nodes: 12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Core Vendor: Ericsson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 Status: Testing, planned 2026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Spectrum Mhz: 700: 20, 1800: 50, 2100: 40, 2600: 20, 3600: 90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Mobile Vendor: Ericsson + Nokia (non-standalone 5G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Base Stations: 18500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Virtualization Pct: 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Investment Direction: stable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Network infrastructure and coverage assessment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Business Model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BMC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pic>
        <p:nvPicPr>
          <p:cNvPr id="6" name="Picture 5" descr="bmc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480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Business model canvas overview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Organization &amp;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PEOPLE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Arial"/>
              </a:defRPr>
            </a:pPr>
            <a:r>
              <a:t>14,500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Organization and talent assessment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Brand Strength: score 82 (market avg 78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Enterprise Solutions: score 82 (market avg 74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 Coverage: score 80 (market avg 76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Strong EBITDA margin at 36.2%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 on growth trajectory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Top 2 in revenue market ranking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Service: score 70 (market avg 74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Pricing Competitiveness: score 72 (market avg 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45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1&amp;1 building own mobile network and migrating users off Vodafone wholesale: Loss of wholesale revenue as 1&amp;1 users migrate to own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Heavy reliance on cable (DOCSIS) technology while market shifts to fiber: Technology perception gap as competitors lead fiber deployment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Low fiber penetration compared to Deutsche Telekom: Competitive disadvantage in future-proof broadband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SO: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Leverage 'Brand Strength: score 82 (market avg 78)' to ca...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20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682B4"/>
                </a:solidFill>
                <a:latin typeface="Arial"/>
              </a:defRPr>
            </a:pPr>
            <a:r>
              <a:t>WO: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20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Address weakness 'Customer Service: score 70 (market avg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603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Use strength 'Brand Strength: score 82 (market avg 78)' t...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WT: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Arial"/>
              </a:defRPr>
            </a:pPr>
            <a:r>
              <a:t>Mitigate weakness 'Customer Service: score 70 (market avg...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SWOT analysis identifies 7 strengths, 5 weaknesses, 12 opportunities, and 3 threats. The recommended strategic posture is offensive (SO-dominant).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Opportunity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OPPORTUNITY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41</a:t>
            </a:r>
          </a:p>
        </p:txBody>
      </p:sp>
      <p:pic>
        <p:nvPicPr>
          <p:cNvPr id="6" name="Picture 5" descr="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5156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21 opportunities: 17 grow/invest, 4 acquire skills, 0 harvest, 0 avoid/exit. Focus resources on the 17 grow/invest items for maximum strategic impact.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PRIORITIES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priorit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21 opportunities: 17 grow/invest, 4 acquire skills, 0 harvest, 0 avoid/exit. Focus resources on the 17 grow/invest items for maximum strategic impact.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'Brand Strength: score 82 (market avg 78)' to capture the opportunity of 'Regulatory Environment: Compliance requirements and spectrum policies directly affect vodafone_germany'.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6517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'Enterprise Solutions: score 82 (market avg 74)' to capture the opportunity of 'National Digital Strategy: Fiber/5G coverage mandates may require vodafone_germany investment but also enable subsidy access'.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93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29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033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31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'Network Coverage: score 80 (market avg 76)' to capture the opportunity of 'BNetzA extends 800/1800/2600 MHz spectrum by 5 years: Potential impact on vodafone_germany'.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34840"/>
            <a:ext cx="10972800" cy="9144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457200" cy="3200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445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Arial"/>
              </a:defRPr>
            </a:pPr>
            <a:r>
              <a:t>SO-4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5488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Market: N/A | Window: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Arial"/>
              </a:defRPr>
            </a:pPr>
            <a:r>
              <a:t>Leverage 'Strong EBITDA margin at 36.2%' to capture the opportunity of 'BNetzA extends 800/1800/2600 MHz spectrum by 5 years: Potential impact on vodafone_germany'.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SPAN matrix positions 21 opportunities: 17 grow/invest, 4 acquire skills, 0 harvest, 0 avoid/exit. Focus resources on the 17 grow/invest items for maximum strategic impact.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01 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Macro environment: Favorable. Key opportunities: Regulatory Environment, National Digital Strategy. Key risks: Regulatory Environment, Fiber Broadband Penetration.. Industry is mature. (+0.3% YoY (CQ2_2025 -&gt; CQ4_2025)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02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3852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German telecom market totals EUR 12327.0M in quarterly revenue; vodafone_germany holds 25.1% market share; competitive strengths in Availability, Assurances; Market outlook is favorable with more opportunities than threats.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78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03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57860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In a 4-player market with medium competition intensity, Deutsche Telekom leads with 50% revenue share. Target operator holds 25% share. Strongest competitive force: Existing Competitors.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04 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21868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Ranked #2 of 4 operators in market; revenue EUR 3092.0M; EBITDA margin 36.2%; stable but facing challenges; key strength: Brand Strength; key challenge: Customer Service; Management outlook: EBITDAH2H1FY26(1) MDUQ3(2) 1&amp;1Q4(full run-rate)(3) MVNOFY27E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SWOT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587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SWOT analysis identifies 7 strengths, 5 weaknesses, 12 opportunities, and 3 threats. The recommended strategic posture is offensive (SO-dominant).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73152" cy="5486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05 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988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SPAN matrix positions 21 opportunities: 17 grow/invest, 4 acquire skills, 0 harvest, 0 avoid/exit. Focus resources on the 17 grow/invest items for maximum strategic impact.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Complete Five Looks analysis — see opportunity priorities for next steps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Arial"/>
              </a:defRPr>
            </a:pPr>
            <a:r>
              <a:t>SOURCES &amp;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08080"/>
                </a:solidFill>
                <a:latin typeface="Arial"/>
              </a:defRPr>
            </a:pPr>
            <a:r>
              <a:t>No provenance data recorded for this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points are traceable to original sources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BLM Five Looks Strategic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