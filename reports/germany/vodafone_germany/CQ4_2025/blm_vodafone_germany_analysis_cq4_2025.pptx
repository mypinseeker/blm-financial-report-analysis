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14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Germany telecom market totals EUR 12.3B in quarterly revenue; competitive strengths in Availability,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3,092M; EBITDA margin 36.2%; stable but facing challenges; key strength: Brand Strength; key challenge: Customer Service; Management outlook: EBITDAH2H1FY26(1) MDUQ3(2) 1&amp;1Q4(full run-rate)(3) MVNOFY27EBITDA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10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35 opportunities: 23 grow/invest, 4 acquire skills, 4 harvest, 4 avoid/exit. Focus resources on the 23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EUR 12.3B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+0.3%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(Deutsche Telekom: 50.3%, Vodafone Germany: 25.1%, Telefonica O2 Germany: 16.2%, 1&amp;1 AG: 8.4%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12,327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143,100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31,420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~13.9M subscribers | Trend: growing | Our Share: ~25%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Premium 5G standalone experiences, Ultra-low latency gaming and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~51.2M subscribers | Trend: stable | Our Share: ~25%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value convergent bundles,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~35.1M subscribers | Trend: shrinking | Our Share: ~19%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~17.2M subscribers | Trend: growing | Our Share: ~23%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Social media and streaming-optimized plans, eSIM and digital-first experience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CROSS-OPERATOR TIER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tariff_mobile_post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Price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S: EUR 25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M: EUR 30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L: EUR 35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XL: EUR 45 gap — cheapest 1&amp;1 AG, most expensive Deutsche Telekom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postpaid tier comparison across all operators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EUR/GB Value Analysis &amp; 5G Premium Erosion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PRICING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6" name="Picture 5" descr="tariff_eur_per_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tariff_5g_ero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Best value: Telefonica O2 Germany at EUR 0.17/GB | 5G premium fully eroded: all plans now include 5G as of H2_2025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Price Evolution — Mobile Postpaid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H1_2023 TO H1_2026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tariff_evolu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Price evolution across 7 snapshots — H1_2023 to H1_2026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DSL: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L: EUR 35/mo 100.0Mbps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1&amp;1 AG 1&amp;1 DSL 250: EUR 40/mo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L: EUR 45/mo 100.0Mbps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M: EUR 30/mo 50.0Mbps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Cable: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500 Kabel: EUR 40/mo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XL Cable: EUR 50/mo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250 Kabel: EUR 35/mo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1000 Kabel: EUR 50/mo 1000.0Mbps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Fiber: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49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500 Glasfaser: EUR 45/mo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Glasfaser L: EUR 45/mo 600.0Mbps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L Glasfaser: EUR 55/mo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Glasfaser M: EUR 35/mo 300.0Mbps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188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FMC Bundles: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Telefonica O2 Germany O2 All-in-One L: EUR 60/mo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AG 1&amp;1 Kombi XL: EUR 60/mo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Germany GigaKombi Premium: EUR 80/mo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MagentaEINS Premium: EUR 120/mo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Telefonica O2 Germany O2 All-in-One S: EUR 35/mo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AG 1&amp;1 Kombi S: EUR 35/mo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Germany GigaKombi Basic: EUR 50/mo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MagentaEINS S: EUR 65/mo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Cheapest FMC bundle: Telefonica O2 Germany O2 All-in-One S at EUR 35/mo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Telefonica 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32.5%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25.0%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88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85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85 (market avg 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68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Product Innovation: score 70 (market avg 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Margin optimization / cost transformation; subscriber acquisition focus; 5G network leadership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Telefonica O2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€6,200M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€2,610M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42.1%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95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85 (market avg 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65 (market avg 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focus; strong B2B/enterprise push; 5G network leadership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Deutsche Telekom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One And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€1,035M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€126M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90 (market avg 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40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65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68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Market share expansion (investing for growth);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One And 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Vodafone Germany vs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Deutsche Telekom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1&amp;1 AG: 1&amp;1 AG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coverage: 1&amp;1OpenRAN 5G1,5004,50025%Q3 2025+4H19CAPEX €2.287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€3,092M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€1,120M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+1.5%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36.2%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25.9%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3,092M; EBITDA margin 36.2%; stable but facing challenges; key strength: Brand Strength; key challenge: Customer Service; Management outlook: EBITDAH2H1FY26(1) MDUQ3(2) 1&amp;1Q4(full run-rate)(3) MVNOFY27EBITDA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€32,500M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€23,200M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Q32.8%Q2: 3.8%ARPU1&amp;1——120042,000Q2+1,000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Q32.8%Q2: 3.8%ARPU1&amp;1——120042,000Q2+1,000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Q32.8%Q2: 3.8%ARPU1&amp;1——120042,000Q2+1,000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1,520M; up 2.8% YoY; ARPU 12.8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€795M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€9,940M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-63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795.0M; growth -1.1% YoY; Fiber subs 1480K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€215M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BusinessQ31.8%Q2: -1.6%ARPU + Skaylink202512B2BHagen Rickmann5€10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BusinessQ31.8%Q2: -1.6%ARPU + Skaylink202512B2BHagen Rickmann5€10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BusinessQ31.8%Q2: -1.6%ARPU + Skaylink202512B2BHagen Rickmann5€10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520.0M; growth +8.5% YoY; 16.8% of total revenue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€268M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€7,740M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€4,900M</a:t>
            </a:r>
          </a:p>
        </p:txBody>
      </p:sp>
      <p:pic>
        <p:nvPicPr>
          <p:cNvPr id="18" name="Picture 17" descr="segment_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7740K; FMC 4900K; FMC penetration 49.3%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 Nodes: 12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Testing, planned 2026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700: 20, 1800: 50, 2100: 40, 2600: 20, 3600: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 + Nokia (non-standalone 5G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Base Stations: 18500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 Pct: 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14,500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['Marcel de Groot (CEO)', 'Anna Googel (CFO)', 'Gerhard Mack (CTO)']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High-investment posture; Moderate strategic activity (3 recent initiatives); Transformation-oriented culture under Vodafone Group direction; customer-centricity push via NPS programs; agile transformation in digital operations; German engineering tradition meets UK group culture.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Marcel de Groot: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Anna Googel: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Gerhard Mack: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36.2%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72 (market avg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building own mobile network and migrating users off Vodafone wholesale: Loss of wholesale revenue as 1&amp;1 users migrate to own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Heavy reliance on cable (DOCSIS) technology while market shifts to fiber: Technology perception gap as competitors lead fiber deployment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Low fiber penetration compared to Deutsche Telekom: Competitive disadvantage in future-proof broadband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3,092M; EBITDA margin 36.2%; stable but facing challenges; key strength: Brand Strength; key challenge: Customer Service; Management outlook: EBITDAH2H1FY26(1) MDUQ3(2) 1&amp;1Q4(full run-rate)(3) MVNOFY27EBITDA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5 weaknesses, 10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vodafone_germany'.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82 (market avg 74)' to capture the opportunity of 'National Digital Strategy: Fiber/5G coverage mandates may require vodafone_germany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Coverage: score 80 (market avg 76)' to capture the opportunity of 'BNetzA extends 800/1800/2600 MHz spectrum by 5 years: BNetzA extends 800/1800/2600 MHz spectrum by 5 years: may create new market access or subsidy opportunities for vodafone_germany'.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36.2%' to capture the opportunity of 'German government launches €1.2B Gigabit Funding Programme 2025: German government launches €1.2B Gigabit Funding Programme 2025: may create new market access or subsidy opportunities for vodafone_germany'.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Germany telecom market totals EUR 12.3B in quarterly revenue; competitive strengths in Availability,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3,092M; EBITDA margin 36.2%; stable but facing challenges; key strength: Brand Strength; key challenge: Customer Service; Management outlook: EBITDAH2H1FY26(1) MDUQ3(2) 1&amp;1Q4(full run-rate)(3) MVNOFY27EBITDA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10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35 opportunities: 23 grow/invest, 4 acquire skills, 4 harvest, 4 avoid/exit. Focus resources on the 23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