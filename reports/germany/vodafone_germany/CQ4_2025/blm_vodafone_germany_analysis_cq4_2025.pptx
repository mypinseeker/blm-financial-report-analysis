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Vodafone Germany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Germany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Nebenkostenprivileg (MDU cable TV bundling) abolished Industry is mature. (+0.3%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Germany telecom market totals EUR 12327.0M in quarterly revenue; competitive strengths in Availability, Assurances; Market outlook is favorable with more opportunities than threats.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4-player market with medium competition intensity, Deutsche Telekom leads with 50% revenue share. Target operator holds 25%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#2 of 4 operators in market; revenue EUR 3092.0M; EBITDA margin 36.2%; stable but facing challenges; key strength: Brand Strength; key challenge: Customer Service; Management outlook: EBITDAH2H1FY26(1) MDUQ3(2) 1&amp;1Q4(full run-rate)(3) MVNOFY27EBITDA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7 strengths, 5 weaknesses, 11 opportunities, and 4 threats. The recommended strategic posture is offensive (SO-dominant).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22 opportunities: 18 grow/invest, 4 acquire skills, 0 harvest, 0 avoid/exit. Focus resources on the 18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EUR 12.3B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+0.3%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(Deutsche Telekom: 50.3%, Vodafone Germany: 25.1%, Telefonica O2 Germany: 16.2%, 1&amp;1 AG: 8.4%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mature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 Industry is mature. (+0.3%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 Industry is mature. (+0.3%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12,327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143,100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31,420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Skaylink acquisition for €175M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Deutsche Telekom Q3 2025: revenue +1.5%, net profit +14.3%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High-End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~13.9M subscribers | Trend: growing | Our Share: ~25% of postpaid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Premium 5G standalone experiences, Ultra-low latency gaming and VR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~51.2M subscribers | Trend: stable | Our Share: ~25%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convergent bundles, Transparent pricing without hidden fees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~35.1M subscribers | Trend: shrinking | Our Share: ~19%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Affordable unlimited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Youth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~17.2M subscribers | Trend: growing | Our Share: ~23% overall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Social media and streaming-optimized plans, eSIM and digital-first experience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is mixed: some segments trending up while price-sensitive segments face pressure. Differentiated strategy by segment recommended.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Skaylink acquisition for €175M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Q3 2025: revenue +1.5%, net profit +14.3%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restructures cable TV frequencies nationwide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25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30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35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45 gap — cheapest 1&amp;1 AG, most expensive Deutsche Telekom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tariff_5g_ero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Telefonica O2 Germany at EUR 0.17/GB | 5G premium fully eroded: all plans now include 5G as of H2_2025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DSL: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L: EUR 35/mo 100.0Mbps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1&amp;1 AG 1&amp;1 DSL 250: EUR 40/mo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L: EUR 45/mo 100.0Mbps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M: EUR 30/mo 50.0Mbps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468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500 Kabel: EUR 40/mo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XL Cable: EUR 50/mo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250 Kabel: EUR 35/mo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1000 Kabel: EUR 50/mo 1000.0Mbps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7490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500 Glasfaser: EUR 45/mo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Glasfaser L: EUR 45/mo 600.0Mbps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L Glasfaser: EUR 55/mo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Glasfaser M: EUR 35/mo 300.0Mbps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Telefonica O2 Germany O2 All-in-One L: EUR 60/mo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AG 1&amp;1 Kombi XL: EUR 60/mo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Germany GigaKombi Premium: EUR 80/mo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MagentaEINS Premium: EUR 120/mo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Telefonica O2 Germany O2 All-in-One S: EUR 35/mo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AG 1&amp;1 Kombi S: EUR 35/mo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Germany GigaKombi Basic: EUR 50/mo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MagentaEINS S: EUR 65/mo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Telefonica O2 Germany O2 All-in-One S at EUR 35/mo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4-player market with medium competition intensity, Deutsche Telekom leads with 50% revenue share. Target operator holds 25%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Telefonica O2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-3.4%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€650M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32.5%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25.0%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88.0/100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75.0/100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72.0/100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85.0/100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Telefonica O2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Deutsche Telekom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€6,200M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+1.1%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€2,610M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95.0/100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90.0/100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82.0/100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85.0/100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Deutsche Telekom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One And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€1,035M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+0.1%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€126M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12.2%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90.0/100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Product Innovation: 72.0/100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Sustainability: 80.0/100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One And One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4-player market with medium competition intensity, Deutsche Telekom leads with 50% revenue share. Target operator holds 25%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Vodafone Germany vs Deutsche Telekom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Deutsche Telekom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Active new entrant: 1&amp;1 AG: 1&amp;1 AG is currently building/expanding its network presence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medium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€3,092M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+0.72%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€1,120M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36.2%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25.9%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#2 of 4 operators in market; revenue EUR 3092.0M; EBITDA margin 36.2%; stable but facing challenges; key strength: Brand Strength; key challenge: Customer Service; Management outlook: EBITDAH2H1FY26(1) MDUQ3(2) 1&amp;1Q4(full run-rate)(3) MVNOFY27EBITDA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€1,520M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€32,500M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€23,200M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1520.0M; up 2.8% YoY; ARPU 12.8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€795M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-1.1%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€9,940M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-63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stable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795.0M; growth -1.1% YoY; Fiber subs 1480K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€520M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€215M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16.8%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520.0M; growth +8.5% YoY; 16.8%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€268M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€7,740M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€4,900M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7740K; FMC 4900K; FMC penetration 49.3%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12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Testing, planned 2026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1800: 50, 2100: 40, 2600: 20, 3600: 90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+ Nokia (non-standalone 5G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18500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stable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14,500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score 82 (market avg 78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score 82 (market avg 74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score 80 (market avg 76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Strong EBITDA margin at 36.2%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 on growth trajectory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Top 2 in revenue market ranking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score 70 (market avg 74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score 72 (market avg 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building own mobile network and migrating users off Vodafone wholesale: Loss of wholesale revenue as 1&amp;1 users migrate to own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Heavy reliance on cable (DOCSIS) technology while market shifts to fiber: Technology perception gap as competitors lead fiber deployment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Low fiber penetration compared to Deutsche Telekom: Competitive disadvantage in future-proof broadband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#2 of 4 operators in market; revenue EUR 3092.0M; EBITDA margin 36.2%; stable but facing challenges; key strength: Brand Strength; key challenge: Customer Service; Management outlook: EBITDAH2H1FY26(1) MDUQ3(2) 1&amp;1Q4(full run-rate)(3) MVNOFY27EBITDA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'Brand Strength: score 82 (market avg 78)' to ca...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'Customer Service: score 70 (market avg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'Brand Strength: score 82 (market avg 78)' t...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'Customer Service: score 70 (market avg...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7 strengths, 5 weaknesses, 11 opportunities, and 4 threats. The recommended strategic posture is offensive (SO-dominant).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'Brand Strength: score 82 (market avg 78)' to capture the opportunity of 'Regulatory Environment: Compliance requirements and spectrum policies directly affect vodafone_germany'.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'Enterprise Solutions: score 82 (market avg 74)' to capture the opportunity of 'National Digital Strategy: Fiber/5G coverage mandates may require vodafone_germany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'Network Coverage: score 80 (market avg 76)' to capture the opportunity of 'BNetzA extends 800/1800/2600 MHz spectrum by 5 years: Potential impact on vodafone_germany'.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'Strong EBITDA margin at 36.2%' to capture the opportunity of 'German government launches €1.2B Gigabit Funding Programme 2025: Potential impact on vodafone_germany'.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Nebenkostenprivileg (MDU cable TV bundling) abolished Industry is mature. (+0.3%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Germany telecom market totals EUR 12327.0M in quarterly revenue; competitive strengths in Availability, Assurances; Market outlook is favorable with more opportunities than threats.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4-player market with medium competition intensity, Deutsche Telekom leads with 50% revenue share. Target operator holds 25%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#2 of 4 operators in market; revenue EUR 3092.0M; EBITDA margin 36.2%; stable but facing challenges; key strength: Brand Strength; key challenge: Customer Service; Management outlook: EBITDAH2H1FY26(1) MDUQ3(2) 1&amp;1Q4(full run-rate)(3) MVNOFY27EBITDA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7 strengths, 5 weaknesses, 11 opportunities, and 4 threats. The recommended strategic posture is offensive (SO-dominant).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22 opportunities: 18 grow/invest, 4 acquire skills, 0 harvest, 0 avoid/exit. Focus resources on the 18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